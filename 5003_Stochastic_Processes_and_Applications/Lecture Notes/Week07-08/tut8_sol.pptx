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9" r:id="rId11"/>
    <p:sldId id="260" r:id="rId12"/>
    <p:sldId id="2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5CC23-729A-46CA-84A1-FEC0E424D8DC}" type="datetimeFigureOut">
              <a:rPr lang="en-HK" smtClean="0"/>
              <a:t>23/10/2025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4DFA8-C34D-49B9-991C-EC273054540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9262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4DFA8-C34D-49B9-991C-EC2730545403}" type="slidenum">
              <a:rPr lang="en-HK" smtClean="0"/>
              <a:t>11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051853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FE1AD-ECAA-AFD8-B794-B662D9539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FD9FDD-E646-8562-008D-2C622EEA1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28D91-0A5B-7B0B-EE13-9BF334DC6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8E007-684A-F2CF-BA64-81C5131D5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4DFA8-C34D-49B9-991C-EC2730545403}" type="slidenum">
              <a:rPr lang="en-HK" smtClean="0"/>
              <a:t>12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07510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92D3-9765-9D83-A192-D890DF5E4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7CD99-921A-0344-230A-FD46BD9B2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ED531-9FC2-E486-3A55-6B24CD74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D492F-3230-4495-8906-B71BF2A6B59D}" type="datetime1">
              <a:rPr lang="en-HK" smtClean="0"/>
              <a:t>23/10/2025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B6668-2609-DD23-7FDC-22530354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F5265-077A-A865-A52B-E948B75B4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53233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BE8FE-E68F-A9B5-AD5F-7431314F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BDB0C-1D20-FE71-644C-7FDC90C09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154B0-214D-90E7-1990-F46268114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BA1E-6C81-4258-9B39-9AD1E28ACCED}" type="datetime1">
              <a:rPr lang="en-HK" smtClean="0"/>
              <a:t>23/10/2025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39689-EEC8-B166-5EEC-332741A4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A4E09-5D0C-DB40-A7CB-C9BD0D48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392025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C9984-80E0-9E9E-C397-7CBA82FD6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B1723-A6E0-C68C-85EF-06047157E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9269E-8257-B967-CA68-D992E60B1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E68D2-A6CD-4479-8A96-5A1D4513EE93}" type="datetime1">
              <a:rPr lang="en-HK" smtClean="0"/>
              <a:t>23/10/2025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686FC-A1E2-6426-DDF1-89DB97BC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8CAE5-29CC-E4C6-BB4E-12FE1E186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9884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CB6D-6D6F-5A82-2EE7-9223DF53F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5BAD1-5668-55CF-723A-24C1F1482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54BD6-31CF-B323-DC22-A413A5A48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18252-8113-F71A-E1C5-5FACEE2A8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E6660-DFD9-4BFC-AD33-8ABEF78519BC}" type="datetime1">
              <a:rPr lang="en-HK" smtClean="0"/>
              <a:t>23/10/2025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6B462-DEE1-A011-291E-2FBD2A3E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17277-0552-334C-A9BF-7107DAE86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54777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3CB1D-A329-F45D-3105-D5A90E820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328AF-D599-074A-6459-AC44FC603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019B9-0459-811E-DE5F-B8684D91C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75078C-3D8C-BE32-50D7-7E2AA5194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5FC02-DBB3-0635-53E4-2F2DA9D79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9C5662-E276-F0FF-5FEC-D1A9AB2B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9D1E4-E130-4F1F-A0AC-24506E15CC7B}" type="datetime1">
              <a:rPr lang="en-HK" smtClean="0"/>
              <a:t>23/10/2025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99354-E5C8-4518-60DC-F1AC664E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34F5E9-DE0C-ADC9-586A-676A5569B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93980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FB78-3D47-6506-6051-7A0334AAE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4335A-D1BB-4CDE-A2BA-F1E5C03FC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62ACE-47C9-4926-B454-5BAB8A5FA721}" type="datetime1">
              <a:rPr lang="en-HK" smtClean="0"/>
              <a:t>23/10/2025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CD740-BF95-5A6E-E560-5E87BBB52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143A1-AF47-B2BB-F172-1C9908CA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16125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FEEC6F-DB90-3947-02AF-70A8E4EC3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08283-9D4E-445F-94CA-71DF7AC52548}" type="datetime1">
              <a:rPr lang="en-HK" smtClean="0"/>
              <a:t>23/10/2025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0FBD9F-FCD1-61AC-6592-6D4943EFC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3D4F0-C0C8-9E68-B360-36E957FF8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83146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D23B7-1D7D-766A-E62E-284DDE3B2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8D758-5E76-4B15-D9F9-03B4474C7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2497D-AEA3-E333-8B87-E5D52EFE4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1CC72-18C1-9037-BAE8-9AF9FC4B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BAF87-DC43-4317-9A61-780713CE1FCF}" type="datetime1">
              <a:rPr lang="en-HK" smtClean="0"/>
              <a:t>23/10/2025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EA0BD-8044-F02D-E823-ECC470032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5F945-7088-812F-7277-3A3729B1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0162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F86FC-3844-D82B-F731-E9A6B5BB4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4C7FB-DE6C-CA8D-3614-99FA891FC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06DE6-C316-4C23-0F03-339D0CE3C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3016F-0243-887A-094E-3D245267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7540A-A842-477D-B82D-0567E0D94393}" type="datetime1">
              <a:rPr lang="en-HK" smtClean="0"/>
              <a:t>23/10/2025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F6D1-6DA4-86D4-6A6F-C75B6D192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648CC-7871-E522-D75E-A357919F2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9890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816D-D7EA-C7B6-7981-4A9A81BBD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1527D-9FF4-3826-FE98-2D45D0AD9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117B0-6046-BB13-023F-46EE547CD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926A1-7A74-455E-98AD-A90BF19C9FE5}" type="datetime1">
              <a:rPr lang="en-HK" smtClean="0"/>
              <a:t>23/10/2025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ECB9D-4A8D-4E82-5D00-A0BBCD6D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FEC9C-739F-9839-B1DF-8CD1949F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0144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886A5-0352-88F1-5D00-870DEA74A6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DDA49-E370-4C3D-848E-096786BF9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29975-FFEA-15F8-DBDA-1E8BFD6B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AFB5-4110-4297-93CA-C5327780C992}" type="datetime1">
              <a:rPr lang="en-HK" smtClean="0"/>
              <a:t>23/10/2025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59D14-12A9-703D-1063-004475673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512E4-7CCB-4073-D0D0-2B87B459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64981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F55314-4119-5CB5-4F6C-F92D9339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A0149-E888-A3BC-BCEA-0AB7DB383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33519-96B9-8E62-DA78-C0DFAF4699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164FB-2076-48CE-A849-A00E4A13DCB1}" type="datetime1">
              <a:rPr lang="en-HK" smtClean="0"/>
              <a:t>23/10/2025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44D56-482F-973D-1766-88544D8DA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0BD5C-21C8-56CE-1824-2069C0468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9948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3E8B9-2F93-E5B3-D65A-5DAA96868D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Online Learning </a:t>
            </a:r>
            <a:br>
              <a:rPr lang="en-HK" dirty="0"/>
            </a:br>
            <a:r>
              <a:rPr lang="en-HK" dirty="0"/>
              <a:t>of a Noisy Teacher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26084-0FDD-7696-5204-F155EF77C5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HK" sz="3200" dirty="0"/>
          </a:p>
          <a:p>
            <a:r>
              <a:rPr lang="en-HK" sz="3200" dirty="0"/>
              <a:t>Tutorial </a:t>
            </a:r>
            <a:r>
              <a:rPr lang="en-HK" sz="3200"/>
              <a:t>8 Solution</a:t>
            </a:r>
            <a:endParaRPr lang="en-HK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FEE02-30F6-A908-569F-40ACAC7FD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138327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0D31-427D-A736-7923-A426983D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Notations (slides 28-29)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DA722-2569-493A-8317-5AA317EC6A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input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example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                          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nary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teacher</m:t>
                        </m:r>
                      </m:e>
                      <m:sup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weight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teacher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field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teacher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output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sgn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student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weight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                                       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tudent</m:t>
                        </m:r>
                      </m:e>
                      <m:sup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field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DA722-2569-493A-8317-5AA317EC6A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3FEBF-DFCA-F1ED-EEAD-0B9E3AE5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18196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77511-AEE3-27C5-0EB2-E5383D78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92E9-0B1C-49C6-C86A-D0CD0CE51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Review (slides 29-30, 33-34, 36-37)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6F9F5A-0561-26DA-DF93-3CFC623985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7528"/>
                <a:ext cx="10515600" cy="466725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Hebb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rule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Order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parameters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𝐉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𝐉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𝐉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𝐁</m:t>
                      </m:r>
                    </m:oMath>
                  </m:oMathPara>
                </a14:m>
                <a:endParaRPr lang="en-US" sz="2400" b="1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Gaussian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field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distributions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satisfying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=1.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eneralization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   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6F9F5A-0561-26DA-DF93-3CFC623985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7528"/>
                <a:ext cx="10515600" cy="4667251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58FAC-EA8E-0100-EFEB-226A9B1B5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3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55509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DDF44-6BFC-F616-1C00-A17F44ABF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Noisy Teacher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BF8D9-4193-6325-322F-8F7608E046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5504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Suppose the teacher’s output of the examples are transmitted to the student through a </a:t>
                </a:r>
                <a:r>
                  <a:rPr lang="en-US" sz="2400" dirty="0">
                    <a:solidFill>
                      <a:srgbClr val="FF0000"/>
                    </a:solidFill>
                  </a:rPr>
                  <a:t>noisy</a:t>
                </a:r>
                <a:r>
                  <a:rPr lang="en-US" sz="2400" dirty="0"/>
                  <a:t> channel.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As a result, the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2400" dirty="0"/>
                  <a:t> are flipped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∓1</m:t>
                    </m:r>
                  </m:oMath>
                </a14:m>
                <a:r>
                  <a:rPr lang="en-US" sz="2400" dirty="0"/>
                  <a:t> with </a:t>
                </a:r>
                <a:r>
                  <a:rPr lang="en-US" sz="2400" dirty="0">
                    <a:solidFill>
                      <a:srgbClr val="FF0000"/>
                    </a:solidFill>
                  </a:rPr>
                  <a:t>probability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How will the student’s performance change? (Generalization error approaches 0 slower? With same or different power law? Or approaches nonzero values? …)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BF8D9-4193-6325-322F-8F7608E04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5504"/>
                <a:ext cx="10515600" cy="4351338"/>
              </a:xfrm>
              <a:blipFill>
                <a:blip r:embed="rId2"/>
                <a:stretch>
                  <a:fillRect l="-928" t="-1120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2B1F5-AE36-7EE4-2388-6CBBB322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44801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5DDE3-6F20-B12C-DB31-90214ECD1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9C1F1-0822-022A-9017-F7BA79F1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Noisy Hebb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5344FE-E672-13FD-EC20-083D51326A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00000"/>
                  </a:lnSpc>
                  <a:spcBef>
                    <a:spcPts val="0"/>
                  </a:spcBef>
                  <a:buAutoNum type="alphaLcParenBoth"/>
                </a:pPr>
                <a:r>
                  <a:rPr lang="en-US" sz="2400" dirty="0"/>
                  <a:t>Rewrite Hebb rule for the following two cases: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2400" dirty="0"/>
                  <a:t> is not flipped (with probability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):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2400" dirty="0"/>
                  <a:t> is flipped (with probability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):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Assume that the student network evolves slowly, write the averaged Hebb rule: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(1−2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5344FE-E672-13FD-EC20-083D51326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8909B-0784-A4E9-2F61-02F68788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5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3020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FBDB9-F151-6D08-8A98-70DC7FE8A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A4FAF-2FB8-B62E-47C8-4AD6BAF0D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Noisy Student-Teacher Overlap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DECC27-32F1-FA7D-91D1-D0E017352B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HK" sz="2400" dirty="0"/>
                  <a:t>(b) Derive the expression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HK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HK" sz="2400" dirty="0"/>
                  <a:t> after learning each online example. Similar to slide 32, you may proceed by multiplying both sides of the Hebb rule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HK" sz="2400" dirty="0"/>
                  <a:t> and summing 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HK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HK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bSup>
                        </m:e>
                      </m:nary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HK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HK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DECC27-32F1-FA7D-91D1-D0E017352B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D57B8-F585-C0BF-D953-42B1D091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41891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CDCF2-E156-20A2-6576-A0B16F791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63CB4-EF91-FCFB-C987-5791DFC9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Gaussian Averages Are Convenient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78AB8A-624B-0361-DF9E-70AC8E09DC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HK" sz="2400" dirty="0"/>
                  <a:t>(c) Express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HK" sz="2400" dirty="0"/>
                  <a:t> in terms of the Gaussian variables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HK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HK" sz="2400" dirty="0"/>
                  <a:t>, and perform the Gaussian averages (similar to slide 34-35).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HK" sz="2400" dirty="0"/>
                  <a:t>Hint: Besides those averages provided in Tutorial slide 3, we have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HK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sgn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f>
                        <m:f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HK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HK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78AB8A-624B-0361-DF9E-70AC8E09DC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6D373-CCA6-FDDC-A3BC-1B952F880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7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150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23030-784F-C4E2-C51A-1BEBA0A08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F2A4A-30CE-50B0-E51A-20E63BE9C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Nonlinear Dynamical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A312BB-4CB6-13D9-9A5C-C7C0004D8A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HK" sz="2400" dirty="0"/>
                  <a:t>(d) Choosing the unit of time to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HK" sz="2400" dirty="0"/>
                  <a:t>derive the differential equation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HK" sz="2400" dirty="0"/>
                  <a:t> and solve it (similar to slide 38).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f>
                        <m:f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HK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A312BB-4CB6-13D9-9A5C-C7C0004D8A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2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91479-EAF2-9830-3390-2CD35088A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8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70546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FF63E-C420-0073-1933-3E8088C0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DE888-9AB6-A2CD-52B7-15D0A7FE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Noisy Dynamical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FE3216-17A9-4D38-F04F-D6CA128A7F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0809"/>
                <a:ext cx="10515600" cy="522066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HK" sz="2400" dirty="0"/>
                  <a:t>(e) The dynamical equation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HK" sz="2400" dirty="0"/>
                  <a:t> can be solved following the steps in slides 39-40. In the long time limit, the dynamical equation becomes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HK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HK" sz="2400" dirty="0"/>
                  <a:t>Show that if we 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HK" sz="2400" dirty="0"/>
                  <a:t> then the dynamical equations of both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HK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HK" sz="2400" dirty="0"/>
                  <a:t> reduce to those in slides 38-40 in the long time limit (when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≫1</m:t>
                    </m:r>
                  </m:oMath>
                </a14:m>
                <a:r>
                  <a:rPr lang="en-HK" sz="2400" dirty="0"/>
                  <a:t>).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𝑑𝑅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𝑑𝑅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b="0" dirty="0">
                  <a:solidFill>
                    <a:srgbClr val="C00000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d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HK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FE3216-17A9-4D38-F04F-D6CA128A7F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0809"/>
                <a:ext cx="10515600" cy="5220666"/>
              </a:xfrm>
              <a:blipFill>
                <a:blip r:embed="rId2"/>
                <a:stretch>
                  <a:fillRect l="-928" t="-467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E8625-CB51-5536-9EC6-87246D09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9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139440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5FF45-EFBB-6A2F-54A3-7AAF3A6A3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DA5B-CF5C-292C-CD7C-2894189BC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Noisy Generalization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F71285-1CB6-90E0-9395-41BFCBD7B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0809"/>
                <a:ext cx="10515600" cy="522066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HK" sz="2400" dirty="0"/>
                  <a:t>(f) The generalization error in the case of no noise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HK" sz="2400" dirty="0"/>
                  <a:t> in the long time limit (slide 40). What is the generalization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HK" sz="2400" dirty="0"/>
                  <a:t> in the presence of noise in the long time limit?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 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HK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HK" sz="2400" dirty="0">
                    <a:solidFill>
                      <a:srgbClr val="C00000"/>
                    </a:solidFill>
                  </a:rPr>
                  <a:t>Hence, in the long time limit,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HK" sz="2400" dirty="0">
                    <a:solidFill>
                      <a:srgbClr val="C00000"/>
                    </a:solidFill>
                  </a:rPr>
                  <a:t> approaches 0 as a power law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HK" sz="2400" dirty="0">
                    <a:solidFill>
                      <a:srgbClr val="C00000"/>
                    </a:solidFill>
                  </a:rPr>
                  <a:t> but the rate is slowed down by a factor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1−2</m:t>
                            </m:r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HK" sz="2400" dirty="0">
                  <a:solidFill>
                    <a:srgbClr val="C00000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HK" sz="2400" dirty="0">
                    <a:solidFill>
                      <a:srgbClr val="C00000"/>
                    </a:solidFill>
                  </a:rPr>
                  <a:t>Remark: The generalization error may not approach 0 in the long time limit for other kinds of noise (for example, noise in the teacher field).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F71285-1CB6-90E0-9395-41BFCBD7B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0809"/>
                <a:ext cx="10515600" cy="5220666"/>
              </a:xfrm>
              <a:blipFill>
                <a:blip r:embed="rId2"/>
                <a:stretch>
                  <a:fillRect l="-928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9BDF2-6ACA-D150-0EFB-1DE26D8C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10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90846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22A97-362B-43BE-1E37-06A8A26130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0600" y="1038224"/>
                <a:ext cx="10515600" cy="57181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not flipped (with probability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HK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flipped (with probability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Sup>
                        <m:sSub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HK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Assume that the student network evolves slowly, the averaged expression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(1−2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Sup>
                        <m:sSub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HK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HK" sz="2400" dirty="0">
                    <a:solidFill>
                      <a:schemeClr val="tx1"/>
                    </a:solidFill>
                  </a:rPr>
                  <a:t>Summing 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HK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bSup>
                        </m:e>
                      </m:nary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HK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HK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HK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22A97-362B-43BE-1E37-06A8A26130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1038224"/>
                <a:ext cx="10515600" cy="5718176"/>
              </a:xfrm>
              <a:blipFill>
                <a:blip r:embed="rId3"/>
                <a:stretch>
                  <a:fillRect l="-928" t="-1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6C89B8-4D1E-C5F2-8980-764644451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11</a:t>
            </a:fld>
            <a:endParaRPr lang="en-H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593A49BA-F3A2-A2EF-3FC4-7AD6A21C7BE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01600"/>
                <a:ext cx="10515600" cy="1038224"/>
              </a:xfrm>
            </p:spPr>
            <p:txBody>
              <a:bodyPr/>
              <a:lstStyle/>
              <a:p>
                <a:pPr algn="ctr"/>
                <a:r>
                  <a:rPr lang="en-US" dirty="0"/>
                  <a:t>Dynamical Equation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593A49BA-F3A2-A2EF-3FC4-7AD6A21C7B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01600"/>
                <a:ext cx="10515600" cy="1038224"/>
              </a:xfrm>
              <a:blipFill>
                <a:blip r:embed="rId4"/>
                <a:stretch>
                  <a:fillRect t="-1765" b="-1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5382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28A4D4-A7D8-335A-0EF8-8C92C6CD5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65F5F0-7E0A-0D93-9CB4-7E86F20EDE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4613" y="500896"/>
                <a:ext cx="10515600" cy="507305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Taylor expansion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𝑇𝑥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HK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HK" sz="2400" dirty="0">
                    <a:solidFill>
                      <a:schemeClr val="tx1"/>
                    </a:solidFill>
                  </a:rPr>
                  <a:t>Expressing in terms of Gaussian variables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HK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HK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1+2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⟩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sgn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𝑅𝑢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HK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1+2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sgn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HK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1+2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HK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HK" sz="2400" dirty="0">
                    <a:solidFill>
                      <a:schemeClr val="tx1"/>
                    </a:solidFill>
                  </a:rPr>
                  <a:t>Choosing the unit of time to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HK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=1+2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HK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HK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65F5F0-7E0A-0D93-9CB4-7E86F20EDE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4613" y="500896"/>
                <a:ext cx="10515600" cy="5073053"/>
              </a:xfrm>
              <a:blipFill>
                <a:blip r:embed="rId3"/>
                <a:stretch>
                  <a:fillRect l="-928" t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B8E471-8744-78FC-5686-877A23D75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12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801844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1726</TotalTime>
  <Words>849</Words>
  <Application>Microsoft Office PowerPoint</Application>
  <PresentationFormat>Widescreen</PresentationFormat>
  <Paragraphs>99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Online Learning  of a Noisy Teacher</vt:lpstr>
      <vt:lpstr>Notations (slides 28-29)</vt:lpstr>
      <vt:lpstr>Review (slides 29-30, 33-34, 36-37)</vt:lpstr>
      <vt:lpstr>Noisy Teacher</vt:lpstr>
      <vt:lpstr>Noisy Hebb Rule</vt:lpstr>
      <vt:lpstr>Noisy Student-Teacher Overlap</vt:lpstr>
      <vt:lpstr>Gaussian Averages Are Convenient</vt:lpstr>
      <vt:lpstr>Nonlinear Dynamical Equation</vt:lpstr>
      <vt:lpstr>Noisy Dynamical Equation</vt:lpstr>
      <vt:lpstr>Noisy Generalization Error</vt:lpstr>
      <vt:lpstr>Dynamical Equation of Q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Kwok Yee Michael Wong</dc:creator>
  <cp:lastModifiedBy>Michael K Y WONG</cp:lastModifiedBy>
  <cp:revision>22</cp:revision>
  <dcterms:created xsi:type="dcterms:W3CDTF">2024-10-24T09:13:57Z</dcterms:created>
  <dcterms:modified xsi:type="dcterms:W3CDTF">2025-10-23T05:30:38Z</dcterms:modified>
</cp:coreProperties>
</file>