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11" r:id="rId3"/>
    <p:sldId id="312" r:id="rId4"/>
    <p:sldId id="313" r:id="rId5"/>
    <p:sldId id="263" r:id="rId6"/>
    <p:sldId id="315" r:id="rId7"/>
    <p:sldId id="264" r:id="rId8"/>
    <p:sldId id="316" r:id="rId9"/>
    <p:sldId id="267" r:id="rId10"/>
    <p:sldId id="268" r:id="rId11"/>
    <p:sldId id="319" r:id="rId12"/>
    <p:sldId id="317" r:id="rId13"/>
    <p:sldId id="320" r:id="rId14"/>
    <p:sldId id="321" r:id="rId15"/>
    <p:sldId id="323" r:id="rId16"/>
    <p:sldId id="322" r:id="rId17"/>
    <p:sldId id="324" r:id="rId18"/>
    <p:sldId id="328" r:id="rId19"/>
    <p:sldId id="325" r:id="rId20"/>
    <p:sldId id="326" r:id="rId21"/>
    <p:sldId id="32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F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72957-FCF5-490D-8D54-A8D6AF86FAFE}" type="datetimeFigureOut">
              <a:rPr lang="en-HK" smtClean="0"/>
              <a:t>4/11/2025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71BA0-77E6-4E43-81A5-A2D3929DDF6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38004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7EDB-BBB0-41F8-B961-EB12E3B96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071DC-48EB-4C81-B6B5-10451C1E0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4E6D-432C-4497-833A-F07FF270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E57B0-910F-4027-88E6-D15C2D4FBAF0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115FE-CC17-48E6-9627-0F52F099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F1BA8-3260-409C-A579-773EFC00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023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0D38-E321-41C4-8129-B89F7BED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29DDA-7EAA-4935-865A-50581D0C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F9DDF-F765-49F6-BF3B-A59CA5DB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9923-C09B-4DE3-9238-777DF3B9ABB2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1B673-2E19-44B5-9F34-07AD588D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A00F-CAE1-4AA7-877B-47026286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7523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38C2-9B50-497A-B427-4AA4E9A7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0EE00-457C-4987-9BC1-0C6D0067F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4CE4-8E66-4856-A53B-0ABDB56C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4902-0AF6-44BA-90BF-39FD7938D13E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262E8-74E3-492D-8EB9-17817B3A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A561-FA72-4349-AA9F-89D4CC86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5431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87D5-D15F-4C5F-AC28-918A4C6E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2AE0C-8D6C-43A3-88D0-0BE3AD41B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DD34A-B29D-4E2F-935D-399F0EA13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CC140-1F1E-48B9-B533-747B7DCC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9819-D2B4-455A-AC6E-A455BF90263C}" type="datetime1">
              <a:rPr lang="en-HK" smtClean="0"/>
              <a:t>4/11/2025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D569E-E37F-4ACB-8212-7BBD115F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93136-D393-4016-A8AD-2E7C6688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3272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607F-247E-4ACC-AB32-086C72A7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5F39D-3269-4766-9B8F-9FB54AFF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593AC-A5D9-448C-9F1B-72F79F84E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6AC5F-42F6-4A22-B184-B785D573D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C1CD6-504B-455B-9C56-6D8F78C87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10A1A-6698-4F3C-B727-6B726DCC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0817-94B7-4235-A3B7-34B6FE07338D}" type="datetime1">
              <a:rPr lang="en-HK" smtClean="0"/>
              <a:t>4/11/2025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66FAD-119A-4AEB-A448-7A9250AB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A5058-66B6-473B-A338-20DC33F9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030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493B-BA2C-4532-8AB1-63D79D996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48FE0-F5FC-4C57-97AA-64759B63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C1EE-E869-4954-8A20-EAC66F37D337}" type="datetime1">
              <a:rPr lang="en-HK" smtClean="0"/>
              <a:t>4/11/2025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3D499-8529-4A7D-B83C-D4693A1D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2FAAF-B5A0-415A-9F7B-09561B4B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0592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FB224-74FE-4122-9D00-22671192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0CB6-D53D-4963-BC31-24C0982EF183}" type="datetime1">
              <a:rPr lang="en-HK" smtClean="0"/>
              <a:t>4/11/2025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80779-9697-4A41-AB87-FA9B6395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FCBE4-F12A-43F1-BDDE-BDAB84CC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1836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584D-54D3-493F-B42C-17EB09E1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70EB-5729-453F-BDB4-CFCEA3DB1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8E864-FD2F-489C-9472-AD3D9939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AA31A-CF85-413B-A783-DBE4D891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8FC8-BB44-4E21-AC7D-698B9EBE101A}" type="datetime1">
              <a:rPr lang="en-HK" smtClean="0"/>
              <a:t>4/11/2025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82118-A7E0-4E45-8C35-B60297E3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3F3D9-144C-4041-BA2A-28DA647D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8609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F015-B58A-43B5-B362-E96EA3B4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63C82-F798-4C3C-AAC0-CDD5A2F53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B554E-27E2-4859-A675-A7656549D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156A9-DDD4-43BB-BE1A-B43D7507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1D4E2-39BD-4CFE-89CB-72C46458F6B0}" type="datetime1">
              <a:rPr lang="en-HK" smtClean="0"/>
              <a:t>4/11/2025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DD81C-31D9-43B8-B1F2-F641089E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37709-1F1B-41A8-AE28-302F479A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4183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2A5C-4E7B-4E8C-9179-28FF1245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76F5-318D-4F84-B578-A3D3343E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6A6C-8808-4DEA-820D-094B4817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5801A-4587-4CDD-86EA-E7950B4FBE19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18D3F-94FB-4C3E-A437-7E38593D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E94F-A0E1-4C7B-B02E-10EF4C07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6266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CF48B-9A74-414B-9DEC-D7BA3D74D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360A1-A1B0-4F22-8F2E-BC364533C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E5678-627F-4A6B-845C-51F5BE13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E01B-F830-4545-8C6A-2D14A7B4CE87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F44F5-5314-46A4-8C3F-4F143018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B1830-13D5-425B-9AF1-EB24A24B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1424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90804-CC3D-4751-8AB9-91DB30907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7D504-C5DF-4B0A-A204-C83E9B035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ECFF6-E5B8-4018-B295-38150BF09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935B8-B709-484F-AA2C-BFD6BB66F2DE}" type="datetime1">
              <a:rPr lang="en-HK" smtClean="0"/>
              <a:t>4/11/2025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11188-A370-405F-BCA6-0A48FE7A5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48072-E45B-4BA3-9C78-BF5A3FB16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1E501-04D9-44DC-AA3C-B9F196DDA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62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hyperlink" Target="https://en.wikipedia.org/wiki/Restricted_Boltzmann_machine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stricted_Boltzmann_machine" TargetMode="External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stricted_Boltzmann_machin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4C41-BE39-4BDE-85A7-EE5306A1E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84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HK" sz="6700" b="1" dirty="0"/>
              <a:t>MSDM 5003 Lecture 10</a:t>
            </a:r>
            <a:br>
              <a:rPr lang="en-HK" dirty="0"/>
            </a:br>
            <a:r>
              <a:rPr lang="en-HK" sz="4400" dirty="0"/>
              <a:t>6 November 2025</a:t>
            </a:r>
            <a:br>
              <a:rPr lang="en-HK" dirty="0"/>
            </a:br>
            <a:r>
              <a:rPr lang="en-HK" b="1" dirty="0"/>
              <a:t>Boltzmann Machines and RBM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442E5-8462-4E8F-BAAA-A56BA7ADF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4578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HK" dirty="0"/>
              <a:t>Outline:</a:t>
            </a:r>
          </a:p>
          <a:p>
            <a:pPr marL="457200" indent="-457200" algn="l">
              <a:buAutoNum type="arabicPeriod"/>
            </a:pPr>
            <a:r>
              <a:rPr lang="en-HK" dirty="0"/>
              <a:t>Markov random fields (MRF)</a:t>
            </a:r>
          </a:p>
          <a:p>
            <a:pPr marL="457200" indent="-457200" algn="l">
              <a:buFont typeface="+mj-lt"/>
              <a:buAutoNum type="arabicPeriod" startAt="2"/>
            </a:pPr>
            <a:r>
              <a:rPr lang="en-HK" dirty="0"/>
              <a:t>Boltzmann machines</a:t>
            </a:r>
          </a:p>
          <a:p>
            <a:pPr marL="457200" indent="-457200" algn="l">
              <a:buFont typeface="+mj-lt"/>
              <a:buAutoNum type="arabicPeriod" startAt="2"/>
            </a:pPr>
            <a:r>
              <a:rPr lang="en-HK" dirty="0"/>
              <a:t>Restricted Boltzmann machines (RBM)</a:t>
            </a:r>
          </a:p>
          <a:p>
            <a:pPr marL="457200" indent="-457200" algn="l">
              <a:buAutoNum type="arabicPeriod" startAt="2"/>
            </a:pPr>
            <a:r>
              <a:rPr lang="en-HK" dirty="0"/>
              <a:t>Application of RBM to recommender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9D913-4260-4743-A3E5-7D114E44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3383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4222-990B-D08F-95D5-F8975C75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151A-E58D-3FBE-4012-8C3324F42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850"/>
            <a:ext cx="9144000" cy="917024"/>
          </a:xfrm>
        </p:spPr>
        <p:txBody>
          <a:bodyPr>
            <a:normAutofit/>
          </a:bodyPr>
          <a:lstStyle/>
          <a:p>
            <a:r>
              <a:rPr lang="en-HK" sz="5400" b="1" dirty="0"/>
              <a:t>1. Markov Random Fields</a:t>
            </a:r>
            <a:endParaRPr lang="en-HK" sz="5400" b="1" baseline="30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F77C1-2EFC-2EC2-A51D-CB0C40F96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096" y="1573732"/>
            <a:ext cx="11039302" cy="26293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Consider an undirected graphical model with a set of random variables (0 or 1) defined on the nodes. It satisfies the following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Markov properties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The key idea of Markov properties is </a:t>
            </a:r>
            <a:r>
              <a:rPr lang="en-US" dirty="0">
                <a:solidFill>
                  <a:srgbClr val="FF000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conditional independence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A variable is conditionally independent of all others given its neighbors.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This means that to understand a variable, you only need to look at its immediate connections—not the entire system.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HK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BE118-D223-DD5F-9E97-6C0BB2C0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2</a:t>
            </a:fld>
            <a:endParaRPr lang="en-HK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E402B66-0CE1-94D9-3F26-B551D6DE4AA2}"/>
              </a:ext>
            </a:extLst>
          </p:cNvPr>
          <p:cNvSpPr txBox="1">
            <a:spLocks/>
          </p:cNvSpPr>
          <p:nvPr/>
        </p:nvSpPr>
        <p:spPr>
          <a:xfrm>
            <a:off x="410096" y="4097954"/>
            <a:ext cx="6407144" cy="262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Two Markov properties: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Local Markov Property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: Each variable depends only on its neighbors.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Pairwise Markov Property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: Non-connected nodes are conditionally independent given the rest.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HK" dirty="0">
                <a:ea typeface="DengXian" panose="02010600030101010101" pitchFamily="2" charset="-122"/>
                <a:cs typeface="Times New Roman" panose="02020603050405020304" pitchFamily="18" charset="0"/>
              </a:rPr>
              <a:t>Applications: e.g. image processing</a:t>
            </a:r>
          </a:p>
        </p:txBody>
      </p:sp>
      <p:pic>
        <p:nvPicPr>
          <p:cNvPr id="5" name="Picture 4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8A276AD4-B6CA-B204-3E49-55C76AFA0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53" y="3795712"/>
            <a:ext cx="29527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3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2680-1406-11FE-2D32-80185DA3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68A6-9F1C-E7F7-9CCC-4F58A754B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850"/>
            <a:ext cx="9144000" cy="917024"/>
          </a:xfrm>
        </p:spPr>
        <p:txBody>
          <a:bodyPr>
            <a:normAutofit/>
          </a:bodyPr>
          <a:lstStyle/>
          <a:p>
            <a:r>
              <a:rPr lang="en-HK" sz="5400" b="1" dirty="0"/>
              <a:t>2. Boltzmann Machine</a:t>
            </a:r>
            <a:r>
              <a:rPr lang="en-HK" sz="5400" b="1" baseline="300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D92E515-F85D-C656-2E49-F67E88B00E2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096" y="1440874"/>
                <a:ext cx="11039302" cy="5055176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the Boltzmann machine, the probability of the random variables are </a:t>
                </a:r>
                <a:r>
                  <a:rPr lang="en-HK" dirty="0" err="1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modeled</a:t>
                </a: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den>
                      </m:f>
                      <m:sSup>
                        <m:sSup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energy given by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are random variables taking the values 1 or 0.</a:t>
                </a:r>
                <a:endParaRPr lang="en-US" i="1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connection strength between node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node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bias of node </a:t>
                </a:r>
                <a14:m>
                  <m:oMath xmlns:m="http://schemas.openxmlformats.org/officeDocument/2006/math"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temperature.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HK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HK" b="1" i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𝐱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HK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HK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HK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HK" b="0" i="1" smtClean="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HK" b="0" i="1" smtClean="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HK" b="0" i="1" smtClean="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K" b="1" i="0" smtClean="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HK" b="0" i="1" smtClean="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called the partition function.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HK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D92E515-F85D-C656-2E49-F67E88B00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096" y="1440874"/>
                <a:ext cx="11039302" cy="5055176"/>
              </a:xfrm>
              <a:blipFill>
                <a:blip r:embed="rId2"/>
                <a:stretch>
                  <a:fillRect l="-828" t="-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493EE-A328-5994-D8A4-DE759D0D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3</a:t>
            </a:fld>
            <a:endParaRPr lang="en-H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0A834-2926-7011-EDE3-DCB56C3D48F7}"/>
              </a:ext>
            </a:extLst>
          </p:cNvPr>
          <p:cNvSpPr txBox="1"/>
          <p:nvPr/>
        </p:nvSpPr>
        <p:spPr>
          <a:xfrm>
            <a:off x="410096" y="6410350"/>
            <a:ext cx="9774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Hinton, Geoffrey E. (2007-05-24). "Boltzmann machine".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Scholarpedia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2 (5): 1668.</a:t>
            </a:r>
          </a:p>
        </p:txBody>
      </p:sp>
    </p:spTree>
    <p:extLst>
      <p:ext uri="{BB962C8B-B14F-4D97-AF65-F5344CB8AC3E}">
        <p14:creationId xmlns:p14="http://schemas.microsoft.com/office/powerpoint/2010/main" val="8371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9451-1C37-E17A-C02C-F7995EDE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811B-3985-CC1E-0B9D-3AD0B9128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850"/>
            <a:ext cx="9144000" cy="917024"/>
          </a:xfrm>
        </p:spPr>
        <p:txBody>
          <a:bodyPr>
            <a:normAutofit/>
          </a:bodyPr>
          <a:lstStyle/>
          <a:p>
            <a:r>
              <a:rPr lang="en-HK" sz="5400" b="1" dirty="0"/>
              <a:t>Marginal Probability</a:t>
            </a:r>
            <a:endParaRPr lang="en-HK" sz="5400" b="1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320B82D-602D-2C88-3C48-347933B8319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42180" y="1421331"/>
                <a:ext cx="11039302" cy="5436669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Consider the marginal probability of node </a:t>
                </a:r>
                <a14:m>
                  <m:oMath xmlns:m="http://schemas.openxmlformats.org/officeDocument/2006/math"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HK" b="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den>
                      </m:f>
                      <m:sSup>
                        <m:sSup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,⋯, 1,⋯,</m:t>
                                  </m:r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    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den>
                      </m:f>
                      <m:sSup>
                        <m:sSup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,⋯, </m:t>
                                  </m:r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Dividing,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e>
                          </m:d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,⋯, 1,⋯,</m:t>
                                      </m:r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,⋯, </m:t>
                                      </m:r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,⋯,</m:t>
                                      </m:r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Focusing on the terms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,⋯, 1,⋯,</m:t>
                            </m:r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,⋯, 0,⋯,</m:t>
                            </m:r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HK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n-HK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</m:t>
                    </m:r>
                  </m:oMath>
                </a14:m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we have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HK" b="0" i="0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320B82D-602D-2C88-3C48-347933B83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42180" y="1421331"/>
                <a:ext cx="11039302" cy="5436669"/>
              </a:xfrm>
              <a:blipFill>
                <a:blip r:embed="rId2"/>
                <a:stretch>
                  <a:fillRect l="-884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47A31-FF58-EAA8-AFFA-707EAB72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6004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6442E5-8462-4E8F-BAAA-A56BA7ADF2E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76349" y="1123825"/>
                <a:ext cx="11039302" cy="568604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Boltzmann machine is shown a training set of binary data vectors.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Learning in the Boltzmann machine refers to the process of </a:t>
                </a:r>
                <a:r>
                  <a:rPr lang="en-US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finding the weights and biases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so that the probabilities fit those of the training set.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components of the training d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ata </a:t>
                </a:r>
                <a:r>
                  <a:rPr lang="en-US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may only be restricted to 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visible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nodes of the machine. Those nodes that do not receive inputs from the training data are the </a:t>
                </a:r>
                <a:r>
                  <a:rPr lang="en-US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hidden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nodes.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learning rule is obtained by maximizing the product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b="1" i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data</m:t>
                        </m:r>
                      </m:sub>
                      <m:sup/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HK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or</a:t>
                </a:r>
                <a:r>
                  <a:rPr lang="en-HK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maximizing the log likelihood</a:t>
                </a: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HK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 b="0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func>
                                <m:funcPr>
                                  <m:ctrlP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HK" b="0" i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HK" b="0" i="1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HK" b="1" i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HK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HK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func>
                                <m:func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HK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HK" b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6442E5-8462-4E8F-BAAA-A56BA7ADF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76349" y="1123825"/>
                <a:ext cx="11039302" cy="5686049"/>
              </a:xfrm>
              <a:blipFill>
                <a:blip r:embed="rId2"/>
                <a:stretch>
                  <a:fillRect l="-884" t="-857" r="-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EAB6963-304E-4E0D-A330-FABE64F7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Learning in Boltzmann Machines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EB23-6B28-4A68-B23F-CA255874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1429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40E2D-10ED-7632-2889-F386F0C7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BAD1E0B-E41D-1DB2-264B-A03750EB777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76349" y="1171951"/>
                <a:ext cx="11039302" cy="559738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HK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 b="0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func>
                                <m:funcPr>
                                  <m:ctrlP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HK" b="0" i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HK" b="0" i="1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HK" b="1" i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HK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HK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HK" b="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HK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&lt;</m:t>
                                  </m:r>
                                  <m: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𝑘𝑙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HK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HK" b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𝐲</m:t>
                                          </m:r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𝑇</m:t>
                                                  </m:r>
                                                </m:den>
                                              </m:f>
                                              <m:nary>
                                                <m:naryPr>
                                                  <m:chr m:val="∑"/>
                                                  <m:supHide m:val="on"/>
                                                  <m:ctrlP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&lt;</m:t>
                                                  </m:r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  <m:sup/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𝑤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𝑘𝑙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nary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+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𝑇</m:t>
                                                  </m:r>
                                                </m:den>
                                              </m:f>
                                              <m:nary>
                                                <m:naryPr>
                                                  <m:chr m:val="∑"/>
                                                  <m:supHide m:val="on"/>
                                                  <m:ctrlP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HK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  <m:sup/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HK" i="1"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nary>
                                            </m:sup>
                                          </m:sSup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HK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+0−</m:t>
                              </m:r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HK" b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𝐲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𝑘𝑙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sup>
                                  </m:sSup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  <m:r>
                            <a:rPr lang="en-HK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HK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HK" b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HK" b="1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HK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HK" b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𝐲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𝑘𝑙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HK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sup>
                                  </m:sSup>
                                  <m: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HK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last term is the expected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when the Boltzmann machine samples state vectors from its equilibrium distribution at temperature </a:t>
                </a:r>
                <a14:m>
                  <m:oMath xmlns:m="http://schemas.openxmlformats.org/officeDocument/2006/math"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HK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BAD1E0B-E41D-1DB2-264B-A03750EB77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76349" y="1171951"/>
                <a:ext cx="11039302" cy="5597380"/>
              </a:xfrm>
              <a:blipFill>
                <a:blip r:embed="rId2"/>
                <a:stretch>
                  <a:fillRect l="-884" r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98AAB8C-0F1E-04F5-63FD-20627AD09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Learning Rule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D9B87-A529-CF54-7750-B5691E57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58189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6442E5-8462-4E8F-BAAA-A56BA7ADF2E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95744" y="1260620"/>
                <a:ext cx="11039302" cy="4771212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In summary, the learning rule is given by</a:t>
                </a:r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data</m:t>
                              </m:r>
                            </m:sub>
                          </m:sSub>
                          <m:r>
                            <a:rPr lang="en-HK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model</m:t>
                              </m:r>
                            </m:sub>
                          </m:sSub>
                        </m:e>
                      </m:d>
                      <m:r>
                        <a:rPr lang="en-HK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Similarly,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data</m:t>
                              </m:r>
                            </m:sub>
                          </m:sSub>
                          <m:r>
                            <a:rPr lang="en-HK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model</m:t>
                              </m:r>
                            </m:sub>
                          </m:sSub>
                        </m:e>
                      </m:d>
                      <m:r>
                        <a:rPr lang="en-HK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HK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learning rule is the same </a:t>
                </a:r>
                <a:r>
                  <a:rPr lang="en-HK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for both visible and hidden nodes.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Hidden nodes enable the machine to capture higher-order features in the data.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HK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HK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model</m:t>
                        </m:r>
                      </m:sub>
                    </m:sSub>
                  </m:oMath>
                </a14:m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involving hidden nodes are updated when the visible nodes are </a:t>
                </a:r>
                <a:r>
                  <a:rPr lang="en-HK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clamped</a:t>
                </a:r>
                <a:r>
                  <a:rPr lang="en-HK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to the training data.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HK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6442E5-8462-4E8F-BAAA-A56BA7ADF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95744" y="1260620"/>
                <a:ext cx="11039302" cy="4771212"/>
              </a:xfrm>
              <a:blipFill>
                <a:blip r:embed="rId2"/>
                <a:stretch>
                  <a:fillRect l="-883" t="-895" r="-828" b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EAB6963-304E-4E0D-A330-FABE64F7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Learning in Visible and Hidden Nodes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EB23-6B28-4A68-B23F-CA255874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755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6FC7A-605F-255C-1B8B-1CFA407CC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E01A0C-C31F-EEA5-7AF2-06E98EEC4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744" y="1260620"/>
            <a:ext cx="11039302" cy="284086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If the visible nodes of the Boltzmann machine are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only connected with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hidden nodes, and the hidden nodes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only with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visible nodes, then the Boltzmann machine becomes a restricted Boltzmann machine (RBM).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In RBM,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the visible nodes are not connected with each other. So are the hidde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n nodes.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Hence, the structure of RBM is a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bipartite graph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HK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 feature extraction, the hidden nodes can encode the </a:t>
            </a:r>
            <a:r>
              <a:rPr lang="en-HK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features</a:t>
            </a:r>
            <a:r>
              <a:rPr lang="en-HK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01D2F5-3F10-FCC5-C222-402E2143F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3. Restricted Boltzmann Machine</a:t>
            </a:r>
            <a:r>
              <a:rPr lang="en-US" sz="5400" b="1" baseline="30000" dirty="0"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E7114-2371-0ECA-34BB-7699D684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8</a:t>
            </a:fld>
            <a:endParaRPr lang="en-H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3BCCD0-2C9E-BE7B-4C7C-7000F1724362}"/>
              </a:ext>
            </a:extLst>
          </p:cNvPr>
          <p:cNvSpPr txBox="1"/>
          <p:nvPr/>
        </p:nvSpPr>
        <p:spPr>
          <a:xfrm>
            <a:off x="553684" y="6083635"/>
            <a:ext cx="7755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30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Restricted Boltzmann machine. (</a:t>
            </a:r>
            <a:r>
              <a:rPr lang="en-US" dirty="0"/>
              <a:t>28 June 2025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). In Wikipedia.</a:t>
            </a:r>
          </a:p>
          <a:p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https://en.wikipedia.org/wiki/Restricted_Boltzmann_machine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FDC9038B-2D53-9D06-1BA4-D352B18D6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184" y="3309082"/>
            <a:ext cx="2924196" cy="3124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39A9AF-3125-85C1-E666-229F521B8E77}"/>
              </a:ext>
            </a:extLst>
          </p:cNvPr>
          <p:cNvSpPr txBox="1"/>
          <p:nvPr/>
        </p:nvSpPr>
        <p:spPr>
          <a:xfrm>
            <a:off x="595744" y="4067064"/>
            <a:ext cx="78824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HK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When RBM’s are stacked layer by layer, they form </a:t>
            </a:r>
            <a:r>
              <a:rPr lang="en-HK" sz="2400" dirty="0">
                <a:solidFill>
                  <a:srgbClr val="FF000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deep belief networks</a:t>
            </a:r>
            <a:r>
              <a:rPr lang="en-HK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, which can extract more sophisticated features. Useful for pre-training deep neural networks.</a:t>
            </a:r>
            <a:endParaRPr lang="en-HK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2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AB6963-304E-4E0D-A330-FABE64F7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Formulation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EB23-6B28-4A68-B23F-CA255874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9</a:t>
            </a:fld>
            <a:endParaRPr lang="en-HK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18FB9A-1566-49F5-9DC8-69D749BB96A0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B03C5A-78D2-487F-8C9F-D752EF66A59D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39A5A342-67C4-42C2-953F-887A65106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A07908ED-AF84-4AFD-B40F-801BFF0B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0E14C45-C552-4A3C-A44D-039BF38E823B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3906436-F8AD-4343-AF68-F0B9B63A9104}"/>
              </a:ext>
            </a:extLst>
          </p:cNvPr>
          <p:cNvSpPr/>
          <p:nvPr/>
        </p:nvSpPr>
        <p:spPr>
          <a:xfrm>
            <a:off x="4926330" y="48164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427CF02-8484-4786-95F9-1FDD7C0A67A2}"/>
                  </a:ext>
                </a:extLst>
              </p:cNvPr>
              <p:cNvSpPr txBox="1"/>
              <p:nvPr/>
            </p:nvSpPr>
            <p:spPr>
              <a:xfrm>
                <a:off x="317325" y="1171951"/>
                <a:ext cx="11121740" cy="5561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formulation of RBM is a straightforward extension of that of Boltzmann machines.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𝐚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𝐯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𝐛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𝐡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𝐯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𝐖𝐡</m:t>
                      </m:r>
                      <m:r>
                        <a:rPr lang="en-US" sz="2400" i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}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 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 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427CF02-8484-4786-95F9-1FDD7C0A6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25" y="1171951"/>
                <a:ext cx="11121740" cy="5561972"/>
              </a:xfrm>
              <a:prstGeom prst="rect">
                <a:avLst/>
              </a:prstGeom>
              <a:blipFill>
                <a:blip r:embed="rId2"/>
                <a:stretch>
                  <a:fillRect l="-822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84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AB6963-304E-4E0D-A330-FABE64F7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Learning Rule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EB23-6B28-4A68-B23F-CA255874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10</a:t>
            </a:fld>
            <a:endParaRPr lang="en-HK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18FB9A-1566-49F5-9DC8-69D749BB96A0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B03C5A-78D2-487F-8C9F-D752EF66A59D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39A5A342-67C4-42C2-953F-887A65106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A07908ED-AF84-4AFD-B40F-801BFF0B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0E14C45-C552-4A3C-A44D-039BF38E823B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3906436-F8AD-4343-AF68-F0B9B63A9104}"/>
              </a:ext>
            </a:extLst>
          </p:cNvPr>
          <p:cNvSpPr/>
          <p:nvPr/>
        </p:nvSpPr>
        <p:spPr>
          <a:xfrm>
            <a:off x="4926330" y="48164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427CF02-8484-4786-95F9-1FDD7C0A67A2}"/>
                  </a:ext>
                </a:extLst>
              </p:cNvPr>
              <p:cNvSpPr txBox="1"/>
              <p:nvPr/>
            </p:nvSpPr>
            <p:spPr>
              <a:xfrm>
                <a:off x="432951" y="1324350"/>
                <a:ext cx="11121740" cy="5287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Same as Boltzmann machines, the learning rule is given by</a:t>
                </a:r>
                <a:endParaRPr lang="en-US" sz="2400" i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HK" sz="24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HK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HK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sz="24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data</m:t>
                              </m:r>
                            </m:sub>
                          </m:sSub>
                          <m:r>
                            <a:rPr lang="en-HK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HK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HK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HK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HK" sz="24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model</m:t>
                              </m:r>
                            </m:sub>
                          </m:sSub>
                        </m:e>
                      </m:d>
                      <m:r>
                        <a:rPr lang="en-HK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first term (also called the positive gradient) is easy to achieve.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second term (also called the negative gradient), at least theoretically, requires the RBM to iterate until it reaches equilibrium and is thus a computationally expensive operation.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Hinton proposed replacing this operation with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Gibbs sampling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in which the network iterates for many steps using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MCMC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methods.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This requires a “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burn-in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” period before the network states become representative of the equilibrium distribution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too few steps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the network states remain strongly correlated with the initial configuration.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427CF02-8484-4786-95F9-1FDD7C0A6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51" y="1324350"/>
                <a:ext cx="11121740" cy="5287473"/>
              </a:xfrm>
              <a:prstGeom prst="rect">
                <a:avLst/>
              </a:prstGeom>
              <a:blipFill>
                <a:blip r:embed="rId2"/>
                <a:stretch>
                  <a:fillRect l="-822" t="-806" r="-1206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08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39ED8-3A3A-85E4-BA02-15E583D1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27DC2DC-062E-0734-26F7-2A6B1CC7C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Gibbs Sampling</a:t>
            </a:r>
            <a:r>
              <a:rPr lang="en-US" sz="5400" b="1" baseline="30000" dirty="0"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BC55E-90B5-7DFD-E00C-D00FAEC1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11</a:t>
            </a:fld>
            <a:endParaRPr lang="en-HK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3DAF1AC-7D54-FEFD-634D-62A666B6F46A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3892549-F03E-3AD2-2C06-CDFA05A473DE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CC7B92DD-DEB5-B165-4022-C1BE0481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F6365707-9F66-6354-32AE-56274066B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D54CEB8-66C5-B883-7012-C09CC50310AD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9B3C6AA-F1A0-2893-DE7A-5F21BB6CABC7}"/>
              </a:ext>
            </a:extLst>
          </p:cNvPr>
          <p:cNvSpPr/>
          <p:nvPr/>
        </p:nvSpPr>
        <p:spPr>
          <a:xfrm>
            <a:off x="4926330" y="48164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3" name="Picture 2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C252E596-12F8-F38C-1A2B-1C691AC2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052" y="1193608"/>
            <a:ext cx="7489085" cy="46672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0C19A5-721F-346D-ECF3-5EC74B93AC21}"/>
              </a:ext>
            </a:extLst>
          </p:cNvPr>
          <p:cNvSpPr txBox="1"/>
          <p:nvPr/>
        </p:nvSpPr>
        <p:spPr>
          <a:xfrm>
            <a:off x="686849" y="6083749"/>
            <a:ext cx="10206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30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G. E. Hinton, Training product of experts by minimizing contrastive divergence,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Neural Computation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1771-1800 (2002).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8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79179-817C-50EA-72B2-4F3CA19D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6ADA842-E6A4-A4A3-C7E0-2698E88B9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Contrastive Divergence</a:t>
            </a:r>
            <a:endParaRPr lang="en-HK" sz="5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0DBB9-2B7E-CEF1-3046-E27D9C24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12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C38BF1-B811-EA9C-0043-AA82BAAF49E6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6A753F5-9441-7FB9-C9FB-5F6A03C1859E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B4B9FC66-15CB-E2AF-19D9-BB4CB4CD8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FECDB243-AE03-32E4-9D79-C41282893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3110CA3-5588-290C-23CE-14AB66982790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AF646C1-5CE2-B5BE-903A-423F2DE75494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121740" cy="3882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Hinton proposed that the first reconstructed state is one step closer to the equilibrium distribution than the original state, so the contrastive divergence can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never be negative: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1. Take a training sample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compute the probabilities of the hidden nodes and sample a hidden activation vector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from this probability distribution.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2. Compute the outer product 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and call this the positive gradient.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3. From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sample a reconstruction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of the visible nodes, then resample the hidden activations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from this. (Gibbs sampling step)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4. Compute the outer product 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and call this the negative gradient.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5. Compute: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𝑣h</m:t>
                        </m:r>
                        <m:r>
                          <m:rPr>
                            <m:sty m:val="p"/>
                          </m:rPr>
                          <a:rPr lang="en-US" sz="2400" b="0" i="0" baseline="300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−</m:t>
                        </m:r>
                        <m:sSup>
                          <m:sSup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400" baseline="30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AF646C1-5CE2-B5BE-903A-423F2DE75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121740" cy="3882601"/>
              </a:xfrm>
              <a:prstGeom prst="rect">
                <a:avLst/>
              </a:prstGeom>
              <a:blipFill>
                <a:blip r:embed="rId2"/>
                <a:stretch>
                  <a:fillRect l="-877" t="-1256" r="-1042" b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9959C697-E9E8-A6AA-DCB3-819B5B6FB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F6D553CB-29BF-A8F7-333D-4ECFADABC0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7940B20C-A243-3911-D574-59327D48B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4A854D05-6694-EEF0-BB40-0BF4EFC265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3E1691-5089-2516-2683-57C4946A8347}"/>
              </a:ext>
            </a:extLst>
          </p:cNvPr>
          <p:cNvGrpSpPr/>
          <p:nvPr/>
        </p:nvGrpSpPr>
        <p:grpSpPr>
          <a:xfrm>
            <a:off x="4076038" y="5154564"/>
            <a:ext cx="4039921" cy="1512105"/>
            <a:chOff x="4089782" y="5090968"/>
            <a:chExt cx="4039921" cy="1512105"/>
          </a:xfrm>
        </p:grpSpPr>
        <p:pic>
          <p:nvPicPr>
            <p:cNvPr id="10" name="Picture 9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EFD86F67-5ABB-34EE-08CE-D0A301F7C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782" y="5090968"/>
              <a:ext cx="4012435" cy="151210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B616F42-D849-5E9F-4725-31EA3F7C38C1}"/>
                    </a:ext>
                  </a:extLst>
                </p:cNvPr>
                <p:cNvSpPr txBox="1"/>
                <p:nvPr/>
              </p:nvSpPr>
              <p:spPr>
                <a:xfrm>
                  <a:off x="4202029" y="5653476"/>
                  <a:ext cx="5237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B616F42-D849-5E9F-4725-31EA3F7C38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029" y="5653476"/>
                  <a:ext cx="52378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49E2C62-ADB0-9D5E-49AF-68A66689BD81}"/>
                    </a:ext>
                  </a:extLst>
                </p:cNvPr>
                <p:cNvSpPr txBox="1"/>
                <p:nvPr/>
              </p:nvSpPr>
              <p:spPr>
                <a:xfrm>
                  <a:off x="5065888" y="5090968"/>
                  <a:ext cx="5237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49E2C62-ADB0-9D5E-49AF-68A66689B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5888" y="5090968"/>
                  <a:ext cx="5237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5683DE2-D8FB-CF68-5B92-DE149009BFF0}"/>
                    </a:ext>
                  </a:extLst>
                </p:cNvPr>
                <p:cNvSpPr txBox="1"/>
                <p:nvPr/>
              </p:nvSpPr>
              <p:spPr>
                <a:xfrm>
                  <a:off x="5890232" y="5662354"/>
                  <a:ext cx="5237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5683DE2-D8FB-CF68-5B92-DE149009B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0232" y="5662354"/>
                  <a:ext cx="52378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D83C0F-D7E4-2970-60E8-2217B2B700F3}"/>
                    </a:ext>
                  </a:extLst>
                </p:cNvPr>
                <p:cNvSpPr txBox="1"/>
                <p:nvPr/>
              </p:nvSpPr>
              <p:spPr>
                <a:xfrm>
                  <a:off x="6825148" y="5090968"/>
                  <a:ext cx="5237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D83C0F-D7E4-2970-60E8-2217B2B70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148" y="5090968"/>
                  <a:ext cx="52378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4B4B31-7282-6467-138E-BE2B46D27A52}"/>
                </a:ext>
              </a:extLst>
            </p:cNvPr>
            <p:cNvSpPr/>
            <p:nvPr/>
          </p:nvSpPr>
          <p:spPr>
            <a:xfrm>
              <a:off x="7605921" y="5530041"/>
              <a:ext cx="523782" cy="2574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0854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EABF5-471A-A3EE-9366-F7803760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14F7C8-01F0-6FB1-7875-24D5C5D3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4. RBM Recommender System</a:t>
            </a:r>
            <a:r>
              <a:rPr lang="en-US" sz="5400" b="1" baseline="30000" dirty="0"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14CAF-3D04-A3BE-64E8-2B94BF35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13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D9A561-972D-F242-0F5E-B1C407036072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45F0969-2464-36CE-008B-9733A7000D7E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10A35950-2419-B327-5EF1-4AA07D54A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298B288B-9F91-CE2D-077D-026A81B8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3481345-A28D-3529-F806-C0B5A524EFF3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E9E0703-688B-8B59-11EC-B7D517B69612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121740" cy="4625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Collaborative filtering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is a recommender system technique that predicts user preferences by analyzing the behavior of similar users or items, e.g. Netflix.</a:t>
                </a:r>
              </a:p>
              <a:p>
                <a:pPr marL="0" marR="0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Consider a recommender system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users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movies. Each user can give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ratings to each movie.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(For example,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in five-star ratings.)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However, each user only gives ratings to a small number of movies.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Building an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RBM recommender 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system: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visible nodes for the movies.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hidden nodes representing the features.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	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visible nodes of each movie are </a:t>
                </a:r>
                <a:r>
                  <a:rPr lang="en-US" sz="2400" dirty="0" err="1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softmax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units so that they sum up to 1.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matrix of weights represent the feature vectors of the movies.</a:t>
                </a: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E9E0703-688B-8B59-11EC-B7D517B69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121740" cy="4625177"/>
              </a:xfrm>
              <a:prstGeom prst="rect">
                <a:avLst/>
              </a:prstGeom>
              <a:blipFill>
                <a:blip r:embed="rId2"/>
                <a:stretch>
                  <a:fillRect l="-877" t="-1055" b="-2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57C55C2C-BACC-3FC8-2B71-15E09474B3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B772B6B3-BD1F-DB1D-5CD4-D7AF5D197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A8F3B564-918E-6DC2-4508-4FB7C2647E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8E0B3783-B3C5-0913-2749-3AD064B285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67294-CDC8-B27B-328B-60CF1726E4A6}"/>
              </a:ext>
            </a:extLst>
          </p:cNvPr>
          <p:cNvSpPr txBox="1"/>
          <p:nvPr/>
        </p:nvSpPr>
        <p:spPr>
          <a:xfrm>
            <a:off x="686849" y="6083749"/>
            <a:ext cx="10206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30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Salakhudinov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Mnih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G. Hinton, Restricted Boltzmann Machines for Collaborative Filtering,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Proceedings of the 24th International Conference on Machine learning - ICML ‘07</a:t>
            </a:r>
            <a:r>
              <a:rPr lang="en-US" i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791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2007).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1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42DB3-973E-CB87-FE17-D33A06DF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D7EF61-F3D1-BCCC-77F8-702D8D73E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Missing Ratings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9987A-D8EF-D23D-FDA3-18432FEA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14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09C834-779F-C897-0C92-B074DD8AC88C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2CD3FB1-BEAC-21C4-68B7-81B60D245712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33A96A56-747C-3A1C-A921-6C775E668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B60F2EB9-6762-4F59-CAAC-D0442641F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030FADC-E71D-BDB6-7777-4E26AF2F10FE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95FE1A77-29A6-CBA7-A4A6-D475F940CB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3772BC2C-D044-30CE-6292-6248BA79A3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88B19808-99D6-91D3-A8F2-734DB350A0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58D4EB1F-2460-BE6A-AB58-3D49426224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diagram of a couple of people&#10;&#10;AI-generated content may be incorrect.">
            <a:extLst>
              <a:ext uri="{FF2B5EF4-FFF2-40B4-BE49-F238E27FC236}">
                <a16:creationId xmlns:a16="http://schemas.microsoft.com/office/drawing/2014/main" id="{F40A9729-87C2-980D-62AC-FF5476D8E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1426878"/>
            <a:ext cx="460121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4EB72-1F8C-893D-4171-1E151BF9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271A82A-ED7C-067B-87D7-B7582F4F9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Formulation (1)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05838-40BD-773D-3826-AAC47FC5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15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A6852B-8978-3ED7-7E8D-24F309306988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07AB53-AD90-55F0-9D48-C5F8824AF12D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495FDA4E-ABD0-625B-E6C5-F4D6524E8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ECDE7665-13E2-7905-F78A-6630A439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5356C01-4A38-A88F-6726-371D7EFC8EE3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8A2F759-0D64-4F8F-5FA5-3451DF83FBD5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239776" cy="5291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𝐹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𝐹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p>
                                          </m:sSubSup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the RBM built for the user who has rated only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movies,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𝐕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nary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𝐕</m:t>
                    </m:r>
                  </m:oMath>
                </a14:m>
                <a:r>
                  <a:rPr lang="en-US" sz="2400" b="1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matrix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if the user rated movie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0 otherwise.</a:t>
                </a: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bias of rating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movie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 It is initialized to the logs of its base rates of all users.</a:t>
                </a: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bias of feature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</a:pPr>
                <a:endParaRPr lang="en-US" sz="2400" b="1" i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8A2F759-0D64-4F8F-5FA5-3451DF83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239776" cy="5291513"/>
              </a:xfrm>
              <a:prstGeom prst="rect">
                <a:avLst/>
              </a:prstGeom>
              <a:blipFill>
                <a:blip r:embed="rId2"/>
                <a:stretch>
                  <a:fillRect l="-868" r="-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1A9D2AC7-C637-C566-27F0-CB92AF798B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EE883005-4172-6885-4141-558682AC45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5F3E2821-A023-6EAB-7831-C2180FA22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794E1F90-2FB9-8B84-1139-D51F9E3A64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74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77350-0C6B-F43C-399D-AB359BAF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67D835C-ED0E-7CF1-DCE6-0131AAFB8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Formulation (2)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74528-F467-61B7-CF8E-6693B9A4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16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DCE28D-9A69-1669-3946-D96EF007F48F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8B4DD3-A6D9-633E-860D-CC8AE7DFDF9B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7D2DFD26-6AB1-A2E7-FB49-B504C1DB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F9B50B97-33BE-07BD-13F7-D07CFCFDE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1B1ADB8-5B7B-BB2D-3D84-98ABD24741A3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F9AADEB-F2FB-4528-C530-D480E2CEDC1A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239776" cy="3853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Marginal distribution: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𝐕</m:t>
                          </m:r>
                        </m:e>
                      </m:d>
                      <m:r>
                        <a:rPr lang="en-US" sz="2400" b="1" i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𝐡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𝐕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𝐸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(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𝐕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400" b="1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nary>
                      <m:r>
                        <a:rPr lang="en-US" sz="2400" b="1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400" b="1" i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b="1" i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𝐡</m:t>
                          </m:r>
                        </m:e>
                      </m:d>
                      <m:r>
                        <a:rPr lang="en-US" sz="2400" b="1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movies with missing ratings do not make any contribution to the energy function.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F9AADEB-F2FB-4528-C530-D480E2CED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239776" cy="3853427"/>
              </a:xfrm>
              <a:prstGeom prst="rect">
                <a:avLst/>
              </a:prstGeom>
              <a:blipFill>
                <a:blip r:embed="rId2"/>
                <a:stretch>
                  <a:fillRect l="-868" t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5A73495C-733E-1D6F-7556-9B7C3FE6F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F6A8299D-1E35-6A37-B836-5788D888CB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87F65FA3-B3E1-29F4-0710-FB153512E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3C9D5391-8047-3A8E-0FE3-5051E42FC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59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AB3F3-6458-B7F8-640C-04F8D9B0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ABCD1C-8F8F-07A2-8670-318A53B3F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Learning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1093-29CB-FC61-3146-FC81A925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17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A20F3B-CE6B-8158-A2E2-EB89538DDE03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405D1E-FC2D-FBDA-AC25-18AA5204E733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CB3B23CA-9C29-E88D-E29A-FCD5CBCB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E247C1CF-01DF-E323-2852-6C1FE2EBE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6DF033B-6C05-5800-78A1-2B8D9FCACB62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BE0251D-4049-3622-CA63-8875A13C3B93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239776" cy="3508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𝜖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𝐕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data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model</m:t>
                              </m:r>
                            </m:sub>
                          </m:sSub>
                        </m:e>
                      </m:d>
                      <m:r>
                        <a:rPr lang="en-US" sz="2400" b="1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movies with missing ratings do not make any contribution to the energy function.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model average is learned using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contrastive divergence:</a:t>
                </a:r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data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number of steps used in Gibbs sampling.</a:t>
                </a: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at the beginning of learning.</a:t>
                </a:r>
              </a:p>
              <a:p>
                <a:pPr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increases in the process of learning.</a:t>
                </a: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BE0251D-4049-3622-CA63-8875A13C3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239776" cy="3508461"/>
              </a:xfrm>
              <a:prstGeom prst="rect">
                <a:avLst/>
              </a:prstGeom>
              <a:blipFill>
                <a:blip r:embed="rId2"/>
                <a:stretch>
                  <a:fillRect l="-868" b="-3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C15B9EDF-9BF3-5D3B-C785-76E3C7923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BCD8EAD8-1380-CE01-FF8B-AD331A7F3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AB6A0C65-6C36-C8AB-6ADC-14ED4C54A7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04F9A394-5CB9-CA68-51F3-9D04657C7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42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C92A1-9ED0-05C6-A4D6-AE1C783E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32212F-59B3-D518-6A97-80FF39F21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Making Predictions (1)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B6CE1-59E7-2E04-AA67-E4C0255C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18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E17369B-667B-579E-57EE-DADBA148D27E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F97569-1FB1-90FF-E6A5-013127197997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20887021-62EE-69C7-AE49-005632169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AE265AB6-94C0-FD6B-8541-447FDEE98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F608565-57E9-ED71-F4D3-1715DC32691C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D5DCF44-5BE3-374F-9687-E1914EC36731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239776" cy="2052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When asked to predict ratings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movies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we can compute</a:t>
                </a:r>
                <a:endParaRPr lang="en-US" sz="2400" b="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sz="2400" b="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𝐕</m:t>
                          </m:r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sz="2400" b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However, this requires us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evaluations for each user.</a:t>
                </a:r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D5DCF44-5BE3-374F-9687-E1914EC36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239776" cy="2052293"/>
              </a:xfrm>
              <a:prstGeom prst="rect">
                <a:avLst/>
              </a:prstGeom>
              <a:blipFill>
                <a:blip r:embed="rId2"/>
                <a:stretch>
                  <a:fillRect l="-868" t="-2381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6408F769-A166-26BD-6CFD-7A192BC2D7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9D9D73B8-1F87-7210-74EE-11787D43E3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4838B4B8-4B9C-82D8-4F63-A1E1E9E4C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629E3A8A-CEE3-15E5-AAF8-8599F4E391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09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08EF8-D0C3-262E-9755-E29CFE13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53C8949-9017-D078-D4E8-5303A4622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2" y="254927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Making Predictions (2)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B5107-B251-16EB-D842-36D514D7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19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7E0CD8-D17A-FDE4-E603-0629A82C3209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1033943-C6CE-462F-37F8-804A5B90BB5A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6D9243BE-413B-5DD6-8D6C-E03C55883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E850167D-290B-6743-F007-8CD43EB4A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6AE2722-328C-A62E-CE0A-E83084CF5E04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2083E4C-4619-733F-1DBE-A3FC3C0D654C}"/>
                  </a:ext>
                </a:extLst>
              </p:cNvPr>
              <p:cNvSpPr txBox="1"/>
              <p:nvPr/>
            </p:nvSpPr>
            <p:spPr>
              <a:xfrm>
                <a:off x="535129" y="1271963"/>
                <a:ext cx="11239776" cy="4025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Alternatively, use mean field equations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400" b="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sz="2400" b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𝐕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(−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nary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𝐹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𝑞𝑗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</m:sSub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𝐹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𝑞𝑗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p>
                                          </m:sSubSup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    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slightly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less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accurate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but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faster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adopted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sz="2400" b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2083E4C-4619-733F-1DBE-A3FC3C0D6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29" y="1271963"/>
                <a:ext cx="11239776" cy="4025076"/>
              </a:xfrm>
              <a:prstGeom prst="rect">
                <a:avLst/>
              </a:prstGeom>
              <a:blipFill>
                <a:blip r:embed="rId2"/>
                <a:stretch>
                  <a:fillRect l="-868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D264F607-19BC-38E8-B0AB-8FF1E57CB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8E3B24F3-DFA8-2CB3-6D58-5202F3837D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7545D6C2-91CF-2C5C-DF59-E8593BB97B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AF63240F-D4CF-752E-093B-8B788C776D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3A538-CC13-070A-D021-B208FAC5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FC5F0C9-869B-7CB4-3E27-F427B65A2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10" y="79968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Further Details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FF1F3-8779-D163-FDA1-54EF0150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20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7F7147-CE89-1300-6806-25D656FC5E9D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1D886B-6D5C-B902-8C02-7AA3F44DB269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8DD6168D-C085-3427-891E-B7E53908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D206410F-FB33-3CE0-FC2C-13FB6FE4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26C6FD1-1DCC-C62B-7BF7-68C996EC04CF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612E03-7498-5200-6065-F2320A1F9076}"/>
                  </a:ext>
                </a:extLst>
              </p:cNvPr>
              <p:cNvSpPr txBox="1"/>
              <p:nvPr/>
            </p:nvSpPr>
            <p:spPr>
              <a:xfrm>
                <a:off x="476112" y="942726"/>
                <a:ext cx="11239776" cy="5915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RBM’s with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Gaussian hidden nodes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Conditional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RBM’s: Pay more attention to the movies to be queried, if those movies are known to be queried beforehand.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Conditional </a:t>
                </a:r>
                <a:r>
                  <a:rPr lang="en-US" sz="2400" b="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factored</a:t>
                </a:r>
                <a:r>
                  <a:rPr lang="en-US" sz="2400" b="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RBM’s: Factorize the weight matrix to address the size problem of the weight matrix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b="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(e.g. 9 million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=100, 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=17,770, 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b="0" i="1" smtClean="0"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400" b="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in the Netflix dataset):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𝑖𝑐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𝑐𝑗</m:t>
                              </m:r>
                            </m:sub>
                          </m:sSub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≪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and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≪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g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=30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 </m:t>
                      </m:r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defTabSz="344488"/>
                <a:r>
                  <a:rPr lang="en-US" sz="2400" dirty="0"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Learning:</a:t>
                </a:r>
              </a:p>
              <a:p>
                <a:pPr indent="523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𝑖𝑐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𝑐𝑗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𝑐𝑗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523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𝑖𝑘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𝑖𝑐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data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𝑖𝑘</m:t>
                                          </m:r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𝑖𝑐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2612E03-7498-5200-6065-F2320A1F9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2" y="942726"/>
                <a:ext cx="11239776" cy="5915274"/>
              </a:xfrm>
              <a:prstGeom prst="rect">
                <a:avLst/>
              </a:prstGeom>
              <a:blipFill>
                <a:blip r:embed="rId2"/>
                <a:stretch>
                  <a:fillRect l="-705" t="-825" r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6E183CC3-35EC-56B3-AAD8-4DF958A661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8EA424BD-3B0E-7489-C3B4-516BEAC26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4797D247-77C8-8D5F-5374-B485349FBC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022D019F-D4A0-1945-9D33-199C50857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2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B1651-9FA4-C730-143D-58191B33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981763-AAE0-7C66-12D1-E38866ACA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10" y="79968"/>
            <a:ext cx="10612580" cy="917024"/>
          </a:xfrm>
        </p:spPr>
        <p:txBody>
          <a:bodyPr>
            <a:noAutofit/>
          </a:bodyPr>
          <a:lstStyle/>
          <a:p>
            <a:r>
              <a:rPr lang="en-US" sz="5400" b="1" dirty="0">
                <a:ea typeface="DengXian" panose="02010600030101010101" pitchFamily="2" charset="-122"/>
                <a:cs typeface="Times New Roman" panose="02020603050405020304" pitchFamily="18" charset="0"/>
              </a:rPr>
              <a:t>Experimental Results</a:t>
            </a:r>
            <a:endParaRPr lang="en-HK" sz="5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A66C8-9ACA-6558-B8E3-57C22E0A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E501-04D9-44DC-AA3C-B9F196DDA2F3}" type="slidenum">
              <a:rPr lang="en-HK" smtClean="0"/>
              <a:t>21</a:t>
            </a:fld>
            <a:endParaRPr lang="en-H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567A02-020A-E433-B853-EC932F042C18}"/>
              </a:ext>
            </a:extLst>
          </p:cNvPr>
          <p:cNvSpPr/>
          <p:nvPr/>
        </p:nvSpPr>
        <p:spPr>
          <a:xfrm>
            <a:off x="1849120" y="46628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83EF7A-654C-6BD0-B888-6908AB7F7124}"/>
              </a:ext>
            </a:extLst>
          </p:cNvPr>
          <p:cNvSpPr/>
          <p:nvPr/>
        </p:nvSpPr>
        <p:spPr>
          <a:xfrm>
            <a:off x="4773930" y="466407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BAABADB1-17D2-E9D9-87CC-E6C4BFA0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17E58BB7-E0E1-196C-9FFC-3ACD643C5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6CE85CA-BCE1-08BD-FDA2-E466EF7283B8}"/>
              </a:ext>
            </a:extLst>
          </p:cNvPr>
          <p:cNvSpPr/>
          <p:nvPr/>
        </p:nvSpPr>
        <p:spPr>
          <a:xfrm>
            <a:off x="2001520" y="4815205"/>
            <a:ext cx="951865" cy="1047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AutoShape 3" descr="{\displaystyle W}">
            <a:extLst>
              <a:ext uri="{FF2B5EF4-FFF2-40B4-BE49-F238E27FC236}">
                <a16:creationId xmlns:a16="http://schemas.microsoft.com/office/drawing/2014/main" id="{A53AB8D5-1218-40C5-7DAA-F260941EA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3213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{\displaystyle \Delta W=\epsilon (vh^{\mathsf {T}}-v'h'^{\mathsf {T}})}">
            <a:extLst>
              <a:ext uri="{FF2B5EF4-FFF2-40B4-BE49-F238E27FC236}">
                <a16:creationId xmlns:a16="http://schemas.microsoft.com/office/drawing/2014/main" id="{4C4542B8-77D8-6DCD-010C-7C6F8CCD3E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8538" y="6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{\displaystyle \Delta a=\epsilon (v-v')}">
            <a:extLst>
              <a:ext uri="{FF2B5EF4-FFF2-40B4-BE49-F238E27FC236}">
                <a16:creationId xmlns:a16="http://schemas.microsoft.com/office/drawing/2014/main" id="{F1335249-2B28-4CD0-62F5-4C957DAF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463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{\displaystyle \Delta b=\epsilon (h-h')}">
            <a:extLst>
              <a:ext uri="{FF2B5EF4-FFF2-40B4-BE49-F238E27FC236}">
                <a16:creationId xmlns:a16="http://schemas.microsoft.com/office/drawing/2014/main" id="{7AB4D529-8CFD-962F-43E5-5F6F90748F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7288" y="357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0361220A-ADBA-5B42-87E1-D4D2FED77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54" y="1348449"/>
            <a:ext cx="10997195" cy="41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9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7547</TotalTime>
  <Words>1599</Words>
  <Application>Microsoft Office PowerPoint</Application>
  <PresentationFormat>Widescreen</PresentationFormat>
  <Paragraphs>171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DengXian</vt:lpstr>
      <vt:lpstr>Arial</vt:lpstr>
      <vt:lpstr>Calibri</vt:lpstr>
      <vt:lpstr>Calibri Light</vt:lpstr>
      <vt:lpstr>Cambria Math</vt:lpstr>
      <vt:lpstr>Times New Roman</vt:lpstr>
      <vt:lpstr>Office Theme</vt:lpstr>
      <vt:lpstr>MSDM 5003 Lecture 10 6 November 2025 Boltzmann Machines and RBM</vt:lpstr>
      <vt:lpstr>1. Markov Random Fields</vt:lpstr>
      <vt:lpstr>2. Boltzmann Machine1</vt:lpstr>
      <vt:lpstr>Marginal Probability</vt:lpstr>
      <vt:lpstr>Learning in Boltzmann Machines</vt:lpstr>
      <vt:lpstr>Learning Rule</vt:lpstr>
      <vt:lpstr>Learning in Visible and Hidden Nodes</vt:lpstr>
      <vt:lpstr>3. Restricted Boltzmann Machine2</vt:lpstr>
      <vt:lpstr>Formulation</vt:lpstr>
      <vt:lpstr>Learning Rule</vt:lpstr>
      <vt:lpstr>Gibbs Sampling3</vt:lpstr>
      <vt:lpstr>Contrastive Divergence</vt:lpstr>
      <vt:lpstr>4. RBM Recommender System4</vt:lpstr>
      <vt:lpstr>Missing Ratings</vt:lpstr>
      <vt:lpstr>Formulation (1)</vt:lpstr>
      <vt:lpstr>Formulation (2)</vt:lpstr>
      <vt:lpstr>Learning</vt:lpstr>
      <vt:lpstr>Making Predictions (1)</vt:lpstr>
      <vt:lpstr>Making Predictions (2)</vt:lpstr>
      <vt:lpstr>Further Details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MSDM 5003 Lecture 13 3 December Principal Component Analysis</dc:title>
  <dc:creator>Kwok Yee Michael Wong</dc:creator>
  <cp:lastModifiedBy>Michael K Y WONG</cp:lastModifiedBy>
  <cp:revision>91</cp:revision>
  <dcterms:created xsi:type="dcterms:W3CDTF">2020-12-02T06:43:55Z</dcterms:created>
  <dcterms:modified xsi:type="dcterms:W3CDTF">2025-11-04T08:56:59Z</dcterms:modified>
</cp:coreProperties>
</file>