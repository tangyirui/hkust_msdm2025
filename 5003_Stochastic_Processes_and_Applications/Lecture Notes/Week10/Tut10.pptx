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14"/>
  </p:notesMasterIdLst>
  <p:handoutMasterIdLst>
    <p:handoutMasterId r:id="rId15"/>
  </p:handoutMasterIdLst>
  <p:sldIdLst>
    <p:sldId id="381" r:id="rId2"/>
    <p:sldId id="374" r:id="rId3"/>
    <p:sldId id="395" r:id="rId4"/>
    <p:sldId id="387" r:id="rId5"/>
    <p:sldId id="386" r:id="rId6"/>
    <p:sldId id="388" r:id="rId7"/>
    <p:sldId id="389" r:id="rId8"/>
    <p:sldId id="390" r:id="rId9"/>
    <p:sldId id="391" r:id="rId10"/>
    <p:sldId id="392" r:id="rId11"/>
    <p:sldId id="393" r:id="rId12"/>
    <p:sldId id="39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99"/>
    <a:srgbClr val="FFFF66"/>
    <a:srgbClr val="CCFFFF"/>
    <a:srgbClr val="FF0000"/>
    <a:srgbClr val="00336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4782" autoAdjust="0"/>
  </p:normalViewPr>
  <p:slideViewPr>
    <p:cSldViewPr snapToGrid="0">
      <p:cViewPr varScale="1">
        <p:scale>
          <a:sx n="102" d="100"/>
          <a:sy n="102" d="100"/>
        </p:scale>
        <p:origin x="18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fld id="{DFD3B866-D8E9-40B3-B90D-60DE41DFC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06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927074E-5E5D-4C1F-97AC-20A94DE09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437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17FE-3AB7-2DD5-22A3-B77EA1D2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2D331C24-A659-D771-605A-7B5DC73C3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C660A09-092D-B069-7CE2-E67C865571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816481FA-DAA5-B36B-E9E0-90365B8BF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8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29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7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30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7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4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82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91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610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80611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80612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3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4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5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6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0617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18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06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806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80621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75EF93-7C18-48A5-8351-AFEAC17FEC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0602D9-9302-4A50-95D0-CDC3384EEE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5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C7218-FB5C-4800-BD33-D53AC9BA11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00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8E9AB3-3811-47CE-A2D2-C49B5400CB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935C9E-B1D2-4853-B38F-82FAA8E22A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6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12B17B-E01D-4CEC-98D0-E1429A8071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5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2E6CCC-599A-4314-85D2-A1BF51A710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9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59BF52-9517-47BE-BDD9-63388EA46D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52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5A8947-ACEE-45AB-AEC7-A6861EE72F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79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B6436D-0598-4727-A5F6-2CCC7F41CC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0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F02E00-FDFE-4923-8A3F-827323B2A2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36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C187F2-0E06-40D0-8855-37C170894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178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DEE082F-283E-4D98-8BB1-6C2185D79E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68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D4534A-65DB-4158-9AB1-310AB1ABB7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E82E1C-73CE-44AC-A044-94B1ADEF7A8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57958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7958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79590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1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2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3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4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9595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596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959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795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9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20624" y="1381061"/>
            <a:ext cx="8229600" cy="3605718"/>
          </a:xfrm>
        </p:spPr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Week 10 Tutorial</a:t>
            </a:r>
            <a:b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Techniques</a:t>
            </a:r>
            <a:b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Principal Component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E082F-283E-4D98-8BB1-6C2185D79E5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Downloading Data from </a:t>
            </a:r>
            <a:r>
              <a:rPr lang="en-US" sz="2800" b="1" dirty="0" err="1">
                <a:solidFill>
                  <a:schemeClr val="hlink"/>
                </a:solidFill>
              </a:rPr>
              <a:t>Yahoo!Finance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BCD07ECF-56EE-8C69-33E8-EEE29AC6BB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0"/>
          <a:stretch/>
        </p:blipFill>
        <p:spPr>
          <a:xfrm>
            <a:off x="877570" y="981565"/>
            <a:ext cx="7223760" cy="58293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09BCF8-02C9-D767-FBED-6D14B9D5EEFF}"/>
              </a:ext>
            </a:extLst>
          </p:cNvPr>
          <p:cNvSpPr/>
          <p:nvPr/>
        </p:nvSpPr>
        <p:spPr bwMode="auto">
          <a:xfrm>
            <a:off x="2628900" y="1005133"/>
            <a:ext cx="5119933" cy="441854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425F8-A7FB-6504-5DA3-3E61A26E0145}"/>
              </a:ext>
            </a:extLst>
          </p:cNvPr>
          <p:cNvSpPr/>
          <p:nvPr/>
        </p:nvSpPr>
        <p:spPr bwMode="auto">
          <a:xfrm>
            <a:off x="3555477" y="4110086"/>
            <a:ext cx="893975" cy="266263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319ED2-5790-2FDF-8555-FC946A8240EF}"/>
              </a:ext>
            </a:extLst>
          </p:cNvPr>
          <p:cNvSpPr/>
          <p:nvPr/>
        </p:nvSpPr>
        <p:spPr bwMode="auto">
          <a:xfrm>
            <a:off x="1042670" y="5412612"/>
            <a:ext cx="2341553" cy="441854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2B8427-C4AF-5222-ADBF-89E0A0ED289E}"/>
              </a:ext>
            </a:extLst>
          </p:cNvPr>
          <p:cNvSpPr/>
          <p:nvPr/>
        </p:nvSpPr>
        <p:spPr bwMode="auto">
          <a:xfrm>
            <a:off x="6834433" y="5411013"/>
            <a:ext cx="914400" cy="441854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B05586-B62D-F847-C6A9-5F48FA5EA37B}"/>
              </a:ext>
            </a:extLst>
          </p:cNvPr>
          <p:cNvSpPr/>
          <p:nvPr/>
        </p:nvSpPr>
        <p:spPr bwMode="auto">
          <a:xfrm>
            <a:off x="7079529" y="5942550"/>
            <a:ext cx="740849" cy="244496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23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9C53-54AB-DFC5-41CE-1190EC33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883EC91D-AB5A-D6C3-59B9-F9E519E717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BADD22ED-E155-0022-F05A-C1C62B4E2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Downloading Data from </a:t>
            </a:r>
            <a:r>
              <a:rPr lang="en-US" sz="2800" b="1" dirty="0" err="1">
                <a:solidFill>
                  <a:schemeClr val="hlink"/>
                </a:solidFill>
              </a:rPr>
              <a:t>yfinance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BB7BDBC6-26BB-E0CD-8B36-A60758284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>
            <a:extLst>
              <a:ext uri="{FF2B5EF4-FFF2-40B4-BE49-F238E27FC236}">
                <a16:creationId xmlns:a16="http://schemas.microsoft.com/office/drawing/2014/main" id="{60429E1B-516A-61E3-0BF3-949AB0B64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B8BEC228-D906-C9AC-0312-ADE878015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903288"/>
            <a:ext cx="8458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Recently, free download of historical data from </a:t>
            </a:r>
            <a:r>
              <a:rPr lang="en-US" sz="2400" dirty="0" err="1"/>
              <a:t>Yahoo!Finance</a:t>
            </a:r>
            <a:r>
              <a:rPr lang="en-US" sz="2400" dirty="0"/>
              <a:t> is no longer available. Downloading is only available with a Yahoo Finance </a:t>
            </a:r>
            <a:r>
              <a:rPr lang="en-US" sz="2400" dirty="0">
                <a:solidFill>
                  <a:srgbClr val="FFCC00"/>
                </a:solidFill>
              </a:rPr>
              <a:t>Gold</a:t>
            </a:r>
            <a:r>
              <a:rPr lang="en-US" sz="2400" dirty="0"/>
              <a:t> Subscription at the cost of US$39.95/month.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an API called </a:t>
            </a:r>
            <a:r>
              <a:rPr lang="en-US" sz="2400" dirty="0" err="1">
                <a:solidFill>
                  <a:srgbClr val="FFCC00"/>
                </a:solidFill>
              </a:rPr>
              <a:t>yfinance</a:t>
            </a:r>
            <a:r>
              <a:rPr lang="en-US" sz="2400" dirty="0"/>
              <a:t> where free download is still available. For details, Google:</a:t>
            </a:r>
          </a:p>
          <a:p>
            <a:pPr lvl="1"/>
            <a:r>
              <a:rPr lang="en-US" sz="2400" dirty="0">
                <a:solidFill>
                  <a:srgbClr val="FFCC00"/>
                </a:solidFill>
              </a:rPr>
              <a:t>Quantitative Analysis Made Easy: Downloading Financial Data from </a:t>
            </a:r>
            <a:r>
              <a:rPr lang="en-US" sz="2400" dirty="0" err="1">
                <a:solidFill>
                  <a:srgbClr val="FFCC00"/>
                </a:solidFill>
              </a:rPr>
              <a:t>yfinance</a:t>
            </a:r>
            <a:r>
              <a:rPr lang="en-US" sz="2400" dirty="0">
                <a:solidFill>
                  <a:srgbClr val="FFCC00"/>
                </a:solidFill>
              </a:rPr>
              <a:t> for Trading Success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1: pip install </a:t>
            </a:r>
            <a:r>
              <a:rPr lang="en-US" sz="2400" dirty="0" err="1"/>
              <a:t>yfinance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2: In Python programs, write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3: Download the data, e.g.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4: Save the data to a csv file, e.g.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EAE03-DD05-2076-265A-82150FCF8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859" y="4171844"/>
            <a:ext cx="2728341" cy="5487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AA6701-F659-E338-85EF-217553B27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08" y="5129043"/>
            <a:ext cx="7788726" cy="502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E4EECC-4518-5BE6-6825-1C3914D95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81" y="6166267"/>
            <a:ext cx="3642869" cy="4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3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Format of the data files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EF66CB92-7987-FF71-A302-A0C512463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903288"/>
            <a:ext cx="8458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The data files are stored in the directory /S&amp;P500.</a:t>
            </a:r>
          </a:p>
          <a:p>
            <a:r>
              <a:rPr lang="en-US" sz="2400" dirty="0"/>
              <a:t>Opening the file /S&amp;P500/MSFT.csv using Excel: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will read the column into the program with the title ‘Adj Close’ using </a:t>
            </a:r>
            <a:r>
              <a:rPr lang="en-US" sz="2400" b="1" dirty="0"/>
              <a:t>pandas</a:t>
            </a:r>
            <a:r>
              <a:rPr lang="en-US" sz="2400" dirty="0"/>
              <a:t>.</a:t>
            </a:r>
          </a:p>
        </p:txBody>
      </p:sp>
      <p:pic>
        <p:nvPicPr>
          <p:cNvPr id="7" name="Picture 6" descr="A screenshot of a spreadsheet&#10;&#10;Description automatically generated">
            <a:extLst>
              <a:ext uri="{FF2B5EF4-FFF2-40B4-BE49-F238E27FC236}">
                <a16:creationId xmlns:a16="http://schemas.microsoft.com/office/drawing/2014/main" id="{9BAC373B-96EB-8503-A641-DF5343B2E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39" y="1768778"/>
            <a:ext cx="5801535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9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Reading data using pandas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03288"/>
            <a:ext cx="8458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b="1" dirty="0"/>
              <a:t>pandas</a:t>
            </a:r>
            <a:r>
              <a:rPr lang="en-US" sz="2400" dirty="0"/>
              <a:t> is a useful tool for reading in and writing out data into data files.</a:t>
            </a:r>
          </a:p>
          <a:p>
            <a:r>
              <a:rPr lang="en-US" sz="2400" dirty="0"/>
              <a:t>Please install pandas if you have not done so. In Windows command prompt, type: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At the top of the program, add: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read the adjusted close prices into the program, and to measure the number of trading days in the file: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507E29-A6CC-11CA-296F-C467F0711DBC}"/>
                  </a:ext>
                </a:extLst>
              </p:cNvPr>
              <p:cNvSpPr txBox="1"/>
              <p:nvPr/>
            </p:nvSpPr>
            <p:spPr>
              <a:xfrm>
                <a:off x="2910789" y="2628609"/>
                <a:ext cx="2823402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pip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install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pandas</m:t>
                      </m:r>
                    </m:oMath>
                  </m:oMathPara>
                </a14:m>
                <a:endParaRPr lang="en-US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507E29-A6CC-11CA-296F-C467F0711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789" y="2628609"/>
                <a:ext cx="2823402" cy="369332"/>
              </a:xfrm>
              <a:prstGeom prst="rect">
                <a:avLst/>
              </a:prstGeom>
              <a:blipFill>
                <a:blip r:embed="rId3"/>
                <a:stretch>
                  <a:fillRect t="-3279" r="-129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76713FE-F651-F2E0-89B5-311BD18C0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789" y="3747757"/>
            <a:ext cx="2991268" cy="362000"/>
          </a:xfrm>
          <a:prstGeom prst="rect">
            <a:avLst/>
          </a:prstGeom>
        </p:spPr>
      </p:pic>
      <p:pic>
        <p:nvPicPr>
          <p:cNvPr id="9" name="Picture 8" descr="A close-up of a text&#10;&#10;Description automatically generated">
            <a:extLst>
              <a:ext uri="{FF2B5EF4-FFF2-40B4-BE49-F238E27FC236}">
                <a16:creationId xmlns:a16="http://schemas.microsoft.com/office/drawing/2014/main" id="{D201E8F8-F7D3-D31C-F763-238CF5800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42" y="5106812"/>
            <a:ext cx="7640116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0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Constructing the price matrix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03288"/>
            <a:ext cx="8458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First</a:t>
            </a:r>
            <a:r>
              <a:rPr lang="en-US" sz="2400" b="1" dirty="0"/>
              <a:t> </a:t>
            </a:r>
            <a:r>
              <a:rPr lang="en-US" sz="2400" dirty="0"/>
              <a:t>prepare a list of file names. Each file name is a string.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read the data into a price matrix, in which each of the </a:t>
            </a:r>
            <a:r>
              <a:rPr lang="en-US" sz="2400" dirty="0" err="1"/>
              <a:t>tt</a:t>
            </a:r>
            <a:r>
              <a:rPr lang="en-US" sz="2400" dirty="0"/>
              <a:t> rows consists of the prices on a trading day, and each of the n columns correspond to a company:</a:t>
            </a:r>
          </a:p>
          <a:p>
            <a:endParaRPr lang="en-US" sz="2400" dirty="0"/>
          </a:p>
        </p:txBody>
      </p:sp>
      <p:pic>
        <p:nvPicPr>
          <p:cNvPr id="9" name="Picture 8" descr="A close-up of a computer&#10;&#10;Description automatically generated">
            <a:extLst>
              <a:ext uri="{FF2B5EF4-FFF2-40B4-BE49-F238E27FC236}">
                <a16:creationId xmlns:a16="http://schemas.microsoft.com/office/drawing/2014/main" id="{B888C3F3-9D6E-B136-0AAA-393D72649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55" y="1465200"/>
            <a:ext cx="8173590" cy="1043133"/>
          </a:xfrm>
          <a:prstGeom prst="rect">
            <a:avLst/>
          </a:prstGeom>
        </p:spPr>
      </p:pic>
      <p:pic>
        <p:nvPicPr>
          <p:cNvPr id="15" name="Picture 1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503CE4E2-73F5-5F5C-D6BB-87B5236A0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2" y="4044035"/>
            <a:ext cx="7787775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9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Vectorizing the computation of the return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03288"/>
            <a:ext cx="8458200" cy="34163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Note the use of “:” in vectorizing the computation of the returns: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An even simpler way is to write:</a:t>
            </a:r>
          </a:p>
          <a:p>
            <a:endParaRPr lang="en-US" sz="2400" dirty="0"/>
          </a:p>
        </p:txBody>
      </p:sp>
      <p:pic>
        <p:nvPicPr>
          <p:cNvPr id="4" name="Picture 3" descr="A computer screen shot of a number&#10;&#10;Description automatically generated">
            <a:extLst>
              <a:ext uri="{FF2B5EF4-FFF2-40B4-BE49-F238E27FC236}">
                <a16:creationId xmlns:a16="http://schemas.microsoft.com/office/drawing/2014/main" id="{C165CFC9-AF88-5290-6FFA-BA0215162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47" y="1846915"/>
            <a:ext cx="7868748" cy="1543266"/>
          </a:xfrm>
          <a:prstGeom prst="rect">
            <a:avLst/>
          </a:prstGeom>
        </p:spPr>
      </p:pic>
      <p:pic>
        <p:nvPicPr>
          <p:cNvPr id="10" name="Picture 9" descr="A black and white text&#10;&#10;Description automatically generated">
            <a:extLst>
              <a:ext uri="{FF2B5EF4-FFF2-40B4-BE49-F238E27FC236}">
                <a16:creationId xmlns:a16="http://schemas.microsoft.com/office/drawing/2014/main" id="{2EF7A589-D23D-4A14-2A1A-543EF53A83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"/>
          <a:stretch/>
        </p:blipFill>
        <p:spPr>
          <a:xfrm>
            <a:off x="555076" y="3998846"/>
            <a:ext cx="7868748" cy="9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1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Vectorization in computing the mean, std, </a:t>
            </a:r>
            <a:r>
              <a:rPr lang="en-US" sz="2800" b="1" dirty="0" err="1">
                <a:solidFill>
                  <a:schemeClr val="hlink"/>
                </a:solidFill>
              </a:rPr>
              <a:t>corr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298450" y="903288"/>
                <a:ext cx="8458200" cy="50511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Note that vectorization can be applied to compute: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mean of each stock using </a:t>
                </a:r>
                <a:r>
                  <a:rPr lang="en-US" sz="2400" dirty="0" err="1"/>
                  <a:t>np.mean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standard deviation of each stock using </a:t>
                </a:r>
                <a:r>
                  <a:rPr lang="en-US" sz="2400" dirty="0" err="1"/>
                  <a:t>np.std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standardized return (</a:t>
                </a:r>
                <a:r>
                  <a:rPr lang="en-US" sz="2400" dirty="0" err="1"/>
                  <a:t>std_ret</a:t>
                </a:r>
                <a:r>
                  <a:rPr lang="en-US" sz="2400" dirty="0"/>
                  <a:t>) from ret, mean and </a:t>
                </a:r>
                <a:r>
                  <a:rPr lang="en-US" sz="2400" dirty="0" err="1"/>
                  <a:t>sd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What should be the “?”?</a:t>
                </a:r>
              </a:p>
              <a:p>
                <a:r>
                  <a:rPr lang="en-US" sz="2400" dirty="0"/>
                  <a:t>Furthermore, the correlation function can be computed from matrix product of the return vectors: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𝑟𝑒𝑡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𝑟𝑒𝑡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𝑟𝑒𝑡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𝑟𝑒𝑡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903288"/>
                <a:ext cx="8458200" cy="5051126"/>
              </a:xfrm>
              <a:prstGeom prst="rect">
                <a:avLst/>
              </a:prstGeom>
              <a:blipFill>
                <a:blip r:embed="rId3"/>
                <a:stretch>
                  <a:fillRect l="-1154" t="-8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AC40F3A-1167-321E-3853-F2238415B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889" y="2539529"/>
            <a:ext cx="5727229" cy="1217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59B0FE-AEA1-BE78-1923-FBDF16E789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30" y="6073097"/>
            <a:ext cx="5624345" cy="30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6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Visualization of the correlation matrix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03288"/>
            <a:ext cx="8458200" cy="489364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 err="1">
                <a:solidFill>
                  <a:srgbClr val="FFCC00"/>
                </a:solidFill>
              </a:rPr>
              <a:t>np.printoptions</a:t>
            </a:r>
            <a:r>
              <a:rPr lang="en-US" sz="2400" dirty="0">
                <a:solidFill>
                  <a:srgbClr val="FFCC00"/>
                </a:solidFill>
              </a:rPr>
              <a:t>() </a:t>
            </a:r>
            <a:r>
              <a:rPr lang="en-US" sz="2400" dirty="0"/>
              <a:t>maintains the orderly display of the matrix: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Without </a:t>
            </a:r>
            <a:r>
              <a:rPr lang="en-US" sz="2400" dirty="0" err="1"/>
              <a:t>np.printoptions</a:t>
            </a:r>
            <a:r>
              <a:rPr lang="en-US" sz="2400" dirty="0"/>
              <a:t>, the matrix cannot be displayed orderly: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 descr="A close-up of a word&#10;&#10;Description automatically generated">
            <a:extLst>
              <a:ext uri="{FF2B5EF4-FFF2-40B4-BE49-F238E27FC236}">
                <a16:creationId xmlns:a16="http://schemas.microsoft.com/office/drawing/2014/main" id="{B86A47BC-1D91-C1B4-F8EB-295517A43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235" y="1427019"/>
            <a:ext cx="6306430" cy="1028844"/>
          </a:xfrm>
          <a:prstGeom prst="rect">
            <a:avLst/>
          </a:prstGeom>
        </p:spPr>
      </p:pic>
      <p:pic>
        <p:nvPicPr>
          <p:cNvPr id="5" name="Picture 4" descr="A number with numbers on it&#10;&#10;Description automatically generated with medium confidence">
            <a:extLst>
              <a:ext uri="{FF2B5EF4-FFF2-40B4-BE49-F238E27FC236}">
                <a16:creationId xmlns:a16="http://schemas.microsoft.com/office/drawing/2014/main" id="{4E7DFD13-954C-29D2-68C1-492C7E159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3" y="2634837"/>
            <a:ext cx="8703254" cy="1005981"/>
          </a:xfrm>
          <a:prstGeom prst="rect">
            <a:avLst/>
          </a:prstGeom>
        </p:spPr>
      </p:pic>
      <p:pic>
        <p:nvPicPr>
          <p:cNvPr id="9" name="Picture 8" descr="A number with numbers in a row&#10;&#10;Description automatically generated with medium confidence">
            <a:extLst>
              <a:ext uri="{FF2B5EF4-FFF2-40B4-BE49-F238E27FC236}">
                <a16:creationId xmlns:a16="http://schemas.microsoft.com/office/drawing/2014/main" id="{2F6861C5-6772-C5DC-B8CE-5100FE3BF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8" y="4764160"/>
            <a:ext cx="8901402" cy="118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1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Computing the eigenvalues and eigenvectors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03288"/>
            <a:ext cx="8458200" cy="489364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The eigenvalues and eigenvectors are computed by the function </a:t>
            </a:r>
            <a:r>
              <a:rPr lang="en-US" sz="2400" dirty="0" err="1">
                <a:solidFill>
                  <a:srgbClr val="FFCC00"/>
                </a:solidFill>
              </a:rPr>
              <a:t>np.linalg.eig</a:t>
            </a:r>
            <a:r>
              <a:rPr lang="en-US" sz="2400" dirty="0">
                <a:solidFill>
                  <a:srgbClr val="FFCC00"/>
                </a:solidFill>
              </a:rPr>
              <a:t>()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sort the eigenvalues in ascending order, use: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sort the eigenvalues in descending order, use: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08EAA-2664-D891-2B6E-2F12B388D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33" y="1933748"/>
            <a:ext cx="8261234" cy="655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A21FD5-5274-4FA8-4F84-8C4952EEA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390" y="3673399"/>
            <a:ext cx="5136597" cy="685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8082F9-3BB8-4416-B830-5A299E6C5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633" y="5120243"/>
            <a:ext cx="5349987" cy="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7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Good Practice in Program Writing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298450" y="953392"/>
            <a:ext cx="8458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Write the date.</a:t>
            </a:r>
          </a:p>
          <a:p>
            <a:r>
              <a:rPr lang="en-US" sz="2400" dirty="0"/>
              <a:t>Write your name (protect yourself!)</a:t>
            </a:r>
          </a:p>
          <a:p>
            <a:r>
              <a:rPr lang="en-US" sz="2400" dirty="0"/>
              <a:t>Write a few sentences explaining the purpose of the program.</a:t>
            </a:r>
          </a:p>
          <a:p>
            <a:r>
              <a:rPr lang="en-US" sz="2400" dirty="0"/>
              <a:t>Define all parameters and print them out.</a:t>
            </a:r>
          </a:p>
          <a:p>
            <a:r>
              <a:rPr lang="en-US" sz="2400" dirty="0"/>
              <a:t>Add a comment every ~10 lines.</a:t>
            </a:r>
          </a:p>
          <a:p>
            <a:r>
              <a:rPr lang="en-US" sz="2400" dirty="0"/>
              <a:t>Use a seed number to generate the random numbers.</a:t>
            </a:r>
          </a:p>
          <a:p>
            <a:r>
              <a:rPr lang="en-US" sz="2400" dirty="0"/>
              <a:t>For long programs, compute the execution time.</a:t>
            </a:r>
          </a:p>
          <a:p>
            <a:r>
              <a:rPr lang="en-US" sz="2400" dirty="0"/>
              <a:t>See the example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24152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2628900" y="2455863"/>
            <a:ext cx="8258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849EB14-9AE7-BEA4-ECBF-94FC95D5C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88"/>
          <a:stretch/>
        </p:blipFill>
        <p:spPr>
          <a:xfrm>
            <a:off x="458293" y="0"/>
            <a:ext cx="8227414" cy="6028957"/>
          </a:xfrm>
          <a:prstGeom prst="rect">
            <a:avLst/>
          </a:prstGeom>
        </p:spPr>
      </p:pic>
      <p:pic>
        <p:nvPicPr>
          <p:cNvPr id="7" name="Picture 6" descr="A white background with black and white clouds&#10;&#10;Description automatically generated with medium confidence">
            <a:extLst>
              <a:ext uri="{FF2B5EF4-FFF2-40B4-BE49-F238E27FC236}">
                <a16:creationId xmlns:a16="http://schemas.microsoft.com/office/drawing/2014/main" id="{95402EE5-B2B5-2DBC-3E7D-C4C214484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0"/>
          <a:stretch/>
        </p:blipFill>
        <p:spPr>
          <a:xfrm>
            <a:off x="483146" y="6189728"/>
            <a:ext cx="8202561" cy="6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0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6276</TotalTime>
  <Words>577</Words>
  <Application>Microsoft Office PowerPoint</Application>
  <PresentationFormat>On-screen Show (4:3)</PresentationFormat>
  <Paragraphs>113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Cambria Math</vt:lpstr>
      <vt:lpstr>Courier New</vt:lpstr>
      <vt:lpstr>Garamond</vt:lpstr>
      <vt:lpstr>Times New Roman</vt:lpstr>
      <vt:lpstr>Wingdings</vt:lpstr>
      <vt:lpstr>Stream</vt:lpstr>
      <vt:lpstr>Week 10 Tutorial  Python Techniques for Principal Component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Preferred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Michael K Y WONG</cp:lastModifiedBy>
  <cp:revision>318</cp:revision>
  <cp:lastPrinted>2001-04-05T18:48:46Z</cp:lastPrinted>
  <dcterms:created xsi:type="dcterms:W3CDTF">2001-03-29T17:58:54Z</dcterms:created>
  <dcterms:modified xsi:type="dcterms:W3CDTF">2025-11-04T17:39:33Z</dcterms:modified>
</cp:coreProperties>
</file>