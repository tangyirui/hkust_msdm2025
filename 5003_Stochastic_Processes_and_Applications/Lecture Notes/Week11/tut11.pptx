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16"/>
  </p:notesMasterIdLst>
  <p:handoutMasterIdLst>
    <p:handoutMasterId r:id="rId17"/>
  </p:handoutMasterIdLst>
  <p:sldIdLst>
    <p:sldId id="381" r:id="rId2"/>
    <p:sldId id="400" r:id="rId3"/>
    <p:sldId id="401" r:id="rId4"/>
    <p:sldId id="394" r:id="rId5"/>
    <p:sldId id="304" r:id="rId6"/>
    <p:sldId id="393" r:id="rId7"/>
    <p:sldId id="396" r:id="rId8"/>
    <p:sldId id="397" r:id="rId9"/>
    <p:sldId id="399" r:id="rId10"/>
    <p:sldId id="405" r:id="rId11"/>
    <p:sldId id="403" r:id="rId12"/>
    <p:sldId id="402" r:id="rId13"/>
    <p:sldId id="404" r:id="rId14"/>
    <p:sldId id="391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66FF"/>
    <a:srgbClr val="CCFFFF"/>
    <a:srgbClr val="FFCC00"/>
    <a:srgbClr val="FFFF66"/>
    <a:srgbClr val="FFCC66"/>
    <a:srgbClr val="FFCCFF"/>
    <a:srgbClr val="FFCC99"/>
    <a:srgbClr val="003366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5" autoAdjust="0"/>
    <p:restoredTop sz="94014" autoAdjust="0"/>
  </p:normalViewPr>
  <p:slideViewPr>
    <p:cSldViewPr snapToGrid="0">
      <p:cViewPr varScale="1">
        <p:scale>
          <a:sx n="77" d="100"/>
          <a:sy n="77" d="100"/>
        </p:scale>
        <p:origin x="108" y="3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Data\My%20Documents\tea\msdm5003\notes22\Week08\FFT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Data\My%20Documents\tea\msdm5003\notes22\Week08\FFT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Data\My%20Documents\tea\msdm5003\notes22\Week08\FFT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Data\My%20Documents\tea\msdm5003\notes22\Week08\FF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 Series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Sheet1!$A$2:$A$33</c:f>
              <c:numCache>
                <c:formatCode>General</c:formatCode>
                <c:ptCount val="3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</c:numCache>
            </c:numRef>
          </c:xVal>
          <c:yVal>
            <c:numRef>
              <c:f>Sheet1!$B$2:$B$33</c:f>
              <c:numCache>
                <c:formatCode>General</c:formatCode>
                <c:ptCount val="32"/>
                <c:pt idx="0">
                  <c:v>0</c:v>
                </c:pt>
                <c:pt idx="1">
                  <c:v>2.6142432284652077</c:v>
                </c:pt>
                <c:pt idx="2">
                  <c:v>2.3675038579309575</c:v>
                </c:pt>
                <c:pt idx="3">
                  <c:v>0.1177595646745519</c:v>
                </c:pt>
                <c:pt idx="4">
                  <c:v>-0.89216381754682639</c:v>
                </c:pt>
                <c:pt idx="5">
                  <c:v>0.47552825814757638</c:v>
                </c:pt>
                <c:pt idx="6">
                  <c:v>1.8133411445119698</c:v>
                </c:pt>
                <c:pt idx="7">
                  <c:v>0.71565761365413749</c:v>
                </c:pt>
                <c:pt idx="8">
                  <c:v>-1.6742134946470897</c:v>
                </c:pt>
                <c:pt idx="9">
                  <c:v>-2.1046416634948861</c:v>
                </c:pt>
                <c:pt idx="10">
                  <c:v>0.2938926261462354</c:v>
                </c:pt>
                <c:pt idx="11">
                  <c:v>2.6739605612251172</c:v>
                </c:pt>
                <c:pt idx="12">
                  <c:v>2.1892936376622529</c:v>
                </c:pt>
                <c:pt idx="13">
                  <c:v>-0.28718060507194365</c:v>
                </c:pt>
                <c:pt idx="14">
                  <c:v>-1.4983900566401731</c:v>
                </c:pt>
                <c:pt idx="15">
                  <c:v>-0.29389262614623746</c:v>
                </c:pt>
                <c:pt idx="16">
                  <c:v>0.92907115890993919</c:v>
                </c:pt>
                <c:pt idx="17">
                  <c:v>-0.22789953794321571</c:v>
                </c:pt>
                <c:pt idx="18">
                  <c:v>-2.617770646244443</c:v>
                </c:pt>
                <c:pt idx="19">
                  <c:v>-2.988911649096917</c:v>
                </c:pt>
                <c:pt idx="20">
                  <c:v>-0.47552825814757926</c:v>
                </c:pt>
                <c:pt idx="21">
                  <c:v>2.0677343221317717</c:v>
                </c:pt>
                <c:pt idx="22">
                  <c:v>1.784353467915762</c:v>
                </c:pt>
                <c:pt idx="23">
                  <c:v>-0.46539082534064879</c:v>
                </c:pt>
                <c:pt idx="24">
                  <c:v>-1.4386727238802621</c:v>
                </c:pt>
                <c:pt idx="25">
                  <c:v>-1.960237527853792E-15</c:v>
                </c:pt>
                <c:pt idx="26">
                  <c:v>1.4386727238802615</c:v>
                </c:pt>
                <c:pt idx="27">
                  <c:v>0.46539082534065251</c:v>
                </c:pt>
                <c:pt idx="28">
                  <c:v>-1.7843534679157533</c:v>
                </c:pt>
                <c:pt idx="29">
                  <c:v>-2.0677343221317739</c:v>
                </c:pt>
                <c:pt idx="30">
                  <c:v>0.47552825814757294</c:v>
                </c:pt>
                <c:pt idx="31">
                  <c:v>2.9889116490969148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D0A-445C-A7B5-AEE8667715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6958000"/>
        <c:axId val="2126972144"/>
      </c:scatterChart>
      <c:valAx>
        <c:axId val="2126958000"/>
        <c:scaling>
          <c:orientation val="minMax"/>
          <c:max val="3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Tick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972144"/>
        <c:crosses val="autoZero"/>
        <c:crossBetween val="midCat"/>
      </c:valAx>
      <c:valAx>
        <c:axId val="212697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Signal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9580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Sheet1!$D$2:$D$33</c:f>
              <c:numCache>
                <c:formatCode>General</c:formatCode>
                <c:ptCount val="32"/>
                <c:pt idx="0">
                  <c:v>0</c:v>
                </c:pt>
                <c:pt idx="1">
                  <c:v>3.125E-2</c:v>
                </c:pt>
                <c:pt idx="2">
                  <c:v>6.25E-2</c:v>
                </c:pt>
                <c:pt idx="3">
                  <c:v>9.375E-2</c:v>
                </c:pt>
                <c:pt idx="4">
                  <c:v>0.125</c:v>
                </c:pt>
                <c:pt idx="5">
                  <c:v>0.15625</c:v>
                </c:pt>
                <c:pt idx="6">
                  <c:v>0.1875</c:v>
                </c:pt>
                <c:pt idx="7">
                  <c:v>0.21875</c:v>
                </c:pt>
                <c:pt idx="8">
                  <c:v>0.25</c:v>
                </c:pt>
                <c:pt idx="9">
                  <c:v>0.28125</c:v>
                </c:pt>
                <c:pt idx="10">
                  <c:v>0.3125</c:v>
                </c:pt>
                <c:pt idx="11">
                  <c:v>0.34375</c:v>
                </c:pt>
                <c:pt idx="12">
                  <c:v>0.375</c:v>
                </c:pt>
                <c:pt idx="13">
                  <c:v>0.40625</c:v>
                </c:pt>
                <c:pt idx="14">
                  <c:v>0.4375</c:v>
                </c:pt>
                <c:pt idx="15">
                  <c:v>0.46875</c:v>
                </c:pt>
                <c:pt idx="16">
                  <c:v>0.5</c:v>
                </c:pt>
                <c:pt idx="17">
                  <c:v>0.53125</c:v>
                </c:pt>
                <c:pt idx="18">
                  <c:v>0.5625</c:v>
                </c:pt>
                <c:pt idx="19">
                  <c:v>0.59375</c:v>
                </c:pt>
                <c:pt idx="20">
                  <c:v>0.625</c:v>
                </c:pt>
                <c:pt idx="21">
                  <c:v>0.65625</c:v>
                </c:pt>
                <c:pt idx="22">
                  <c:v>0.6875</c:v>
                </c:pt>
                <c:pt idx="23">
                  <c:v>0.71875</c:v>
                </c:pt>
                <c:pt idx="24">
                  <c:v>0.75</c:v>
                </c:pt>
                <c:pt idx="25">
                  <c:v>0.78125</c:v>
                </c:pt>
                <c:pt idx="26">
                  <c:v>0.8125</c:v>
                </c:pt>
                <c:pt idx="27">
                  <c:v>0.84375</c:v>
                </c:pt>
                <c:pt idx="28">
                  <c:v>0.875</c:v>
                </c:pt>
                <c:pt idx="29">
                  <c:v>0.90625</c:v>
                </c:pt>
                <c:pt idx="30">
                  <c:v>0.9375</c:v>
                </c:pt>
                <c:pt idx="31">
                  <c:v>0.96875</c:v>
                </c:pt>
              </c:numCache>
            </c:numRef>
          </c:xVal>
          <c:yVal>
            <c:numRef>
              <c:f>Sheet1!$F$2:$F$33</c:f>
              <c:numCache>
                <c:formatCode>General</c:formatCode>
                <c:ptCount val="32"/>
                <c:pt idx="0">
                  <c:v>4.5940992035931298</c:v>
                </c:pt>
                <c:pt idx="1">
                  <c:v>9.668936362942592</c:v>
                </c:pt>
                <c:pt idx="2">
                  <c:v>1.6130557285772609</c:v>
                </c:pt>
                <c:pt idx="3">
                  <c:v>15.489649894689713</c:v>
                </c:pt>
                <c:pt idx="4">
                  <c:v>3.0113250546885659</c:v>
                </c:pt>
                <c:pt idx="5">
                  <c:v>4.6897939887725588</c:v>
                </c:pt>
                <c:pt idx="6">
                  <c:v>22.254976126157111</c:v>
                </c:pt>
                <c:pt idx="7">
                  <c:v>17.918363793018163</c:v>
                </c:pt>
                <c:pt idx="8">
                  <c:v>7.7084179808774014</c:v>
                </c:pt>
                <c:pt idx="9">
                  <c:v>5.3074882085695885</c:v>
                </c:pt>
                <c:pt idx="10">
                  <c:v>4.2328617165983369</c:v>
                </c:pt>
                <c:pt idx="11">
                  <c:v>3.6332712886996994</c:v>
                </c:pt>
                <c:pt idx="12">
                  <c:v>3.263769060911808</c:v>
                </c:pt>
                <c:pt idx="13">
                  <c:v>3.0277741101281586</c:v>
                </c:pt>
                <c:pt idx="14">
                  <c:v>2.88035400217951</c:v>
                </c:pt>
                <c:pt idx="15">
                  <c:v>2.7990114729403861</c:v>
                </c:pt>
                <c:pt idx="16">
                  <c:v>2.7729703834274799</c:v>
                </c:pt>
                <c:pt idx="17">
                  <c:v>2.7990114729403857</c:v>
                </c:pt>
                <c:pt idx="18">
                  <c:v>2.880354002179518</c:v>
                </c:pt>
                <c:pt idx="19">
                  <c:v>3.0277741101281559</c:v>
                </c:pt>
                <c:pt idx="20">
                  <c:v>3.2637690609118075</c:v>
                </c:pt>
                <c:pt idx="21">
                  <c:v>3.6332712886997065</c:v>
                </c:pt>
                <c:pt idx="22">
                  <c:v>4.2328617165983413</c:v>
                </c:pt>
                <c:pt idx="23">
                  <c:v>5.3074882085696045</c:v>
                </c:pt>
                <c:pt idx="24">
                  <c:v>7.7084179808774014</c:v>
                </c:pt>
                <c:pt idx="25">
                  <c:v>17.918363793018237</c:v>
                </c:pt>
                <c:pt idx="26">
                  <c:v>22.2549761261571</c:v>
                </c:pt>
                <c:pt idx="27">
                  <c:v>4.6897939887725384</c:v>
                </c:pt>
                <c:pt idx="28">
                  <c:v>3.011325054688565</c:v>
                </c:pt>
                <c:pt idx="29">
                  <c:v>15.489649894689638</c:v>
                </c:pt>
                <c:pt idx="30">
                  <c:v>1.6130557285772598</c:v>
                </c:pt>
                <c:pt idx="31">
                  <c:v>9.6689363629425884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4AE-4F57-B601-54E7FB3044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5432208"/>
        <c:axId val="605433456"/>
      </c:scatterChart>
      <c:valAx>
        <c:axId val="605432208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Frequency (cycles per tick)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433456"/>
        <c:crosses val="autoZero"/>
        <c:crossBetween val="midCat"/>
      </c:valAx>
      <c:valAx>
        <c:axId val="605433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Amplitude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4322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Comparing f and 1-f (N=4)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f=1/4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Sheet1!$P$3:$P$43</c:f>
              <c:numCache>
                <c:formatCode>General</c:formatCode>
                <c:ptCount val="4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</c:numCache>
            </c:numRef>
          </c:xVal>
          <c:yVal>
            <c:numRef>
              <c:f>Sheet1!$Q$3:$Q$43</c:f>
              <c:numCache>
                <c:formatCode>General</c:formatCode>
                <c:ptCount val="41"/>
                <c:pt idx="0">
                  <c:v>1</c:v>
                </c:pt>
                <c:pt idx="1">
                  <c:v>0.98768834059513777</c:v>
                </c:pt>
                <c:pt idx="2">
                  <c:v>0.95105651629515353</c:v>
                </c:pt>
                <c:pt idx="3">
                  <c:v>0.8910065241883679</c:v>
                </c:pt>
                <c:pt idx="4">
                  <c:v>0.80901699437494745</c:v>
                </c:pt>
                <c:pt idx="5">
                  <c:v>0.70710678118654757</c:v>
                </c:pt>
                <c:pt idx="6">
                  <c:v>0.58778525229247314</c:v>
                </c:pt>
                <c:pt idx="7">
                  <c:v>0.4539904997395468</c:v>
                </c:pt>
                <c:pt idx="8">
                  <c:v>0.30901699437494745</c:v>
                </c:pt>
                <c:pt idx="9">
                  <c:v>0.15643446504023092</c:v>
                </c:pt>
                <c:pt idx="10">
                  <c:v>6.1257422745431001E-17</c:v>
                </c:pt>
                <c:pt idx="11">
                  <c:v>-0.15643446504023104</c:v>
                </c:pt>
                <c:pt idx="12">
                  <c:v>-0.30901699437494734</c:v>
                </c:pt>
                <c:pt idx="13">
                  <c:v>-0.45399049973954669</c:v>
                </c:pt>
                <c:pt idx="14">
                  <c:v>-0.58778525229247303</c:v>
                </c:pt>
                <c:pt idx="15">
                  <c:v>-0.70710678118654746</c:v>
                </c:pt>
                <c:pt idx="16">
                  <c:v>-0.80901699437494734</c:v>
                </c:pt>
                <c:pt idx="17">
                  <c:v>-0.89100652418836779</c:v>
                </c:pt>
                <c:pt idx="18">
                  <c:v>-0.95105651629515353</c:v>
                </c:pt>
                <c:pt idx="19">
                  <c:v>-0.98768834059513766</c:v>
                </c:pt>
                <c:pt idx="20">
                  <c:v>-1</c:v>
                </c:pt>
                <c:pt idx="21">
                  <c:v>-0.98768834059513777</c:v>
                </c:pt>
                <c:pt idx="22">
                  <c:v>-0.95105651629515353</c:v>
                </c:pt>
                <c:pt idx="23">
                  <c:v>-0.89100652418836812</c:v>
                </c:pt>
                <c:pt idx="24">
                  <c:v>-0.80901699437494756</c:v>
                </c:pt>
                <c:pt idx="25">
                  <c:v>-0.70710678118654768</c:v>
                </c:pt>
                <c:pt idx="26">
                  <c:v>-0.58778525229247325</c:v>
                </c:pt>
                <c:pt idx="27">
                  <c:v>-0.45399049973954692</c:v>
                </c:pt>
                <c:pt idx="28">
                  <c:v>-0.30901699437494756</c:v>
                </c:pt>
                <c:pt idx="29">
                  <c:v>-0.15643446504023104</c:v>
                </c:pt>
                <c:pt idx="30">
                  <c:v>-1.83772268236293E-16</c:v>
                </c:pt>
                <c:pt idx="31">
                  <c:v>0.15643446504023067</c:v>
                </c:pt>
                <c:pt idx="32">
                  <c:v>0.30901699437494723</c:v>
                </c:pt>
                <c:pt idx="33">
                  <c:v>0.45399049973954664</c:v>
                </c:pt>
                <c:pt idx="34">
                  <c:v>0.58778525229247292</c:v>
                </c:pt>
                <c:pt idx="35">
                  <c:v>0.70710678118654735</c:v>
                </c:pt>
                <c:pt idx="36">
                  <c:v>0.80901699437494734</c:v>
                </c:pt>
                <c:pt idx="37">
                  <c:v>0.89100652418836779</c:v>
                </c:pt>
                <c:pt idx="38">
                  <c:v>0.95105651629515353</c:v>
                </c:pt>
                <c:pt idx="39">
                  <c:v>0.98768834059513766</c:v>
                </c:pt>
                <c:pt idx="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C7-4D56-83ED-3E4517850BD5}"/>
            </c:ext>
          </c:extLst>
        </c:ser>
        <c:ser>
          <c:idx val="1"/>
          <c:order val="1"/>
          <c:tx>
            <c:v>f=3/4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Sheet1!$P$3:$P$43</c:f>
              <c:numCache>
                <c:formatCode>General</c:formatCode>
                <c:ptCount val="4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</c:numCache>
            </c:numRef>
          </c:xVal>
          <c:yVal>
            <c:numRef>
              <c:f>Sheet1!$R$3:$R$43</c:f>
              <c:numCache>
                <c:formatCode>General</c:formatCode>
                <c:ptCount val="41"/>
                <c:pt idx="0">
                  <c:v>1</c:v>
                </c:pt>
                <c:pt idx="1">
                  <c:v>0.8910065241883679</c:v>
                </c:pt>
                <c:pt idx="2">
                  <c:v>0.58778525229247314</c:v>
                </c:pt>
                <c:pt idx="3">
                  <c:v>0.15643446504023092</c:v>
                </c:pt>
                <c:pt idx="4">
                  <c:v>-0.30901699437494734</c:v>
                </c:pt>
                <c:pt idx="5">
                  <c:v>-0.70710678118654746</c:v>
                </c:pt>
                <c:pt idx="6">
                  <c:v>-0.95105651629515353</c:v>
                </c:pt>
                <c:pt idx="7">
                  <c:v>-0.98768834059513777</c:v>
                </c:pt>
                <c:pt idx="8">
                  <c:v>-0.80901699437494756</c:v>
                </c:pt>
                <c:pt idx="9">
                  <c:v>-0.45399049973954692</c:v>
                </c:pt>
                <c:pt idx="10">
                  <c:v>-1.83772268236293E-16</c:v>
                </c:pt>
                <c:pt idx="11">
                  <c:v>0.45399049973954664</c:v>
                </c:pt>
                <c:pt idx="12">
                  <c:v>0.80901699437494734</c:v>
                </c:pt>
                <c:pt idx="13">
                  <c:v>0.98768834059513766</c:v>
                </c:pt>
                <c:pt idx="14">
                  <c:v>0.95105651629515364</c:v>
                </c:pt>
                <c:pt idx="15">
                  <c:v>0.70710678118654768</c:v>
                </c:pt>
                <c:pt idx="16">
                  <c:v>0.30901699437494773</c:v>
                </c:pt>
                <c:pt idx="17">
                  <c:v>-0.15643446504022968</c:v>
                </c:pt>
                <c:pt idx="18">
                  <c:v>-0.58778525229247292</c:v>
                </c:pt>
                <c:pt idx="19">
                  <c:v>-0.89100652418836734</c:v>
                </c:pt>
                <c:pt idx="20">
                  <c:v>-1</c:v>
                </c:pt>
                <c:pt idx="21">
                  <c:v>-0.89100652418836768</c:v>
                </c:pt>
                <c:pt idx="22">
                  <c:v>-0.58778525229247347</c:v>
                </c:pt>
                <c:pt idx="23">
                  <c:v>-0.15643446504023217</c:v>
                </c:pt>
                <c:pt idx="24">
                  <c:v>0.30901699437494701</c:v>
                </c:pt>
                <c:pt idx="25">
                  <c:v>0.70710678118654657</c:v>
                </c:pt>
                <c:pt idx="26">
                  <c:v>0.95105651629515342</c:v>
                </c:pt>
                <c:pt idx="27">
                  <c:v>0.98768834059513766</c:v>
                </c:pt>
                <c:pt idx="28">
                  <c:v>0.80901699437494767</c:v>
                </c:pt>
                <c:pt idx="29">
                  <c:v>0.45399049973954808</c:v>
                </c:pt>
                <c:pt idx="30">
                  <c:v>5.51316804708879E-16</c:v>
                </c:pt>
                <c:pt idx="31">
                  <c:v>-0.45399049973954708</c:v>
                </c:pt>
                <c:pt idx="32">
                  <c:v>-0.80901699437494712</c:v>
                </c:pt>
                <c:pt idx="33">
                  <c:v>-0.98768834059513744</c:v>
                </c:pt>
                <c:pt idx="34">
                  <c:v>-0.95105651629515431</c:v>
                </c:pt>
                <c:pt idx="35">
                  <c:v>-0.70710678118654735</c:v>
                </c:pt>
                <c:pt idx="36">
                  <c:v>-0.30901699437494806</c:v>
                </c:pt>
                <c:pt idx="37">
                  <c:v>0.15643446504022931</c:v>
                </c:pt>
                <c:pt idx="38">
                  <c:v>0.58778525229247114</c:v>
                </c:pt>
                <c:pt idx="39">
                  <c:v>0.8910065241883679</c:v>
                </c:pt>
                <c:pt idx="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CC7-4D56-83ED-3E4517850BD5}"/>
            </c:ext>
          </c:extLst>
        </c:ser>
        <c:ser>
          <c:idx val="2"/>
          <c:order val="2"/>
          <c:tx>
            <c:v>Discrete values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Sheet1!$T$3:$T$7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Sheet1!$U$3:$U$7</c:f>
              <c:numCache>
                <c:formatCode>General</c:formatCode>
                <c:ptCount val="5"/>
                <c:pt idx="0">
                  <c:v>1</c:v>
                </c:pt>
                <c:pt idx="1">
                  <c:v>6.1257422745431001E-17</c:v>
                </c:pt>
                <c:pt idx="2">
                  <c:v>-1</c:v>
                </c:pt>
                <c:pt idx="3">
                  <c:v>-1.83772268236293E-16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CC7-4D56-83ED-3E4517850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7257888"/>
        <c:axId val="607257056"/>
      </c:scatterChart>
      <c:valAx>
        <c:axId val="607257888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Tick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7257056"/>
        <c:crosses val="autoZero"/>
        <c:crossBetween val="midCat"/>
      </c:valAx>
      <c:valAx>
        <c:axId val="607257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Signal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72578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Fast Fourier Transform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cat>
            <c:numRef>
              <c:f>Sheet1!$D$2:$D$18</c:f>
              <c:numCache>
                <c:formatCode>General</c:formatCode>
                <c:ptCount val="17"/>
                <c:pt idx="0">
                  <c:v>0</c:v>
                </c:pt>
                <c:pt idx="1">
                  <c:v>3.125E-2</c:v>
                </c:pt>
                <c:pt idx="2">
                  <c:v>6.25E-2</c:v>
                </c:pt>
                <c:pt idx="3">
                  <c:v>9.375E-2</c:v>
                </c:pt>
                <c:pt idx="4">
                  <c:v>0.125</c:v>
                </c:pt>
                <c:pt idx="5">
                  <c:v>0.15625</c:v>
                </c:pt>
                <c:pt idx="6">
                  <c:v>0.1875</c:v>
                </c:pt>
                <c:pt idx="7">
                  <c:v>0.21875</c:v>
                </c:pt>
                <c:pt idx="8">
                  <c:v>0.25</c:v>
                </c:pt>
                <c:pt idx="9">
                  <c:v>0.28125</c:v>
                </c:pt>
                <c:pt idx="10">
                  <c:v>0.3125</c:v>
                </c:pt>
                <c:pt idx="11">
                  <c:v>0.34375</c:v>
                </c:pt>
                <c:pt idx="12">
                  <c:v>0.375</c:v>
                </c:pt>
                <c:pt idx="13">
                  <c:v>0.40625</c:v>
                </c:pt>
                <c:pt idx="14">
                  <c:v>0.4375</c:v>
                </c:pt>
                <c:pt idx="15">
                  <c:v>0.46875</c:v>
                </c:pt>
                <c:pt idx="16">
                  <c:v>0.5</c:v>
                </c:pt>
              </c:numCache>
            </c:numRef>
          </c:cat>
          <c:val>
            <c:numRef>
              <c:f>Sheet1!$F$2:$F$18</c:f>
              <c:numCache>
                <c:formatCode>General</c:formatCode>
                <c:ptCount val="17"/>
                <c:pt idx="0">
                  <c:v>4.5940992035931298</c:v>
                </c:pt>
                <c:pt idx="1">
                  <c:v>9.668936362942592</c:v>
                </c:pt>
                <c:pt idx="2">
                  <c:v>1.6130557285772609</c:v>
                </c:pt>
                <c:pt idx="3">
                  <c:v>15.489649894689713</c:v>
                </c:pt>
                <c:pt idx="4">
                  <c:v>3.0113250546885659</c:v>
                </c:pt>
                <c:pt idx="5">
                  <c:v>4.6897939887725588</c:v>
                </c:pt>
                <c:pt idx="6">
                  <c:v>22.254976126157111</c:v>
                </c:pt>
                <c:pt idx="7">
                  <c:v>17.918363793018163</c:v>
                </c:pt>
                <c:pt idx="8">
                  <c:v>7.7084179808774014</c:v>
                </c:pt>
                <c:pt idx="9">
                  <c:v>5.3074882085695885</c:v>
                </c:pt>
                <c:pt idx="10">
                  <c:v>4.2328617165983369</c:v>
                </c:pt>
                <c:pt idx="11">
                  <c:v>3.6332712886996994</c:v>
                </c:pt>
                <c:pt idx="12">
                  <c:v>3.263769060911808</c:v>
                </c:pt>
                <c:pt idx="13">
                  <c:v>3.0277741101281586</c:v>
                </c:pt>
                <c:pt idx="14">
                  <c:v>2.88035400217951</c:v>
                </c:pt>
                <c:pt idx="15">
                  <c:v>2.7990114729403861</c:v>
                </c:pt>
                <c:pt idx="16">
                  <c:v>2.7729703834274799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76-49F2-B044-57A609EF9D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71900752"/>
        <c:axId val="2071897840"/>
      </c:barChart>
      <c:catAx>
        <c:axId val="2071900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Frequency (cycles per tick)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897840"/>
        <c:crosses val="autoZero"/>
        <c:auto val="1"/>
        <c:lblAlgn val="ctr"/>
        <c:lblOffset val="100"/>
        <c:noMultiLvlLbl val="0"/>
      </c:catAx>
      <c:valAx>
        <c:axId val="2071897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Amplitude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900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fld id="{DFD3B866-D8E9-40B3-B90D-60DE41DFC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306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D927074E-5E5D-4C1F-97AC-20A94DE095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4376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11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99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1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23750373-C484-409F-A45E-4CBBAD4AB6DE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0930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7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4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8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27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35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10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72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60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49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290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610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80611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80612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3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4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5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6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0617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18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06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806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80621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75EF93-7C18-48A5-8351-AFEAC17FEC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0602D9-9302-4A50-95D0-CDC3384EEE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25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EC7218-FB5C-4800-BD33-D53AC9BA118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00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8E9AB3-3811-47CE-A2D2-C49B5400CB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40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935C9E-B1D2-4853-B38F-82FAA8E22A8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6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12B17B-E01D-4CEC-98D0-E1429A8071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59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2E6CCC-599A-4314-85D2-A1BF51A710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90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59BF52-9517-47BE-BDD9-63388EA46D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52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5A8947-ACEE-45AB-AEC7-A6861EE72F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79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B6436D-0598-4727-A5F6-2CCC7F41CC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06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F02E00-FDFE-4923-8A3F-827323B2A2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36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7C187F2-0E06-40D0-8855-37C17089436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178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DEE082F-283E-4D98-8BB1-6C2185D79E5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68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D4534A-65DB-4158-9AB1-310AB1ABB7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0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FE82E1C-73CE-44AC-A044-94B1ADEF7A8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579588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79589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79590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1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2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3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4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9595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596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9597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7959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9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tmp"/><Relationship Id="rId4" Type="http://schemas.openxmlformats.org/officeDocument/2006/relationships/image" Target="../media/image2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7" Type="http://schemas.openxmlformats.org/officeDocument/2006/relationships/image" Target="../media/image13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tmp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1085785"/>
            <a:ext cx="8229600" cy="4152965"/>
          </a:xfrm>
        </p:spPr>
        <p:txBody>
          <a:bodyPr/>
          <a:lstStyle/>
          <a:p>
            <a:r>
              <a:rPr lang="en-US" dirty="0">
                <a:effectLst/>
              </a:rPr>
              <a:t>Week 11 Tutorial</a:t>
            </a:r>
            <a:br>
              <a:rPr lang="en-US" dirty="0">
                <a:effectLst/>
              </a:rPr>
            </a:br>
            <a:br>
              <a:rPr lang="en-US" dirty="0">
                <a:effectLst/>
              </a:rPr>
            </a:br>
            <a:r>
              <a:rPr lang="en-US" dirty="0">
                <a:effectLst/>
              </a:rPr>
              <a:t>Autocorrelation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Power Spectral Density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Regression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Detrended Fluctuation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E082F-283E-4D98-8BB1-6C2185D79E5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83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Autocorrelation Function (1)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1238250"/>
            <a:ext cx="84582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The autocorrelation function is computed using: 	</a:t>
            </a:r>
            <a:r>
              <a:rPr lang="en-US" sz="2400" dirty="0" err="1"/>
              <a:t>matplotlib.pyplot.acorr</a:t>
            </a:r>
            <a:r>
              <a:rPr lang="en-US" sz="2400" dirty="0"/>
              <a:t> (</a:t>
            </a:r>
            <a:r>
              <a:rPr lang="en-US" sz="2400" dirty="0" err="1">
                <a:solidFill>
                  <a:srgbClr val="FFCC00"/>
                </a:solidFill>
              </a:rPr>
              <a:t>plt.acorr</a:t>
            </a:r>
            <a:r>
              <a:rPr lang="en-US" sz="2400" dirty="0"/>
              <a:t>)</a:t>
            </a:r>
          </a:p>
          <a:p>
            <a:r>
              <a:rPr lang="en-US" sz="2400" dirty="0"/>
              <a:t>The inputs of </a:t>
            </a:r>
            <a:r>
              <a:rPr lang="en-US" sz="2400" dirty="0" err="1"/>
              <a:t>plt.acorr</a:t>
            </a:r>
            <a:r>
              <a:rPr lang="en-US" sz="2400" dirty="0"/>
              <a:t> are:</a:t>
            </a:r>
          </a:p>
          <a:p>
            <a:r>
              <a:rPr lang="en-US" sz="2400" dirty="0"/>
              <a:t>	the series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maxlags</a:t>
            </a:r>
            <a:r>
              <a:rPr lang="en-US" sz="2400" dirty="0"/>
              <a:t>: the number of lags to be computed</a:t>
            </a:r>
          </a:p>
          <a:p>
            <a:r>
              <a:rPr lang="en-US" sz="2400" dirty="0"/>
              <a:t>	other arguments for plotting</a:t>
            </a:r>
          </a:p>
          <a:p>
            <a:r>
              <a:rPr lang="en-US" sz="2400" dirty="0"/>
              <a:t>The outputs of </a:t>
            </a:r>
            <a:r>
              <a:rPr lang="en-US" sz="2400" dirty="0" err="1"/>
              <a:t>plt.acorr</a:t>
            </a:r>
            <a:r>
              <a:rPr lang="en-US" sz="2400" dirty="0"/>
              <a:t> are:</a:t>
            </a:r>
          </a:p>
          <a:p>
            <a:r>
              <a:rPr lang="en-US" sz="2400" dirty="0"/>
              <a:t>	0: Array of lags [–</a:t>
            </a:r>
            <a:r>
              <a:rPr lang="en-US" sz="2400" dirty="0" err="1"/>
              <a:t>maxlags</a:t>
            </a:r>
            <a:r>
              <a:rPr lang="en-US" sz="2400" dirty="0"/>
              <a:t>, …, 0, </a:t>
            </a:r>
            <a:r>
              <a:rPr lang="en-US" sz="2400" dirty="0" err="1"/>
              <a:t>maxlags</a:t>
            </a:r>
            <a:r>
              <a:rPr lang="en-US" sz="2400" dirty="0"/>
              <a:t>]</a:t>
            </a:r>
          </a:p>
          <a:p>
            <a:r>
              <a:rPr lang="en-US" sz="2400" dirty="0"/>
              <a:t>	1: Array of autocorrelation functions</a:t>
            </a:r>
          </a:p>
          <a:p>
            <a:endParaRPr lang="en-US" sz="2400" dirty="0"/>
          </a:p>
          <a:p>
            <a:r>
              <a:rPr lang="en-US" sz="2400" dirty="0"/>
              <a:t>Remark: </a:t>
            </a:r>
            <a:r>
              <a:rPr lang="en-US" sz="2400" dirty="0" err="1"/>
              <a:t>plt.acorr</a:t>
            </a:r>
            <a:r>
              <a:rPr lang="en-US" sz="2400" dirty="0"/>
              <a:t> assumes that the mean of the series = 0. The programmer needs to subtract the mean from the series before input.</a:t>
            </a:r>
          </a:p>
        </p:txBody>
      </p:sp>
    </p:spTree>
    <p:extLst>
      <p:ext uri="{BB962C8B-B14F-4D97-AF65-F5344CB8AC3E}">
        <p14:creationId xmlns:p14="http://schemas.microsoft.com/office/powerpoint/2010/main" val="146237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Autocorrelation Function (2)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6F0EA092-EF5A-1C72-129F-A86218F86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88" y="3898498"/>
            <a:ext cx="3634295" cy="1987192"/>
          </a:xfrm>
          <a:prstGeom prst="rect">
            <a:avLst/>
          </a:prstGeom>
        </p:spPr>
      </p:pic>
      <p:pic>
        <p:nvPicPr>
          <p:cNvPr id="13" name="Picture 12" descr="Chart, histogram&#10;&#10;Description automatically generated">
            <a:extLst>
              <a:ext uri="{FF2B5EF4-FFF2-40B4-BE49-F238E27FC236}">
                <a16:creationId xmlns:a16="http://schemas.microsoft.com/office/drawing/2014/main" id="{D4978D08-CD64-07F2-1A17-6C4C17706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306" y="3905371"/>
            <a:ext cx="2950781" cy="2000529"/>
          </a:xfrm>
          <a:prstGeom prst="rect">
            <a:avLst/>
          </a:prstGeom>
        </p:spPr>
      </p:pic>
      <p:sp>
        <p:nvSpPr>
          <p:cNvPr id="14" name="Text Box 12">
            <a:extLst>
              <a:ext uri="{FF2B5EF4-FFF2-40B4-BE49-F238E27FC236}">
                <a16:creationId xmlns:a16="http://schemas.microsoft.com/office/drawing/2014/main" id="{F3D8FF0D-B1AC-374B-FA17-026F358D4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5834807"/>
            <a:ext cx="40014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dirty="0"/>
              <a:t>Output using “</a:t>
            </a:r>
            <a:r>
              <a:rPr lang="en-US" sz="2400" dirty="0" err="1"/>
              <a:t>usevlines</a:t>
            </a:r>
            <a:r>
              <a:rPr lang="en-US" sz="2400" dirty="0"/>
              <a:t>=True” (default)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60DC2655-0894-E412-E250-A45B84195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6658" y="5866104"/>
            <a:ext cx="45506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dirty="0"/>
              <a:t>Output using “</a:t>
            </a:r>
            <a:r>
              <a:rPr lang="en-US" sz="2400" dirty="0" err="1"/>
              <a:t>usevlines</a:t>
            </a:r>
            <a:r>
              <a:rPr lang="en-US" sz="2400" dirty="0"/>
              <a:t>=False, </a:t>
            </a:r>
            <a:r>
              <a:rPr lang="en-US" sz="2400" dirty="0" err="1"/>
              <a:t>linestyle</a:t>
            </a:r>
            <a:r>
              <a:rPr lang="en-US" sz="2400" dirty="0"/>
              <a:t>=‘solid’, marker=‘’)”</a:t>
            </a: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067B6B4F-235B-BAD6-82E8-F093C94CB5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71" y="980865"/>
            <a:ext cx="6792273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79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8C4DB6-53B0-B7AD-01B2-048DDF22FB3D}"/>
              </a:ext>
            </a:extLst>
          </p:cNvPr>
          <p:cNvSpPr/>
          <p:nvPr/>
        </p:nvSpPr>
        <p:spPr bwMode="auto">
          <a:xfrm>
            <a:off x="2103437" y="4091559"/>
            <a:ext cx="4772026" cy="264073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54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Power Spectral Density in Excel (1)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298450" y="953392"/>
                <a:ext cx="8458200" cy="31381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The power spectral density is calculated by applying Fourier transform to the autocorrelation function.</a:t>
                </a:r>
              </a:p>
              <a:p>
                <a:r>
                  <a:rPr lang="en-US" sz="2400" dirty="0"/>
                  <a:t>In Excel, we use </a:t>
                </a:r>
                <a:r>
                  <a:rPr lang="en-US" sz="2400" dirty="0">
                    <a:solidFill>
                      <a:srgbClr val="FFCC00"/>
                    </a:solidFill>
                  </a:rPr>
                  <a:t>Fast Fourier Transform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Data &gt; Data analysis &gt; Fourier analysis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Example: Mixed signal with periods 5, 10 and 25.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+0.5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450" y="953392"/>
                <a:ext cx="8458200" cy="3138167"/>
              </a:xfrm>
              <a:prstGeom prst="rect">
                <a:avLst/>
              </a:prstGeom>
              <a:blipFill>
                <a:blip r:embed="rId3"/>
                <a:stretch>
                  <a:fillRect l="-1154" t="-13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18D8726-C800-4BF5-AB78-04113FAAAC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118739"/>
              </p:ext>
            </p:extLst>
          </p:nvPr>
        </p:nvGraphicFramePr>
        <p:xfrm>
          <a:off x="2103437" y="40556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3285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8ACC89-9136-4A1B-BECC-7AD26E2D4BFE}" type="slidenum"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5425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35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ffectLst/>
                <a:latin typeface="Arial" charset="0"/>
              </a:rPr>
              <a:t>Fourier Analysis is a Microsoft Excel add-in program that is available when you install Microsoft Office or Excel. To use it in Excel, however, you need to </a:t>
            </a:r>
            <a:r>
              <a:rPr lang="en-US" altLang="en-US" sz="2400" u="sng" dirty="0">
                <a:solidFill>
                  <a:srgbClr val="FFC000"/>
                </a:solidFill>
                <a:effectLst/>
                <a:latin typeface="Arial" charset="0"/>
              </a:rPr>
              <a:t>load</a:t>
            </a:r>
            <a:r>
              <a:rPr lang="en-US" altLang="en-US" sz="2400" dirty="0">
                <a:effectLst/>
                <a:latin typeface="Arial" charset="0"/>
              </a:rPr>
              <a:t> it first. </a:t>
            </a:r>
          </a:p>
          <a:p>
            <a:pPr marL="400050" lvl="1" indent="0" eaLnBrk="1" hangingPunct="1">
              <a:lnSpc>
                <a:spcPct val="90000"/>
              </a:lnSpc>
              <a:spcBef>
                <a:spcPct val="35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ffectLst/>
                <a:latin typeface="Arial" charset="0"/>
              </a:rPr>
              <a:t>1.Click the </a:t>
            </a:r>
            <a:r>
              <a:rPr lang="en-US" altLang="en-US" sz="2400" u="sng" dirty="0">
                <a:solidFill>
                  <a:srgbClr val="FFC000"/>
                </a:solidFill>
                <a:effectLst/>
                <a:latin typeface="Arial" charset="0"/>
              </a:rPr>
              <a:t>File</a:t>
            </a:r>
            <a:r>
              <a:rPr lang="en-US" altLang="en-US" sz="2400" dirty="0">
                <a:effectLst/>
                <a:latin typeface="Arial" charset="0"/>
              </a:rPr>
              <a:t> tab, and then click </a:t>
            </a:r>
            <a:r>
              <a:rPr lang="en-US" altLang="en-US" sz="2400" u="sng" dirty="0">
                <a:solidFill>
                  <a:srgbClr val="FFC000"/>
                </a:solidFill>
                <a:effectLst/>
                <a:latin typeface="Arial" charset="0"/>
              </a:rPr>
              <a:t>Options</a:t>
            </a:r>
            <a:r>
              <a:rPr lang="en-US" altLang="en-US" sz="2400" dirty="0">
                <a:effectLst/>
                <a:latin typeface="Arial" charset="0"/>
              </a:rPr>
              <a:t>.</a:t>
            </a:r>
          </a:p>
          <a:p>
            <a:pPr marL="400050" lvl="1" indent="0" eaLnBrk="1" hangingPunct="1">
              <a:lnSpc>
                <a:spcPct val="90000"/>
              </a:lnSpc>
              <a:spcBef>
                <a:spcPct val="35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ffectLst/>
                <a:latin typeface="Arial" charset="0"/>
              </a:rPr>
              <a:t>2.Click </a:t>
            </a:r>
            <a:r>
              <a:rPr lang="en-US" altLang="en-US" sz="2400" u="sng" dirty="0">
                <a:solidFill>
                  <a:srgbClr val="FFC000"/>
                </a:solidFill>
                <a:effectLst/>
                <a:latin typeface="Arial" charset="0"/>
              </a:rPr>
              <a:t>Add-Ins</a:t>
            </a:r>
            <a:r>
              <a:rPr lang="en-US" altLang="en-US" sz="2400" dirty="0">
                <a:effectLst/>
                <a:latin typeface="Arial" charset="0"/>
              </a:rPr>
              <a:t>, and then in the Manage box, select </a:t>
            </a:r>
            <a:r>
              <a:rPr lang="en-US" altLang="en-US" sz="2400" u="sng" dirty="0">
                <a:solidFill>
                  <a:srgbClr val="FFC000"/>
                </a:solidFill>
                <a:effectLst/>
                <a:latin typeface="Arial" charset="0"/>
              </a:rPr>
              <a:t>Excel Add-ins</a:t>
            </a:r>
            <a:r>
              <a:rPr lang="en-US" altLang="en-US" sz="2400" dirty="0">
                <a:effectLst/>
                <a:latin typeface="Arial" charset="0"/>
              </a:rPr>
              <a:t>.</a:t>
            </a:r>
          </a:p>
          <a:p>
            <a:pPr marL="400050" lvl="1" indent="0" eaLnBrk="1" hangingPunct="1">
              <a:lnSpc>
                <a:spcPct val="90000"/>
              </a:lnSpc>
              <a:spcBef>
                <a:spcPct val="35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ffectLst/>
                <a:latin typeface="Arial" charset="0"/>
              </a:rPr>
              <a:t>3.Click </a:t>
            </a:r>
            <a:r>
              <a:rPr lang="en-US" altLang="en-US" sz="2400" u="sng" dirty="0">
                <a:solidFill>
                  <a:srgbClr val="FFC000"/>
                </a:solidFill>
                <a:effectLst/>
                <a:latin typeface="Arial" charset="0"/>
              </a:rPr>
              <a:t>Go</a:t>
            </a:r>
            <a:r>
              <a:rPr lang="en-US" altLang="en-US" sz="2400" dirty="0">
                <a:effectLst/>
                <a:latin typeface="Arial" charset="0"/>
              </a:rPr>
              <a:t>.</a:t>
            </a:r>
          </a:p>
          <a:p>
            <a:pPr marL="400050" lvl="1" indent="0" eaLnBrk="1" hangingPunct="1">
              <a:lnSpc>
                <a:spcPct val="90000"/>
              </a:lnSpc>
              <a:spcBef>
                <a:spcPct val="35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ffectLst/>
                <a:latin typeface="Arial" charset="0"/>
              </a:rPr>
              <a:t>4.In the Add-Ins available box, select the </a:t>
            </a:r>
            <a:r>
              <a:rPr lang="en-US" altLang="en-US" sz="2400" u="sng" dirty="0">
                <a:solidFill>
                  <a:srgbClr val="FFC000"/>
                </a:solidFill>
                <a:effectLst/>
                <a:latin typeface="Arial" charset="0"/>
              </a:rPr>
              <a:t>Analysis </a:t>
            </a:r>
            <a:r>
              <a:rPr lang="en-US" altLang="en-US" sz="2400" u="sng" dirty="0" err="1">
                <a:solidFill>
                  <a:srgbClr val="FFC000"/>
                </a:solidFill>
                <a:effectLst/>
                <a:latin typeface="Arial" charset="0"/>
              </a:rPr>
              <a:t>ToolPak</a:t>
            </a:r>
            <a:r>
              <a:rPr lang="en-US" altLang="en-US" sz="2400" dirty="0">
                <a:effectLst/>
                <a:latin typeface="Arial" charset="0"/>
              </a:rPr>
              <a:t> check box, and then click </a:t>
            </a:r>
            <a:r>
              <a:rPr lang="en-US" altLang="en-US" sz="2400" u="sng" dirty="0">
                <a:solidFill>
                  <a:srgbClr val="FFC000"/>
                </a:solidFill>
                <a:effectLst/>
                <a:latin typeface="Arial" charset="0"/>
              </a:rPr>
              <a:t>OK</a:t>
            </a:r>
            <a:r>
              <a:rPr lang="en-US" altLang="en-US" sz="2400" dirty="0">
                <a:effectLst/>
                <a:latin typeface="Arial" charset="0"/>
              </a:rPr>
              <a:t>.</a:t>
            </a:r>
          </a:p>
          <a:p>
            <a:pPr marL="400050" lvl="1" indent="0" eaLnBrk="1" hangingPunct="1">
              <a:lnSpc>
                <a:spcPct val="90000"/>
              </a:lnSpc>
              <a:spcBef>
                <a:spcPct val="35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ffectLst/>
                <a:latin typeface="Arial" charset="0"/>
              </a:rPr>
              <a:t>5. You are also recommended to select </a:t>
            </a:r>
            <a:r>
              <a:rPr lang="en-US" altLang="en-US" sz="2400" u="sng" dirty="0">
                <a:solidFill>
                  <a:srgbClr val="FFCC00"/>
                </a:solidFill>
                <a:effectLst/>
                <a:latin typeface="Arial" charset="0"/>
              </a:rPr>
              <a:t>Solver Add-in</a:t>
            </a:r>
            <a:r>
              <a:rPr lang="en-US" altLang="en-US" sz="2400" dirty="0">
                <a:effectLst/>
                <a:latin typeface="Arial" charset="0"/>
              </a:rPr>
              <a:t>.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266700" y="228600"/>
            <a:ext cx="83058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Using Fourier Analysis in Excel the First Time</a:t>
            </a:r>
          </a:p>
        </p:txBody>
      </p:sp>
      <p:sp>
        <p:nvSpPr>
          <p:cNvPr id="5126" name="Line 5"/>
          <p:cNvSpPr>
            <a:spLocks noChangeShapeType="1"/>
          </p:cNvSpPr>
          <p:nvPr/>
        </p:nvSpPr>
        <p:spPr bwMode="auto">
          <a:xfrm>
            <a:off x="304800" y="10922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6634005" y="488283"/>
                <a:ext cx="2237097" cy="30469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>
                    <a:solidFill>
                      <a:srgbClr val="FFCC00"/>
                    </a:solidFill>
                  </a:rPr>
                  <a:t>Input range: </a:t>
                </a:r>
                <a:r>
                  <a:rPr lang="en-US" sz="2400" dirty="0"/>
                  <a:t>the column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data points.</a:t>
                </a:r>
              </a:p>
              <a:p>
                <a:r>
                  <a:rPr lang="en-US" sz="2400" dirty="0">
                    <a:solidFill>
                      <a:srgbClr val="FFCC00"/>
                    </a:solidFill>
                  </a:rPr>
                  <a:t>Output range: </a:t>
                </a:r>
                <a:r>
                  <a:rPr lang="en-US" sz="2400" dirty="0"/>
                  <a:t>the location of the frequency table.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4005" y="488283"/>
                <a:ext cx="2237097" cy="3046988"/>
              </a:xfrm>
              <a:prstGeom prst="rect">
                <a:avLst/>
              </a:prstGeom>
              <a:blipFill>
                <a:blip r:embed="rId3"/>
                <a:stretch>
                  <a:fillRect l="-4087" t="-1400" r="-1090" b="-38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7E292871-20FE-B56A-142B-B4ED2C051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0" y="372530"/>
            <a:ext cx="6325483" cy="63254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A5A2ADC-096D-5B74-CBE4-AE40A4F7F05D}"/>
              </a:ext>
            </a:extLst>
          </p:cNvPr>
          <p:cNvSpPr/>
          <p:nvPr/>
        </p:nvSpPr>
        <p:spPr bwMode="auto">
          <a:xfrm>
            <a:off x="929063" y="372530"/>
            <a:ext cx="685981" cy="621827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D840EC-53F9-5A13-05EB-3C3EB2149EB9}"/>
              </a:ext>
            </a:extLst>
          </p:cNvPr>
          <p:cNvSpPr/>
          <p:nvPr/>
        </p:nvSpPr>
        <p:spPr bwMode="auto">
          <a:xfrm>
            <a:off x="2921350" y="343612"/>
            <a:ext cx="2695679" cy="621827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84BD67B-3B61-0DAD-B859-D9FE5C3271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567" y="4000380"/>
            <a:ext cx="3743847" cy="24006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4570BA-4A61-9F4F-6D97-0194D4E500C8}"/>
              </a:ext>
            </a:extLst>
          </p:cNvPr>
          <p:cNvSpPr/>
          <p:nvPr/>
        </p:nvSpPr>
        <p:spPr bwMode="auto">
          <a:xfrm>
            <a:off x="5343704" y="4000380"/>
            <a:ext cx="3734321" cy="240063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298450" y="953392"/>
                <a:ext cx="8458200" cy="24940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Prepare a column of the frequencies from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FFCC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solidFill>
                              <a:srgbClr val="FFCC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CC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FFCC00"/>
                    </a:solidFill>
                  </a:rPr>
                  <a:t> </a:t>
                </a:r>
                <a:r>
                  <a:rPr lang="en-US" sz="2400" dirty="0"/>
                  <a:t>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FFCC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CC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b="0" i="1" smtClean="0">
                            <a:solidFill>
                              <a:srgbClr val="FFCC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CC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The outputs are complex numbers.</a:t>
                </a:r>
              </a:p>
              <a:p>
                <a:r>
                  <a:rPr lang="en-US" sz="2400" dirty="0"/>
                  <a:t>Calculate the amplitudes using the function </a:t>
                </a:r>
                <a:r>
                  <a:rPr lang="en-US" sz="2400" dirty="0">
                    <a:solidFill>
                      <a:srgbClr val="FFCC00"/>
                    </a:solidFill>
                  </a:rPr>
                  <a:t>IMABS(  )</a:t>
                </a:r>
                <a:r>
                  <a:rPr lang="en-US" sz="2400" dirty="0"/>
                  <a:t>.</a:t>
                </a:r>
                <a:endParaRPr lang="en-US" sz="2400" dirty="0">
                  <a:solidFill>
                    <a:srgbClr val="FFFF00"/>
                  </a:solidFill>
                </a:endParaRPr>
              </a:p>
              <a:p>
                <a:r>
                  <a:rPr lang="en-US" sz="2400" dirty="0"/>
                  <a:t>The amplitude at frequency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the same as that 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, because both components yield the same values at discrete points.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450" y="953392"/>
                <a:ext cx="8458200" cy="2494016"/>
              </a:xfrm>
              <a:prstGeom prst="rect">
                <a:avLst/>
              </a:prstGeom>
              <a:blipFill>
                <a:blip r:embed="rId3"/>
                <a:stretch>
                  <a:fillRect l="-1154" b="-34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6956FE7-170C-D39D-F09F-2A328904B1DA}"/>
              </a:ext>
            </a:extLst>
          </p:cNvPr>
          <p:cNvSpPr/>
          <p:nvPr/>
        </p:nvSpPr>
        <p:spPr bwMode="auto">
          <a:xfrm>
            <a:off x="59375" y="3443840"/>
            <a:ext cx="4579342" cy="291553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8B11CC2-7BF5-AC41-91D8-EE79FD6CBE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0406828"/>
              </p:ext>
            </p:extLst>
          </p:nvPr>
        </p:nvGraphicFramePr>
        <p:xfrm>
          <a:off x="66717" y="35564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5A45FE6-7D92-047B-5563-6567AEE88F50}"/>
              </a:ext>
            </a:extLst>
          </p:cNvPr>
          <p:cNvSpPr/>
          <p:nvPr/>
        </p:nvSpPr>
        <p:spPr bwMode="auto">
          <a:xfrm>
            <a:off x="4796063" y="3415857"/>
            <a:ext cx="4286992" cy="294351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DB3FA25-67FD-4DA9-9D47-0D3589808C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473165"/>
              </p:ext>
            </p:extLst>
          </p:nvPr>
        </p:nvGraphicFramePr>
        <p:xfrm>
          <a:off x="4671388" y="3510857"/>
          <a:ext cx="441166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Rectangle 5">
            <a:extLst>
              <a:ext uri="{FF2B5EF4-FFF2-40B4-BE49-F238E27FC236}">
                <a16:creationId xmlns:a16="http://schemas.microsoft.com/office/drawing/2014/main" id="{A942B94C-C37F-C4E2-AB7A-1B02CA5F0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54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Power Spectral Density in Excel (3)</a:t>
            </a:r>
          </a:p>
        </p:txBody>
      </p:sp>
    </p:spTree>
    <p:extLst>
      <p:ext uri="{BB962C8B-B14F-4D97-AF65-F5344CB8AC3E}">
        <p14:creationId xmlns:p14="http://schemas.microsoft.com/office/powerpoint/2010/main" val="245245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953392"/>
            <a:ext cx="84582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We will only need to show the left half of the spectrum (from 0 to 0.5).</a:t>
            </a:r>
          </a:p>
          <a:p>
            <a:r>
              <a:rPr lang="en-US" sz="2400" dirty="0"/>
              <a:t>The unit of frequency is cycles per tick.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solution shows the peaks at f = 0.03125 </a:t>
            </a:r>
            <a:r>
              <a:rPr lang="en-US" sz="2400" dirty="0">
                <a:sym typeface="Symbol" panose="05050102010706020507" pitchFamily="18" charset="2"/>
              </a:rPr>
              <a:t> 1/25, 0.09375  1/10, 0.1875 and 0.21875  1/5.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56FE7-170C-D39D-F09F-2A328904B1DA}"/>
              </a:ext>
            </a:extLst>
          </p:cNvPr>
          <p:cNvSpPr/>
          <p:nvPr/>
        </p:nvSpPr>
        <p:spPr bwMode="auto">
          <a:xfrm>
            <a:off x="2078177" y="2292859"/>
            <a:ext cx="4579342" cy="291553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00C4685-B937-4662-B3A7-32FC8A3117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2315240"/>
              </p:ext>
            </p:extLst>
          </p:nvPr>
        </p:nvGraphicFramePr>
        <p:xfrm>
          <a:off x="2084112" y="235223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D11914EB-46FF-7D3F-8D1B-6638F742E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54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Power Spectral Density in Excel (4)</a:t>
            </a:r>
          </a:p>
        </p:txBody>
      </p:sp>
    </p:spTree>
    <p:extLst>
      <p:ext uri="{BB962C8B-B14F-4D97-AF65-F5344CB8AC3E}">
        <p14:creationId xmlns:p14="http://schemas.microsoft.com/office/powerpoint/2010/main" val="167438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298450" y="858392"/>
                <a:ext cx="8458200" cy="56323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The file tut11.xlsx contains the autocorrelation of the absolute returns of the Hang Seng Index from 0 to 750 days.</a:t>
                </a:r>
              </a:p>
              <a:p>
                <a:endParaRPr lang="en-US" sz="2400" dirty="0"/>
              </a:p>
              <a:p>
                <a:pPr marL="457200" indent="-457200">
                  <a:buAutoNum type="arabicParenBoth"/>
                </a:pPr>
                <a:r>
                  <a:rPr lang="en-US" sz="2400" dirty="0"/>
                  <a:t>Download the file and plot the autocorrelation versus time delay in Excel.</a:t>
                </a:r>
              </a:p>
              <a:p>
                <a:pPr marL="457200" indent="-457200">
                  <a:buAutoNum type="arabicParenBoth"/>
                </a:pPr>
                <a:endParaRPr lang="en-US" sz="2400" dirty="0"/>
              </a:p>
              <a:p>
                <a:pPr marL="457200" indent="-457200">
                  <a:buAutoNum type="arabicParenBoth"/>
                </a:pPr>
                <a:r>
                  <a:rPr lang="en-US" sz="2400" dirty="0"/>
                  <a:t>Suggest a value of the maximum lag such that the truncated time series can be used to compute the power spectral density.</a:t>
                </a:r>
              </a:p>
              <a:p>
                <a:pPr marL="457200" indent="-457200">
                  <a:buAutoNum type="arabicParenBoth"/>
                </a:pPr>
                <a:endParaRPr lang="en-US" sz="2400" dirty="0"/>
              </a:p>
              <a:p>
                <a:pPr marL="457200" indent="-457200">
                  <a:buAutoNum type="arabicParenBoth"/>
                </a:pPr>
                <a:r>
                  <a:rPr lang="en-US" sz="2400" dirty="0"/>
                  <a:t>Compute the power spectral density of the autocorrelation using Fast Fourier Transform.</a:t>
                </a:r>
              </a:p>
              <a:p>
                <a:pPr marL="457200" indent="-457200">
                  <a:buAutoNum type="arabicParenBoth"/>
                </a:pPr>
                <a:endParaRPr lang="en-US" sz="2400" dirty="0"/>
              </a:p>
              <a:p>
                <a:pPr marL="457200" indent="-457200">
                  <a:buAutoNum type="arabicParenBoth"/>
                </a:pPr>
                <a:r>
                  <a:rPr lang="en-US" sz="2400" dirty="0"/>
                  <a:t>Plot the power spectral density using a log-log plot. Compute the exponent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450" y="858392"/>
                <a:ext cx="8458200" cy="5632311"/>
              </a:xfrm>
              <a:prstGeom prst="rect">
                <a:avLst/>
              </a:prstGeom>
              <a:blipFill>
                <a:blip r:embed="rId3"/>
                <a:stretch>
                  <a:fillRect l="-1154" t="-758" r="-1947" b="-18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5">
            <a:extLst>
              <a:ext uri="{FF2B5EF4-FFF2-40B4-BE49-F238E27FC236}">
                <a16:creationId xmlns:a16="http://schemas.microsoft.com/office/drawing/2014/main" id="{6E3A0586-F4DC-1C86-A30F-CC7CA33DC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54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Classwork</a:t>
            </a:r>
          </a:p>
        </p:txBody>
      </p:sp>
    </p:spTree>
    <p:extLst>
      <p:ext uri="{BB962C8B-B14F-4D97-AF65-F5344CB8AC3E}">
        <p14:creationId xmlns:p14="http://schemas.microsoft.com/office/powerpoint/2010/main" val="279909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Power Spectral Density in Python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858392"/>
            <a:ext cx="8458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To use </a:t>
            </a:r>
            <a:r>
              <a:rPr lang="en-US" sz="2400" dirty="0" err="1"/>
              <a:t>fft</a:t>
            </a:r>
            <a:r>
              <a:rPr lang="en-US" sz="2400" dirty="0"/>
              <a:t> in </a:t>
            </a:r>
            <a:r>
              <a:rPr lang="en-US" sz="2400" dirty="0" err="1"/>
              <a:t>numpy</a:t>
            </a:r>
            <a:r>
              <a:rPr lang="en-US" sz="2400" dirty="0"/>
              <a:t>, add the following line to import the package from the </a:t>
            </a:r>
            <a:r>
              <a:rPr lang="en-US" sz="2400" dirty="0" err="1"/>
              <a:t>numpy</a:t>
            </a:r>
            <a:r>
              <a:rPr lang="en-US" sz="2400" dirty="0"/>
              <a:t> library: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data series can be of any size, not restricted to 2</a:t>
            </a:r>
            <a:r>
              <a:rPr lang="en-US" sz="2400" baseline="30000" dirty="0"/>
              <a:t>n</a:t>
            </a:r>
            <a:r>
              <a:rPr lang="en-US" sz="2400" dirty="0"/>
              <a:t>.</a:t>
            </a:r>
          </a:p>
          <a:p>
            <a:r>
              <a:rPr lang="en-US" sz="2400" dirty="0"/>
              <a:t>Prepare the frequency array.</a:t>
            </a:r>
          </a:p>
          <a:p>
            <a:r>
              <a:rPr lang="en-US" sz="2400" dirty="0"/>
              <a:t>Prepare the complex </a:t>
            </a:r>
            <a:r>
              <a:rPr lang="en-US" sz="2400" dirty="0" err="1"/>
              <a:t>fft</a:t>
            </a:r>
            <a:r>
              <a:rPr lang="en-US" sz="2400" dirty="0"/>
              <a:t> array using </a:t>
            </a:r>
            <a:r>
              <a:rPr lang="en-US" sz="2400" dirty="0" err="1">
                <a:solidFill>
                  <a:srgbClr val="FFCC00"/>
                </a:solidFill>
              </a:rPr>
              <a:t>fft</a:t>
            </a:r>
            <a:r>
              <a:rPr lang="en-US" sz="2400" dirty="0">
                <a:solidFill>
                  <a:srgbClr val="FFCC00"/>
                </a:solidFill>
              </a:rPr>
              <a:t>( ).</a:t>
            </a:r>
          </a:p>
          <a:p>
            <a:r>
              <a:rPr lang="en-US" sz="2400" dirty="0"/>
              <a:t>Calculate the amplitude array using </a:t>
            </a:r>
            <a:r>
              <a:rPr lang="en-US" sz="2400" dirty="0">
                <a:solidFill>
                  <a:srgbClr val="FFCC00"/>
                </a:solidFill>
              </a:rPr>
              <a:t>abs( ).</a:t>
            </a:r>
          </a:p>
          <a:p>
            <a:r>
              <a:rPr lang="en-US" sz="2400" dirty="0"/>
              <a:t>Plot the spectrum.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7027E0-9AA2-F5FF-4A70-5DDBE213A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96" y="1739181"/>
            <a:ext cx="6173061" cy="594443"/>
          </a:xfrm>
          <a:prstGeom prst="rect">
            <a:avLst/>
          </a:prstGeom>
        </p:spPr>
      </p:pic>
      <p:pic>
        <p:nvPicPr>
          <p:cNvPr id="11" name="Picture 10" descr="A computer code with red and white text&#10;&#10;Description automatically generated">
            <a:extLst>
              <a:ext uri="{FF2B5EF4-FFF2-40B4-BE49-F238E27FC236}">
                <a16:creationId xmlns:a16="http://schemas.microsoft.com/office/drawing/2014/main" id="{64987422-B8B4-EB73-9065-387F7C0CD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2545"/>
          <a:stretch/>
        </p:blipFill>
        <p:spPr>
          <a:xfrm>
            <a:off x="387350" y="4188671"/>
            <a:ext cx="5439534" cy="25677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E43176-2BB2-273F-38E0-20AE99313E35}"/>
              </a:ext>
            </a:extLst>
          </p:cNvPr>
          <p:cNvSpPr txBox="1"/>
          <p:nvPr/>
        </p:nvSpPr>
        <p:spPr>
          <a:xfrm>
            <a:off x="5546723" y="4739393"/>
            <a:ext cx="3330575" cy="646331"/>
          </a:xfrm>
          <a:prstGeom prst="rect">
            <a:avLst/>
          </a:prstGeom>
          <a:solidFill>
            <a:srgbClr val="CCFFFF"/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series of autocorrelation obtained from </a:t>
            </a:r>
            <a:r>
              <a:rPr lang="en-US" dirty="0" err="1">
                <a:solidFill>
                  <a:schemeClr val="bg1"/>
                </a:solidFill>
              </a:rPr>
              <a:t>plt.acorr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F1B113-E300-322B-C247-C7C8D0FE49AB}"/>
              </a:ext>
            </a:extLst>
          </p:cNvPr>
          <p:cNvSpPr txBox="1"/>
          <p:nvPr/>
        </p:nvSpPr>
        <p:spPr>
          <a:xfrm>
            <a:off x="5546724" y="5511065"/>
            <a:ext cx="3330575" cy="1200329"/>
          </a:xfrm>
          <a:prstGeom prst="rect">
            <a:avLst/>
          </a:prstGeom>
          <a:solidFill>
            <a:srgbClr val="CCFFFF"/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lagmax</a:t>
            </a:r>
            <a:r>
              <a:rPr lang="en-US" dirty="0">
                <a:solidFill>
                  <a:schemeClr val="bg1"/>
                </a:solidFill>
              </a:rPr>
              <a:t> is obtained from the range of lags in which the autocorrelation remains non-negative.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6145E5-B359-9BE7-747B-1B70142482FD}"/>
              </a:ext>
            </a:extLst>
          </p:cNvPr>
          <p:cNvSpPr txBox="1"/>
          <p:nvPr/>
        </p:nvSpPr>
        <p:spPr>
          <a:xfrm>
            <a:off x="5546723" y="3985049"/>
            <a:ext cx="3330575" cy="646331"/>
          </a:xfrm>
          <a:prstGeom prst="rect">
            <a:avLst/>
          </a:prstGeom>
          <a:solidFill>
            <a:srgbClr val="CCFFFF"/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Only half of the spectrum is needed.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D40D35-84B5-07AD-BC46-8BADD25519AD}"/>
              </a:ext>
            </a:extLst>
          </p:cNvPr>
          <p:cNvCxnSpPr>
            <a:cxnSpLocks/>
            <a:stCxn id="14" idx="1"/>
          </p:cNvCxnSpPr>
          <p:nvPr/>
        </p:nvCxnSpPr>
        <p:spPr bwMode="auto">
          <a:xfrm flipH="1">
            <a:off x="2085975" y="4308215"/>
            <a:ext cx="3460748" cy="133620"/>
          </a:xfrm>
          <a:prstGeom prst="straightConnector1">
            <a:avLst/>
          </a:prstGeom>
          <a:ln w="19050">
            <a:solidFill>
              <a:schemeClr val="bg1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772DA2-0654-3DC1-C98E-B312725BF5A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095500" y="4956638"/>
            <a:ext cx="4175123" cy="10269"/>
          </a:xfrm>
          <a:prstGeom prst="straightConnector1">
            <a:avLst/>
          </a:prstGeom>
          <a:ln w="19050">
            <a:solidFill>
              <a:schemeClr val="bg1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245FB1-A840-5106-2ED3-2B7F52ECA2E5}"/>
              </a:ext>
            </a:extLst>
          </p:cNvPr>
          <p:cNvCxnSpPr>
            <a:cxnSpLocks/>
            <a:stCxn id="13" idx="1"/>
          </p:cNvCxnSpPr>
          <p:nvPr/>
        </p:nvCxnSpPr>
        <p:spPr bwMode="auto">
          <a:xfrm flipH="1" flipV="1">
            <a:off x="1704975" y="5092248"/>
            <a:ext cx="3841749" cy="1018982"/>
          </a:xfrm>
          <a:prstGeom prst="straightConnector1">
            <a:avLst/>
          </a:prstGeom>
          <a:ln w="19050">
            <a:solidFill>
              <a:schemeClr val="bg1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173A612-71B8-18C1-5B92-5C1A30F3FE46}"/>
              </a:ext>
            </a:extLst>
          </p:cNvPr>
          <p:cNvSpPr/>
          <p:nvPr/>
        </p:nvSpPr>
        <p:spPr bwMode="auto">
          <a:xfrm>
            <a:off x="1152525" y="5321520"/>
            <a:ext cx="247650" cy="189545"/>
          </a:xfrm>
          <a:prstGeom prst="roundRect">
            <a:avLst/>
          </a:prstGeom>
          <a:solidFill>
            <a:srgbClr val="FF0000">
              <a:alpha val="3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414599-DABD-1620-9C23-E7EEB14A8608}"/>
              </a:ext>
            </a:extLst>
          </p:cNvPr>
          <p:cNvSpPr/>
          <p:nvPr/>
        </p:nvSpPr>
        <p:spPr bwMode="auto">
          <a:xfrm>
            <a:off x="862840" y="5336750"/>
            <a:ext cx="247650" cy="189545"/>
          </a:xfrm>
          <a:prstGeom prst="roundRect">
            <a:avLst/>
          </a:prstGeom>
          <a:solidFill>
            <a:srgbClr val="FF0000">
              <a:alpha val="3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20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Power Law Regression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858392"/>
            <a:ext cx="8458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Power law regression is done by taking the logarithms of the inputs and outputs and fit them by </a:t>
            </a:r>
            <a:r>
              <a:rPr lang="en-US" sz="2400" dirty="0">
                <a:solidFill>
                  <a:srgbClr val="FFCC00"/>
                </a:solidFill>
              </a:rPr>
              <a:t>linear regression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Linear regression can be done by packages such as </a:t>
            </a:r>
            <a:r>
              <a:rPr lang="en-US" sz="2400" dirty="0">
                <a:solidFill>
                  <a:srgbClr val="FFCC00"/>
                </a:solidFill>
              </a:rPr>
              <a:t>scikit-learn</a:t>
            </a:r>
            <a:r>
              <a:rPr lang="en-US" sz="2400" dirty="0"/>
              <a:t> or </a:t>
            </a:r>
            <a:r>
              <a:rPr lang="en-US" sz="2400" dirty="0" err="1">
                <a:solidFill>
                  <a:srgbClr val="FFCC00"/>
                </a:solidFill>
              </a:rPr>
              <a:t>scipy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installation, type Windows command: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 the top of the program, add: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CC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CC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E8DC5A-05D9-7C85-A166-8E0E1CCA822B}"/>
                  </a:ext>
                </a:extLst>
              </p:cNvPr>
              <p:cNvSpPr txBox="1"/>
              <p:nvPr/>
            </p:nvSpPr>
            <p:spPr>
              <a:xfrm>
                <a:off x="2386914" y="3244334"/>
                <a:ext cx="362868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pip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install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scikit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learn</m:t>
                      </m:r>
                    </m:oMath>
                  </m:oMathPara>
                </a14:m>
                <a:endParaRPr lang="en-US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E8DC5A-05D9-7C85-A166-8E0E1CCA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914" y="3244334"/>
                <a:ext cx="3628686" cy="369332"/>
              </a:xfrm>
              <a:prstGeom prst="rect">
                <a:avLst/>
              </a:prstGeom>
              <a:blipFill>
                <a:blip r:embed="rId3"/>
                <a:stretch>
                  <a:fillRect b="-29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F3BCD3-C730-A142-6304-76463E96C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61" y="4419800"/>
            <a:ext cx="5558613" cy="38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1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Preparing the Arrays for Regression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858392"/>
            <a:ext cx="8458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Suppose we want to perform a linear regression of the points (5, 5), (15, 28), (25, 14), (35, 32), (45, 22), (55, 38).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CC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CC00"/>
                </a:solidFill>
              </a:rPr>
              <a:t>Prepare</a:t>
            </a:r>
            <a:r>
              <a:rPr lang="en-US" sz="2400" dirty="0"/>
              <a:t> the arrays:</a:t>
            </a:r>
          </a:p>
          <a:p>
            <a:endParaRPr lang="en-US" sz="2400" dirty="0"/>
          </a:p>
          <a:p>
            <a:r>
              <a:rPr lang="en-US" sz="2400" dirty="0"/>
              <a:t>	x = </a:t>
            </a:r>
            <a:r>
              <a:rPr lang="en-US" sz="2400" dirty="0" err="1"/>
              <a:t>np.array</a:t>
            </a:r>
            <a:r>
              <a:rPr lang="en-US" sz="2400" dirty="0"/>
              <a:t>([5, 15, 25, 35, 45, 55]).</a:t>
            </a:r>
            <a:r>
              <a:rPr lang="en-US" sz="2400" dirty="0">
                <a:solidFill>
                  <a:srgbClr val="FFCC00"/>
                </a:solidFill>
              </a:rPr>
              <a:t>reshape((-1, 1))</a:t>
            </a:r>
          </a:p>
          <a:p>
            <a:r>
              <a:rPr lang="en-US" sz="2400" dirty="0"/>
              <a:t>	y = </a:t>
            </a:r>
            <a:r>
              <a:rPr lang="en-US" sz="2400" dirty="0" err="1"/>
              <a:t>np.array</a:t>
            </a:r>
            <a:r>
              <a:rPr lang="en-US" sz="2400" dirty="0"/>
              <a:t>([5, 20, 14, 32, 22, 38])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Remark: Reshaping x changes it to have one column and as many rows as necessary. The original x with 6 columns may be confused with multiple linear regression. </a:t>
            </a:r>
          </a:p>
        </p:txBody>
      </p:sp>
    </p:spTree>
    <p:extLst>
      <p:ext uri="{BB962C8B-B14F-4D97-AF65-F5344CB8AC3E}">
        <p14:creationId xmlns:p14="http://schemas.microsoft.com/office/powerpoint/2010/main" val="402591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Fitting the Regression Model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858392"/>
            <a:ext cx="8458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find the regression model: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CC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get the fitted values:</a:t>
            </a:r>
          </a:p>
          <a:p>
            <a:endParaRPr lang="en-US" sz="2400" dirty="0"/>
          </a:p>
          <a:p>
            <a:r>
              <a:rPr lang="en-US" sz="24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predict the outputs of a test set, replace x by </a:t>
            </a:r>
            <a:r>
              <a:rPr lang="en-US" sz="2400" dirty="0" err="1"/>
              <a:t>xtest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find R</a:t>
            </a:r>
            <a:r>
              <a:rPr lang="en-US" sz="2400" baseline="30000" dirty="0"/>
              <a:t>2</a:t>
            </a:r>
            <a:r>
              <a:rPr lang="en-US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find the slope and intercept: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10E2DF-D758-F282-759C-CD2627B11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98" y="1469058"/>
            <a:ext cx="5544324" cy="323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5239BA-E46F-9951-A000-52CB6D7B1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726" y="2520332"/>
            <a:ext cx="3715268" cy="41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CB392-CB91-8959-96FF-B5ADB883B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147" y="3928444"/>
            <a:ext cx="3410426" cy="323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D073FA-95DC-C3B8-2D98-D0D8781CC1D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35"/>
          <a:stretch/>
        </p:blipFill>
        <p:spPr>
          <a:xfrm>
            <a:off x="2509547" y="5125982"/>
            <a:ext cx="3334216" cy="362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2AFBBC-0F2B-61E3-82B7-27995C5180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652" y="5740755"/>
            <a:ext cx="4248742" cy="3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9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3E02-0473-4243-8A96-83AC7C9D78D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Detrended Fluctuation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51F2-C2F4-411D-B42A-CEB66A02D2D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57408" cy="218598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The details are explained in the question paper of the next problem set.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5C839-93A4-4E16-9AEA-AF95DFA2F8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E082F-283E-4D98-8BB1-6C2185D79E59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973159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12593</TotalTime>
  <Words>945</Words>
  <Application>Microsoft Office PowerPoint</Application>
  <PresentationFormat>On-screen Show (4:3)</PresentationFormat>
  <Paragraphs>141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Cambria Math</vt:lpstr>
      <vt:lpstr>Courier New</vt:lpstr>
      <vt:lpstr>Garamond</vt:lpstr>
      <vt:lpstr>Symbol</vt:lpstr>
      <vt:lpstr>Times New Roman</vt:lpstr>
      <vt:lpstr>Wingdings</vt:lpstr>
      <vt:lpstr>Stream</vt:lpstr>
      <vt:lpstr>Week 11 Tutorial  Autocorrelation Power Spectral Density Regression Detrended Fluctuation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Detrended Fluctuation Analysis</vt:lpstr>
    </vt:vector>
  </TitlesOfParts>
  <Company>Preferred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Preferred Customer</dc:creator>
  <cp:lastModifiedBy>Michael K Y WONG</cp:lastModifiedBy>
  <cp:revision>337</cp:revision>
  <cp:lastPrinted>2001-04-05T18:48:46Z</cp:lastPrinted>
  <dcterms:created xsi:type="dcterms:W3CDTF">2001-03-29T17:58:54Z</dcterms:created>
  <dcterms:modified xsi:type="dcterms:W3CDTF">2025-11-11T06:20:47Z</dcterms:modified>
</cp:coreProperties>
</file>