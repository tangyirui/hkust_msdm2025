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321" r:id="rId3"/>
    <p:sldId id="322" r:id="rId4"/>
    <p:sldId id="264" r:id="rId5"/>
    <p:sldId id="323" r:id="rId6"/>
    <p:sldId id="286" r:id="rId7"/>
    <p:sldId id="261" r:id="rId8"/>
    <p:sldId id="288" r:id="rId9"/>
    <p:sldId id="267" r:id="rId10"/>
    <p:sldId id="289" r:id="rId11"/>
    <p:sldId id="268" r:id="rId12"/>
    <p:sldId id="319" r:id="rId13"/>
    <p:sldId id="320" r:id="rId14"/>
    <p:sldId id="270" r:id="rId15"/>
    <p:sldId id="272" r:id="rId16"/>
    <p:sldId id="290" r:id="rId17"/>
    <p:sldId id="276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2" r:id="rId26"/>
    <p:sldId id="333" r:id="rId27"/>
    <p:sldId id="33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CCFFCC"/>
    <a:srgbClr val="FFFF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6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0D7FE-39BB-43A5-B49E-570BCF79926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75F20-8C43-433A-8929-7126DB364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9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1FC5-114A-4A82-86AE-EA80CA3B1BDE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2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1B4B1-F667-4710-9256-06CC05B4BA2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27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BFB2C-CF6C-4A2C-B4C0-1C96E99CCC34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1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0D4F-ED38-4472-9373-D374DAF6BD95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2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5D72F-735C-4138-A8C1-33B030B726E0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5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1919-A37D-48AD-9F5C-BA7AA7E2D255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7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74CF-5C00-4657-BF73-F49D4067AD66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D74-42B2-49CC-B121-43EE78A75E19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01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D530-6D21-4FB9-8DE2-77FD84DCF43E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4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2D06-B8CC-4EBD-87F3-DB344DB460DC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2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6983-0F5D-4D36-A107-480452C4B41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6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862B0-A3CF-4C32-BD61-EBFCE73608B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FEB5B-16A8-4DEE-BB2E-0D48B630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3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tuvalu.santafe.edu/~wbarthur/Papers/El_Farol.pdf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tm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9452"/>
            <a:ext cx="9144000" cy="3122762"/>
          </a:xfrm>
        </p:spPr>
        <p:txBody>
          <a:bodyPr>
            <a:normAutofit/>
          </a:bodyPr>
          <a:lstStyle/>
          <a:p>
            <a:r>
              <a:rPr lang="en-US" dirty="0"/>
              <a:t>MSDM 5003 Lecture 12</a:t>
            </a:r>
            <a:br>
              <a:rPr lang="en-US" dirty="0"/>
            </a:br>
            <a:r>
              <a:rPr lang="en-US" sz="4000" dirty="0"/>
              <a:t>20 November 2025</a:t>
            </a:r>
            <a:br>
              <a:rPr lang="en-US" sz="4000" dirty="0"/>
            </a:br>
            <a:br>
              <a:rPr lang="en-US" sz="4000" dirty="0"/>
            </a:br>
            <a:r>
              <a:rPr lang="en-US" sz="5400" b="1" dirty="0"/>
              <a:t>Agent-Based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75787"/>
            <a:ext cx="9144000" cy="2300906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Outline:</a:t>
            </a:r>
          </a:p>
          <a:p>
            <a:pPr algn="l"/>
            <a:r>
              <a:rPr lang="en-US" dirty="0"/>
              <a:t>1. Game theory models</a:t>
            </a:r>
          </a:p>
          <a:p>
            <a:pPr algn="l"/>
            <a:r>
              <a:rPr lang="en-US" dirty="0"/>
              <a:t>2. El </a:t>
            </a:r>
            <a:r>
              <a:rPr lang="en-US" dirty="0" err="1"/>
              <a:t>Farol</a:t>
            </a:r>
            <a:r>
              <a:rPr lang="en-US" dirty="0"/>
              <a:t> Bar Problem</a:t>
            </a:r>
          </a:p>
          <a:p>
            <a:pPr algn="l"/>
            <a:r>
              <a:rPr lang="en-US" dirty="0"/>
              <a:t>3. Minority Game</a:t>
            </a:r>
          </a:p>
          <a:p>
            <a:pPr algn="l"/>
            <a:r>
              <a:rPr lang="en-US" dirty="0"/>
              <a:t>4. Phases in the Minority 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755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rmAutofit/>
          </a:bodyPr>
          <a:lstStyle/>
          <a:p>
            <a:r>
              <a:rPr lang="en-US" sz="4400" b="1" dirty="0"/>
              <a:t>1. Game Theory Models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3630" y="1509712"/>
            <a:ext cx="10700169" cy="5211763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Agent-based models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An agent-based model is a computational model for simulating the actions and interactions of </a:t>
            </a:r>
            <a:r>
              <a:rPr lang="en-US" dirty="0">
                <a:solidFill>
                  <a:srgbClr val="FF0000"/>
                </a:solidFill>
              </a:rPr>
              <a:t>autonomous agents </a:t>
            </a:r>
            <a:r>
              <a:rPr lang="en-US" dirty="0"/>
              <a:t>(both individual or collective entities such as organizations or groups).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helps us to understand the </a:t>
            </a:r>
            <a:r>
              <a:rPr lang="en-US" dirty="0">
                <a:solidFill>
                  <a:srgbClr val="FF0000"/>
                </a:solidFill>
              </a:rPr>
              <a:t>behavior</a:t>
            </a:r>
            <a:r>
              <a:rPr lang="en-US" dirty="0"/>
              <a:t> of a system and what governs its </a:t>
            </a:r>
            <a:r>
              <a:rPr lang="en-US" dirty="0">
                <a:solidFill>
                  <a:srgbClr val="FF0000"/>
                </a:solidFill>
              </a:rPr>
              <a:t>outcomes</a:t>
            </a:r>
            <a:r>
              <a:rPr lang="en-US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combines elements of game theory, complex systems, emergence, computational sociology, multi-agent systems, and evolutionary programming.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Monte Carlo methods </a:t>
            </a:r>
            <a:r>
              <a:rPr lang="en-US" dirty="0"/>
              <a:t>are used to understand the stochasticity of these models. </a:t>
            </a:r>
          </a:p>
          <a:p>
            <a:pPr algn="l"/>
            <a:r>
              <a:rPr lang="en-US" b="1" dirty="0"/>
              <a:t>Applications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Detect distributions, trends and breakdowns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Prediction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Decision making (e.g. setting policies, prices and inventory levels)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2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646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rmAutofit/>
          </a:bodyPr>
          <a:lstStyle/>
          <a:p>
            <a:r>
              <a:rPr lang="en-US" sz="4400" b="1" dirty="0"/>
              <a:t>Game Theory Models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3630" y="1509712"/>
            <a:ext cx="10700169" cy="4549775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Introduction </a:t>
            </a:r>
            <a:r>
              <a:rPr lang="en-US" dirty="0"/>
              <a:t>(</a:t>
            </a:r>
            <a:r>
              <a:rPr lang="en-US" dirty="0" err="1"/>
              <a:t>Econophysics</a:t>
            </a:r>
            <a:r>
              <a:rPr lang="en-US" dirty="0"/>
              <a:t> Chapter 9)</a:t>
            </a:r>
          </a:p>
          <a:p>
            <a:pPr algn="l"/>
            <a:r>
              <a:rPr lang="en-US" dirty="0"/>
              <a:t>Agent-based models are proposed to explain the stylized facts of market data (e.g. fat tails and volatility clustering). </a:t>
            </a:r>
          </a:p>
          <a:p>
            <a:pPr algn="l"/>
            <a:r>
              <a:rPr lang="en-US" dirty="0"/>
              <a:t>Agents are selfish and they compete in the market for profits. </a:t>
            </a:r>
            <a:r>
              <a:rPr lang="en-US" dirty="0">
                <a:solidFill>
                  <a:srgbClr val="FF0000"/>
                </a:solidFill>
              </a:rPr>
              <a:t>Population games </a:t>
            </a:r>
            <a:r>
              <a:rPr lang="en-US" dirty="0"/>
              <a:t>are required for the description.</a:t>
            </a:r>
          </a:p>
          <a:p>
            <a:pPr algn="l"/>
            <a:endParaRPr lang="en-US" sz="1200" dirty="0"/>
          </a:p>
          <a:p>
            <a:pPr algn="l"/>
            <a:r>
              <a:rPr lang="en-US" b="1" dirty="0"/>
              <a:t>What is a game?</a:t>
            </a:r>
          </a:p>
          <a:p>
            <a:pPr algn="l"/>
            <a:r>
              <a:rPr lang="en-US" dirty="0"/>
              <a:t>A competition between two or more players, where each opponent acts in a rational manner, trying to resolve the conflict in their own favor.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3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5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5248" y="301924"/>
            <a:ext cx="10355856" cy="712188"/>
          </a:xfrm>
        </p:spPr>
        <p:txBody>
          <a:bodyPr>
            <a:noAutofit/>
          </a:bodyPr>
          <a:lstStyle/>
          <a:p>
            <a:r>
              <a:rPr lang="en-US" sz="4400" b="1" dirty="0"/>
              <a:t>2. El </a:t>
            </a:r>
            <a:r>
              <a:rPr lang="en-US" sz="4400" b="1" dirty="0" err="1"/>
              <a:t>Farol</a:t>
            </a:r>
            <a:r>
              <a:rPr lang="en-US" sz="4400" b="1" dirty="0"/>
              <a:t> Bar Problem</a:t>
            </a:r>
            <a:r>
              <a:rPr lang="en-US" sz="4400" b="1" baseline="30000" dirty="0"/>
              <a:t>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003" y="1066360"/>
            <a:ext cx="5007085" cy="4129132"/>
          </a:xfrm>
        </p:spPr>
        <p:txBody>
          <a:bodyPr>
            <a:no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There are 100 patrons of El </a:t>
            </a:r>
            <a:r>
              <a:rPr lang="en-US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Farol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bar, but the bar only has 60 seats.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Spending a Thursday evening in the bar is enjoyable only when fewer than 60 people attend.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 only information available to the agents is the numbers who came in past Thursdays.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4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 descr="A picture containing outdoor, tree, street, way&#10;&#10;Description automatically generated">
            <a:extLst>
              <a:ext uri="{FF2B5EF4-FFF2-40B4-BE49-F238E27FC236}">
                <a16:creationId xmlns:a16="http://schemas.microsoft.com/office/drawing/2014/main" id="{7296348C-6719-41BD-8888-C448BF29AC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088" y="967315"/>
            <a:ext cx="6347968" cy="47609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E62D7B-C363-4A78-9B34-5D267FA91F7C}"/>
              </a:ext>
            </a:extLst>
          </p:cNvPr>
          <p:cNvSpPr txBox="1"/>
          <p:nvPr/>
        </p:nvSpPr>
        <p:spPr>
          <a:xfrm>
            <a:off x="325120" y="5780539"/>
            <a:ext cx="105715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baseline="3000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Arthur, W. Brian (1994). </a:t>
            </a:r>
            <a:r>
              <a:rPr lang="en-US" b="0" i="0" u="none" strike="noStrike" dirty="0">
                <a:solidFill>
                  <a:srgbClr val="663366"/>
                </a:solidFill>
                <a:effectLst/>
                <a:latin typeface="Arial" panose="020B0604020202020204" pitchFamily="34" charset="0"/>
                <a:hlinkClick r:id="rId3"/>
              </a:rPr>
              <a:t>"Inductive Reasoning and Bounded Rationality"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(PDF). 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American Economic Review: Papers and Proceedings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84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 406–411.</a:t>
            </a:r>
          </a:p>
          <a:p>
            <a:r>
              <a:rPr lang="en-US" dirty="0"/>
              <a:t>Photo by John Phelan - Own work, CC BY 3.0, https://commons.wikimedia.org/w/index.php?curid=10536066</a:t>
            </a:r>
          </a:p>
        </p:txBody>
      </p:sp>
    </p:spTree>
    <p:extLst>
      <p:ext uri="{BB962C8B-B14F-4D97-AF65-F5344CB8AC3E}">
        <p14:creationId xmlns:p14="http://schemas.microsoft.com/office/powerpoint/2010/main" val="107812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5248" y="301924"/>
            <a:ext cx="10355856" cy="712188"/>
          </a:xfrm>
        </p:spPr>
        <p:txBody>
          <a:bodyPr>
            <a:noAutofit/>
          </a:bodyPr>
          <a:lstStyle/>
          <a:p>
            <a:r>
              <a:rPr lang="en-US" sz="4400" b="1" dirty="0"/>
              <a:t>Bounded Rationality</a:t>
            </a:r>
            <a:endParaRPr lang="en-US" sz="4400" b="1" baseline="30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5911" y="1249084"/>
            <a:ext cx="11260178" cy="2967102"/>
          </a:xfrm>
        </p:spPr>
        <p:txBody>
          <a:bodyPr>
            <a:no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Deductive reasoning 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may not work in this case (due to the uncertainty of too many other players’ decisions, whether they are rational, whether their decisions change with time …)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Inductive reasoning 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is needed (need to guess the likely behaviors of other players, need to adapt to changes in environment …)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Perfect rationality in economics cannot be assumed. </a:t>
            </a:r>
            <a:r>
              <a:rPr lang="en-US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Bounded rationality 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is more relevant.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5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387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0736"/>
            <a:ext cx="10515600" cy="772337"/>
          </a:xfrm>
        </p:spPr>
        <p:txBody>
          <a:bodyPr/>
          <a:lstStyle/>
          <a:p>
            <a:pPr algn="ctr"/>
            <a:r>
              <a:rPr lang="en-US" b="1" dirty="0"/>
              <a:t>Computer Experiment</a:t>
            </a:r>
            <a:endParaRPr lang="en-US" b="1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6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ubtitle 2"/>
              <p:cNvSpPr txBox="1">
                <a:spLocks/>
              </p:cNvSpPr>
              <p:nvPr/>
            </p:nvSpPr>
            <p:spPr>
              <a:xfrm>
                <a:off x="485505" y="1200426"/>
                <a:ext cx="11220989" cy="42917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effectLst/>
                    <a:ea typeface="DengXian" panose="02010600030101010101" pitchFamily="2" charset="-122"/>
                  </a:rPr>
                  <a:t>Each of the 100 agents has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</a:rPr>
                  <a:t> forecasting models (predictors). The agents monitor the accuracy of the predictors on past attendance record, then will decide to go or stay </a:t>
                </a:r>
                <a:r>
                  <a:rPr lang="en-US" sz="2400" dirty="0">
                    <a:ea typeface="DengXian" panose="02010600030101010101" pitchFamily="2" charset="-122"/>
                  </a:rPr>
                  <a:t>according to the most accurate predictor in his pocket (active predictor).</a:t>
                </a:r>
              </a:p>
              <a:p>
                <a:pPr marL="0" indent="0">
                  <a:buNone/>
                </a:pPr>
                <a:endParaRPr lang="en-US" sz="2400" dirty="0">
                  <a:ea typeface="DengXian" panose="02010600030101010101" pitchFamily="2" charset="-122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ea typeface="DengXian" panose="02010600030101010101" pitchFamily="2" charset="-122"/>
                  </a:rPr>
                  <a:t>Note that the choice of the active strategies will affect the attendance, which in turn determines the choice of the active strategies. The environment is </a:t>
                </a: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</a:rPr>
                  <a:t>adaptive</a:t>
                </a:r>
                <a:r>
                  <a:rPr lang="en-US" sz="2400" dirty="0">
                    <a:ea typeface="DengXian" panose="02010600030101010101" pitchFamily="2" charset="-122"/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ea typeface="DengXian" panose="02010600030101010101" pitchFamily="2" charset="-122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ea typeface="DengXian" panose="02010600030101010101" pitchFamily="2" charset="-122"/>
                  </a:rPr>
                  <a:t>Note also that the problem favors a </a:t>
                </a: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</a:rPr>
                  <a:t>diversity</a:t>
                </a:r>
                <a:r>
                  <a:rPr lang="en-US" sz="2400" dirty="0">
                    <a:ea typeface="DengXian" panose="02010600030101010101" pitchFamily="2" charset="-122"/>
                  </a:rPr>
                  <a:t> of strategies. If all agents make the same deterministic decision, all of them will be frustrated.</a:t>
                </a:r>
              </a:p>
              <a:p>
                <a:pPr marL="0" indent="0">
                  <a:buNone/>
                </a:pPr>
                <a:endParaRPr lang="en-US" sz="2400" dirty="0">
                  <a:ea typeface="DengXian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8" name="Subtit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05" y="1200426"/>
                <a:ext cx="11220989" cy="4291772"/>
              </a:xfrm>
              <a:prstGeom prst="rect">
                <a:avLst/>
              </a:prstGeom>
              <a:blipFill>
                <a:blip r:embed="rId2"/>
                <a:stretch>
                  <a:fillRect l="-870" t="-1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55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Self-Organization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6053" y="6357498"/>
            <a:ext cx="2743200" cy="365125"/>
          </a:xfrm>
        </p:spPr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7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8201" y="4643953"/>
            <a:ext cx="105155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bar attendance converges to the capacity of the bar. The agents </a:t>
            </a:r>
            <a:r>
              <a:rPr lang="en-US" sz="2400" dirty="0">
                <a:solidFill>
                  <a:srgbClr val="FF0000"/>
                </a:solidFill>
              </a:rPr>
              <a:t>self-organize</a:t>
            </a:r>
            <a:r>
              <a:rPr lang="en-US" sz="2400" dirty="0"/>
              <a:t> into an equilibrium state.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5B50E2-0F77-48A2-A972-845FBE441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880" y="1598364"/>
            <a:ext cx="5102302" cy="283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06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6" y="365125"/>
            <a:ext cx="11870267" cy="1325563"/>
          </a:xfrm>
        </p:spPr>
        <p:txBody>
          <a:bodyPr/>
          <a:lstStyle/>
          <a:p>
            <a:pPr algn="ctr"/>
            <a:r>
              <a:rPr lang="en-US" b="1" dirty="0"/>
              <a:t>3. Minority Game</a:t>
            </a:r>
            <a:r>
              <a:rPr lang="en-US" b="1" baseline="30000" dirty="0"/>
              <a:t>3,4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8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45172" y="1690688"/>
                <a:ext cx="11328400" cy="36294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b="1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Minority Wins</a:t>
                </a: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In a market, the minority group wins.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If there are more buyers than sellers, the price will 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ris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e. Sellers win.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If there are more sellers than buyers, the price will drop. Buyers win.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minority game consists of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agents. 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At each time step, they make a decision 1 or 0 (buy or sell).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If there are less 1’s than 0’s, the buyers score 1 point. 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If there are less 0’s than 1’s, the sellers score 1 point.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72" y="1690688"/>
                <a:ext cx="11328400" cy="3629455"/>
              </a:xfrm>
              <a:prstGeom prst="rect">
                <a:avLst/>
              </a:prstGeom>
              <a:blipFill>
                <a:blip r:embed="rId2"/>
                <a:stretch>
                  <a:fillRect l="-807" t="-1174" b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FF97219-E03B-4CF0-BC84-92BB112DE847}"/>
              </a:ext>
            </a:extLst>
          </p:cNvPr>
          <p:cNvSpPr txBox="1"/>
          <p:nvPr/>
        </p:nvSpPr>
        <p:spPr>
          <a:xfrm>
            <a:off x="638408" y="5615582"/>
            <a:ext cx="10133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aseline="30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Challet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D, </a:t>
            </a:r>
            <a:r>
              <a:rPr lang="en-US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Marsili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M, and Zhang Y-C (2005) </a:t>
            </a:r>
            <a:r>
              <a:rPr lang="en-US" i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Minority Games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Oxford University Press.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aseline="30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Challet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D and Zhang Y-C (1997) Emergence of cooperation and organization in an evolutionary game. </a:t>
            </a:r>
            <a:r>
              <a:rPr lang="en-US" i="1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Physica</a:t>
            </a:r>
            <a:r>
              <a:rPr lang="en-US" i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A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246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407-418.</a:t>
            </a:r>
          </a:p>
        </p:txBody>
      </p:sp>
    </p:spTree>
    <p:extLst>
      <p:ext uri="{BB962C8B-B14F-4D97-AF65-F5344CB8AC3E}">
        <p14:creationId xmlns:p14="http://schemas.microsoft.com/office/powerpoint/2010/main" val="3064966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9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57202" y="1681868"/>
                <a:ext cx="11294533" cy="45995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Each agent has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400" dirty="0"/>
                  <a:t> strategies.</a:t>
                </a:r>
              </a:p>
              <a:p>
                <a:r>
                  <a:rPr lang="en-US" sz="2400" dirty="0"/>
                  <a:t>Each strategy has a memory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steps. </a:t>
                </a:r>
              </a:p>
              <a:p>
                <a:r>
                  <a:rPr lang="en-US" sz="2400" dirty="0"/>
                  <a:t>The inputs to the strategies are the record of winning decisions of the previous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steps in market history.</a:t>
                </a:r>
              </a:p>
              <a:p>
                <a:r>
                  <a:rPr lang="en-US" sz="2400" dirty="0"/>
                  <a:t>For example,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r>
                  <a:rPr lang="en-US" sz="2400" dirty="0"/>
                  <a:t>, the histories are the bit strings 00, 01, 10, and 11.</a:t>
                </a:r>
              </a:p>
              <a:p>
                <a:r>
                  <a:rPr lang="en-US" sz="2400" dirty="0"/>
                  <a:t>In general, the input dimension of the strategies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outputs of the strategies are the responses 0 or 1 to each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2400" dirty="0"/>
                  <a:t> inputs.</a:t>
                </a:r>
              </a:p>
              <a:p>
                <a:r>
                  <a:rPr lang="en-US" sz="2400" dirty="0"/>
                  <a:t>(For the purpose of simulations, note that the total number of possible strategies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p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The virtual scores of all strategies are initialized to 0.</a:t>
                </a:r>
              </a:p>
              <a:p>
                <a:r>
                  <a:rPr lang="en-US" sz="2400" dirty="0"/>
                  <a:t>At each step, the virtual scores of the strategies increase by 1 if their predicted responses win.</a:t>
                </a:r>
              </a:p>
              <a:p>
                <a:r>
                  <a:rPr lang="en-US" sz="2400" dirty="0"/>
                  <a:t>The agent uses the strategy with the highest virtual score to make decision.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2" y="1681868"/>
                <a:ext cx="11294533" cy="4599529"/>
              </a:xfrm>
              <a:prstGeom prst="rect">
                <a:avLst/>
              </a:prstGeom>
              <a:blipFill>
                <a:blip r:embed="rId2"/>
                <a:stretch>
                  <a:fillRect l="-809" t="-1061" r="-971" b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152396" y="365125"/>
            <a:ext cx="11870267" cy="1325563"/>
          </a:xfrm>
        </p:spPr>
        <p:txBody>
          <a:bodyPr/>
          <a:lstStyle/>
          <a:p>
            <a:pPr algn="ctr"/>
            <a:r>
              <a:rPr lang="en-US" b="1" dirty="0"/>
              <a:t>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68707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10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40262" y="1289978"/>
                <a:ext cx="11294533" cy="3871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16 possible strategies for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kumimoji="0" lang="en-US" altLang="en-US" sz="24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24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24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algn="just"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Suppose 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players in the game.</a:t>
                </a:r>
              </a:p>
              <a:p>
                <a:pPr algn="just"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Each agent randomly picks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strategies out of the 16 strategies.</a:t>
                </a:r>
              </a:p>
              <a:p>
                <a:pPr algn="just"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At time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, the virtual scores of the strategies are given in the 6th row based on previous history.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2" y="1289978"/>
                <a:ext cx="11294533" cy="3871509"/>
              </a:xfrm>
              <a:prstGeom prst="rect">
                <a:avLst/>
              </a:prstGeom>
              <a:blipFill>
                <a:blip r:embed="rId2"/>
                <a:stretch>
                  <a:fillRect l="-809" t="-1260" r="-863" b="-2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152396" y="161929"/>
            <a:ext cx="11870267" cy="1325563"/>
          </a:xfrm>
        </p:spPr>
        <p:txBody>
          <a:bodyPr/>
          <a:lstStyle/>
          <a:p>
            <a:pPr algn="ctr"/>
            <a:r>
              <a:rPr lang="en-US" b="1" dirty="0"/>
              <a:t>Example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B5BE72-2A6B-451F-826D-5B1672D31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211427"/>
              </p:ext>
            </p:extLst>
          </p:nvPr>
        </p:nvGraphicFramePr>
        <p:xfrm>
          <a:off x="3036457" y="1861191"/>
          <a:ext cx="6102142" cy="1682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6571">
                  <a:extLst>
                    <a:ext uri="{9D8B030D-6E8A-4147-A177-3AD203B41FA5}">
                      <a16:colId xmlns:a16="http://schemas.microsoft.com/office/drawing/2014/main" val="4165315540"/>
                    </a:ext>
                  </a:extLst>
                </a:gridCol>
                <a:gridCol w="328276">
                  <a:extLst>
                    <a:ext uri="{9D8B030D-6E8A-4147-A177-3AD203B41FA5}">
                      <a16:colId xmlns:a16="http://schemas.microsoft.com/office/drawing/2014/main" val="2194534844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4073595293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2261096570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562842925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4081483240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170121904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555152556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263679489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495330708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107156812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560120895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690104466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3793545918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3146337189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386561863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671627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3671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3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170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399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70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272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FA775E-A09E-4477-8ABF-04A629014724}"/>
              </a:ext>
            </a:extLst>
          </p:cNvPr>
          <p:cNvSpPr txBox="1"/>
          <p:nvPr/>
        </p:nvSpPr>
        <p:spPr>
          <a:xfrm>
            <a:off x="526896" y="5097723"/>
            <a:ext cx="6094140" cy="470000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Player 1 picks strategies 2 and 14.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4CE6D-4B0E-4176-AE10-80F5858CE1E4}"/>
              </a:ext>
            </a:extLst>
          </p:cNvPr>
          <p:cNvSpPr txBox="1"/>
          <p:nvPr/>
        </p:nvSpPr>
        <p:spPr>
          <a:xfrm>
            <a:off x="538047" y="5545421"/>
            <a:ext cx="6094140" cy="47000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Player 2 picks strategies 4 and 12.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17347-BE93-4E12-A2CA-1417EAC6DB9F}"/>
              </a:ext>
            </a:extLst>
          </p:cNvPr>
          <p:cNvSpPr txBox="1"/>
          <p:nvPr/>
        </p:nvSpPr>
        <p:spPr>
          <a:xfrm>
            <a:off x="526896" y="6026572"/>
            <a:ext cx="6094140" cy="470000"/>
          </a:xfrm>
          <a:prstGeom prst="rect">
            <a:avLst/>
          </a:prstGeom>
          <a:solidFill>
            <a:srgbClr val="CCFFCC"/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Player 3 picks strategies 8 and 16.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9029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11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609" y="3299692"/>
            <a:ext cx="11049000" cy="2445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Suppose the market history is 010010101000</a:t>
            </a:r>
            <a:r>
              <a:rPr lang="en-US" sz="240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 input to the strategies becomes 10.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Output of strategy 2 = 0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Output of strategy 14 = 1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Since the virtual score of strategy 14 is higher (14 &gt; 6), decision of player 1 = 1.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EEE382-9463-4454-89E9-C66059DC1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431267"/>
              </p:ext>
            </p:extLst>
          </p:nvPr>
        </p:nvGraphicFramePr>
        <p:xfrm>
          <a:off x="3036457" y="1274439"/>
          <a:ext cx="6102142" cy="1682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6571">
                  <a:extLst>
                    <a:ext uri="{9D8B030D-6E8A-4147-A177-3AD203B41FA5}">
                      <a16:colId xmlns:a16="http://schemas.microsoft.com/office/drawing/2014/main" val="4165315540"/>
                    </a:ext>
                  </a:extLst>
                </a:gridCol>
                <a:gridCol w="328276">
                  <a:extLst>
                    <a:ext uri="{9D8B030D-6E8A-4147-A177-3AD203B41FA5}">
                      <a16:colId xmlns:a16="http://schemas.microsoft.com/office/drawing/2014/main" val="2194534844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4073595293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2261096570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562842925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4081483240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170121904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555152556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263679489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495330708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107156812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560120895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690104466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3793545918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3146337189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386561863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671627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3671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3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170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399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70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27242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E6FF4A6B-5656-4E7F-B28E-876563D7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6" y="161929"/>
            <a:ext cx="11870267" cy="1325563"/>
          </a:xfrm>
        </p:spPr>
        <p:txBody>
          <a:bodyPr/>
          <a:lstStyle/>
          <a:p>
            <a:pPr algn="ctr"/>
            <a:r>
              <a:rPr lang="en-US" b="1" dirty="0"/>
              <a:t>Player 1’s Decision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EDF0F-BF06-4899-80A9-A3C3C2384B20}"/>
              </a:ext>
            </a:extLst>
          </p:cNvPr>
          <p:cNvSpPr/>
          <p:nvPr/>
        </p:nvSpPr>
        <p:spPr>
          <a:xfrm>
            <a:off x="3036457" y="2115879"/>
            <a:ext cx="6119086" cy="2704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F15682-A37D-4333-A7C1-D964EACB4A9A}"/>
              </a:ext>
            </a:extLst>
          </p:cNvPr>
          <p:cNvSpPr txBox="1"/>
          <p:nvPr/>
        </p:nvSpPr>
        <p:spPr>
          <a:xfrm>
            <a:off x="384609" y="4080980"/>
            <a:ext cx="6094140" cy="470000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Player 1: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A078545-E1AF-4B1D-BCE9-AA1D0CB311C2}"/>
              </a:ext>
            </a:extLst>
          </p:cNvPr>
          <p:cNvSpPr/>
          <p:nvPr/>
        </p:nvSpPr>
        <p:spPr>
          <a:xfrm>
            <a:off x="7995424" y="2054547"/>
            <a:ext cx="401444" cy="39314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8F4F482-2FDB-444E-A34F-7FC932599452}"/>
              </a:ext>
            </a:extLst>
          </p:cNvPr>
          <p:cNvSpPr/>
          <p:nvPr/>
        </p:nvSpPr>
        <p:spPr>
          <a:xfrm>
            <a:off x="6040351" y="3337494"/>
            <a:ext cx="401444" cy="39314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42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12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7766" y="3018651"/>
            <a:ext cx="11049000" cy="4026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Output of strategy 4 = 0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Output of strategy 12 = 0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Since the virtual score of strategy 4 is higher (7 &gt; 3), decision of player 1 = 0.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Output of strategy 8 = 1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Output of strategy 16 = 1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Since the virtual score of strategy 8 is higher (8 &gt; 7), decision of player 1 = 1.</a:t>
            </a:r>
          </a:p>
          <a:p>
            <a:pPr algn="just">
              <a:lnSpc>
                <a:spcPct val="107000"/>
              </a:lnSpc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Since 0 is the minority, player 2 wins, and players 1 and 3 lose.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EEE382-9463-4454-89E9-C66059DC1969}"/>
              </a:ext>
            </a:extLst>
          </p:cNvPr>
          <p:cNvGraphicFramePr>
            <a:graphicFrameLocks noGrp="1"/>
          </p:cNvGraphicFramePr>
          <p:nvPr/>
        </p:nvGraphicFramePr>
        <p:xfrm>
          <a:off x="3036457" y="1274439"/>
          <a:ext cx="6102142" cy="1682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6571">
                  <a:extLst>
                    <a:ext uri="{9D8B030D-6E8A-4147-A177-3AD203B41FA5}">
                      <a16:colId xmlns:a16="http://schemas.microsoft.com/office/drawing/2014/main" val="4165315540"/>
                    </a:ext>
                  </a:extLst>
                </a:gridCol>
                <a:gridCol w="328276">
                  <a:extLst>
                    <a:ext uri="{9D8B030D-6E8A-4147-A177-3AD203B41FA5}">
                      <a16:colId xmlns:a16="http://schemas.microsoft.com/office/drawing/2014/main" val="2194534844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4073595293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2261096570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562842925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4081483240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170121904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555152556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263679489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495330708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107156812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560120895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690104466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3793545918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3146337189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386561863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671627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3671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3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170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399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70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27242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E6FF4A6B-5656-4E7F-B28E-876563D7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6" y="161929"/>
            <a:ext cx="11870267" cy="1325563"/>
          </a:xfrm>
        </p:spPr>
        <p:txBody>
          <a:bodyPr/>
          <a:lstStyle/>
          <a:p>
            <a:pPr algn="ctr"/>
            <a:r>
              <a:rPr lang="en-US" b="1" dirty="0"/>
              <a:t>Player 2 and 3’s Decision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EDF0F-BF06-4899-80A9-A3C3C2384B20}"/>
              </a:ext>
            </a:extLst>
          </p:cNvPr>
          <p:cNvSpPr/>
          <p:nvPr/>
        </p:nvSpPr>
        <p:spPr>
          <a:xfrm>
            <a:off x="3036457" y="2115879"/>
            <a:ext cx="6119086" cy="2704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6B441-DBC4-405E-9537-9235A792DDDA}"/>
              </a:ext>
            </a:extLst>
          </p:cNvPr>
          <p:cNvSpPr txBox="1"/>
          <p:nvPr/>
        </p:nvSpPr>
        <p:spPr>
          <a:xfrm>
            <a:off x="444566" y="3010571"/>
            <a:ext cx="6094140" cy="47000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Player 2: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C5AFE8-DE6D-496A-8B7F-F4E8762C65F7}"/>
              </a:ext>
            </a:extLst>
          </p:cNvPr>
          <p:cNvSpPr txBox="1"/>
          <p:nvPr/>
        </p:nvSpPr>
        <p:spPr>
          <a:xfrm>
            <a:off x="444566" y="4601118"/>
            <a:ext cx="6094140" cy="470000"/>
          </a:xfrm>
          <a:prstGeom prst="rect">
            <a:avLst/>
          </a:prstGeom>
          <a:solidFill>
            <a:srgbClr val="CCFFCC"/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Player 3:</a:t>
            </a:r>
            <a:endParaRPr lang="en-US" sz="2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DA1DAB6-3F12-45F9-9F69-C1F5C5045F21}"/>
              </a:ext>
            </a:extLst>
          </p:cNvPr>
          <p:cNvSpPr/>
          <p:nvPr/>
        </p:nvSpPr>
        <p:spPr>
          <a:xfrm>
            <a:off x="7995424" y="2054547"/>
            <a:ext cx="401444" cy="39314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6B2CEF-4F16-47C8-BF48-96B520A626B7}"/>
              </a:ext>
            </a:extLst>
          </p:cNvPr>
          <p:cNvSpPr/>
          <p:nvPr/>
        </p:nvSpPr>
        <p:spPr>
          <a:xfrm>
            <a:off x="4344450" y="2062304"/>
            <a:ext cx="401444" cy="39314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DAEA42-E4D8-4AD9-85F1-652EB93EADD4}"/>
              </a:ext>
            </a:extLst>
          </p:cNvPr>
          <p:cNvSpPr/>
          <p:nvPr/>
        </p:nvSpPr>
        <p:spPr>
          <a:xfrm>
            <a:off x="5761544" y="2058910"/>
            <a:ext cx="401444" cy="39314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9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BEDC72-DAD5-494C-94EA-1E3607C52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645120"/>
              </p:ext>
            </p:extLst>
          </p:nvPr>
        </p:nvGraphicFramePr>
        <p:xfrm>
          <a:off x="3044929" y="2307080"/>
          <a:ext cx="6102142" cy="2243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6571">
                  <a:extLst>
                    <a:ext uri="{9D8B030D-6E8A-4147-A177-3AD203B41FA5}">
                      <a16:colId xmlns:a16="http://schemas.microsoft.com/office/drawing/2014/main" val="1995855959"/>
                    </a:ext>
                  </a:extLst>
                </a:gridCol>
                <a:gridCol w="328276">
                  <a:extLst>
                    <a:ext uri="{9D8B030D-6E8A-4147-A177-3AD203B41FA5}">
                      <a16:colId xmlns:a16="http://schemas.microsoft.com/office/drawing/2014/main" val="1647897229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696054011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695566626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1693544443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549653699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3467082253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36734402"/>
                    </a:ext>
                  </a:extLst>
                </a:gridCol>
                <a:gridCol w="327623">
                  <a:extLst>
                    <a:ext uri="{9D8B030D-6E8A-4147-A177-3AD203B41FA5}">
                      <a16:colId xmlns:a16="http://schemas.microsoft.com/office/drawing/2014/main" val="4181167910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3433440046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2383082361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3332429629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051205515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835753180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3695685146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2159394098"/>
                    </a:ext>
                  </a:extLst>
                </a:gridCol>
                <a:gridCol w="375918">
                  <a:extLst>
                    <a:ext uri="{9D8B030D-6E8A-4147-A177-3AD203B41FA5}">
                      <a16:colId xmlns:a16="http://schemas.microsoft.com/office/drawing/2014/main" val="1465994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995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3358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263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190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1990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0114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441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9549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13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1500" y="1464344"/>
            <a:ext cx="1104900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 virtual scores of the 16 strategies are updated to those strategies predicting 0: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6FF4A6B-5656-4E7F-B28E-876563D7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6" y="161929"/>
            <a:ext cx="11870267" cy="1325563"/>
          </a:xfrm>
        </p:spPr>
        <p:txBody>
          <a:bodyPr/>
          <a:lstStyle/>
          <a:p>
            <a:pPr algn="ctr"/>
            <a:r>
              <a:rPr lang="en-US" b="1" dirty="0"/>
              <a:t>Virtual Score Update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EDF0F-BF06-4899-80A9-A3C3C2384B20}"/>
              </a:ext>
            </a:extLst>
          </p:cNvPr>
          <p:cNvSpPr/>
          <p:nvPr/>
        </p:nvSpPr>
        <p:spPr>
          <a:xfrm>
            <a:off x="3027985" y="3158518"/>
            <a:ext cx="6119086" cy="2704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026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</a:t>
            </a:r>
            <a:endParaRPr lang="en-US" b="1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14</a:t>
            </a:fld>
            <a:endParaRPr lang="en-US" sz="1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70858" y="1889756"/>
                <a:ext cx="10354733" cy="33195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number of buyers fluctuate around the 50%. Note that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random decisions, the standard deviation is expected to be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/4</m:t>
                        </m:r>
                      </m:e>
                    </m:rad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≈16 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=1,001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, and the standard deviation of the game is comparable or </a:t>
                </a: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even less 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Considering the buy/sell decisions as decisions to share resources (refer to the El </a:t>
                </a:r>
                <a:r>
                  <a:rPr lang="en-US" sz="2400" dirty="0" err="1">
                    <a:ea typeface="DengXian" panose="02010600030101010101" pitchFamily="2" charset="-122"/>
                    <a:cs typeface="Times New Roman" panose="02020603050405020304" pitchFamily="18" charset="0"/>
                  </a:rPr>
                  <a:t>Farol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bar problem), then deviations from 50% implies wastage, but the players (</a:t>
                </a: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selfish by definition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!) </a:t>
                </a: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self-organize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to share the limited available resources.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8" y="1889756"/>
                <a:ext cx="10354733" cy="3319563"/>
              </a:xfrm>
              <a:prstGeom prst="rect">
                <a:avLst/>
              </a:prstGeom>
              <a:blipFill>
                <a:blip r:embed="rId2"/>
                <a:stretch>
                  <a:fillRect l="-942" t="-1284" r="-1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361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72857"/>
            <a:ext cx="9144000" cy="712188"/>
          </a:xfrm>
        </p:spPr>
        <p:txBody>
          <a:bodyPr>
            <a:normAutofit/>
          </a:bodyPr>
          <a:lstStyle/>
          <a:p>
            <a:r>
              <a:rPr lang="en-US" sz="4400" b="1" dirty="0"/>
              <a:t>Minority Game and Arbitrage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7610" y="1566956"/>
            <a:ext cx="11220989" cy="4173446"/>
          </a:xfrm>
        </p:spPr>
        <p:txBody>
          <a:bodyPr>
            <a:norm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Suppose there is a strategy that has a higher probability of winning, then it will become active. It will become a majority strategy and will </a:t>
            </a:r>
            <a:r>
              <a:rPr lang="en-US" dirty="0">
                <a:solidFill>
                  <a:srgbClr val="FF000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no longer win</a:t>
            </a: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 finance, there are arbitrage opportunities. In an efficient market, traders will take advantage of the arbitrage opportunities, and the opportunities will disappear.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15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314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72857"/>
            <a:ext cx="9144000" cy="712188"/>
          </a:xfrm>
        </p:spPr>
        <p:txBody>
          <a:bodyPr>
            <a:normAutofit/>
          </a:bodyPr>
          <a:lstStyle/>
          <a:p>
            <a:r>
              <a:rPr lang="en-US" sz="4400" b="1" dirty="0"/>
              <a:t>Payoff Functions Favoring Small Minority</a:t>
            </a:r>
            <a:endParaRPr lang="en-US" sz="4000" b="1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27180" y="4746668"/>
                <a:ext cx="11220989" cy="1784761"/>
              </a:xfrm>
            </p:spPr>
            <p:txBody>
              <a:bodyPr>
                <a:normAutofit lnSpcReduction="10000"/>
              </a:bodyPr>
              <a:lstStyle/>
              <a:p>
                <a:pPr lvl="0" algn="l"/>
                <a:r>
                  <a:rPr lang="en-US" dirty="0"/>
                  <a:t>Consider the payoff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the minority size. The payoff increases with the margin of the minority. A mediocre win is less preferred to a win with wide margin.</a:t>
                </a:r>
              </a:p>
              <a:p>
                <a:pPr lvl="0" algn="l"/>
                <a:r>
                  <a:rPr lang="en-US" dirty="0"/>
                  <a:t>Result: Two-peaked histogram of attendance. This is another illustration of the self-organizing behavior of the game.</a:t>
                </a: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27180" y="4746668"/>
                <a:ext cx="11220989" cy="1784761"/>
              </a:xfrm>
              <a:blipFill>
                <a:blip r:embed="rId2"/>
                <a:stretch>
                  <a:fillRect l="-869" t="-6507" r="-163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16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26D12-3FD7-416D-82AF-FD2B56AC7E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03" y="1346167"/>
            <a:ext cx="4629796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46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49" y="12866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Other Statistics</a:t>
            </a:r>
            <a:endParaRPr lang="en-US" b="1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mtClean="0"/>
              <a:t>17</a:t>
            </a:fld>
            <a:endParaRPr lang="en-US"/>
          </a:p>
        </p:txBody>
      </p:sp>
      <p:sp>
        <p:nvSpPr>
          <p:cNvPr id="18" name="Subtitle 2"/>
          <p:cNvSpPr txBox="1">
            <a:spLocks/>
          </p:cNvSpPr>
          <p:nvPr/>
        </p:nvSpPr>
        <p:spPr>
          <a:xfrm>
            <a:off x="459207" y="5095281"/>
            <a:ext cx="10515600" cy="1479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7000"/>
              </a:lnSpc>
              <a:buNone/>
            </a:pPr>
            <a:r>
              <a:rPr lang="en-US" sz="2400" dirty="0"/>
              <a:t>Note that all strategies have similar performance in the t→∞ limit. The diversity of agents’ performance is less due to the existence of intrinsically good or bad strategies, but </a:t>
            </a:r>
            <a:r>
              <a:rPr lang="en-US" sz="2400" dirty="0">
                <a:solidFill>
                  <a:srgbClr val="FF0000"/>
                </a:solidFill>
              </a:rPr>
              <a:t>more due to the agents’ ability to adapt to changes</a:t>
            </a:r>
            <a:r>
              <a:rPr lang="en-US" sz="2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A7CC8E-04F5-4D02-AA0E-9D2A6176D1D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047" y="1082383"/>
            <a:ext cx="3081020" cy="2532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8552EF-B2FE-4A0E-AAFB-5B2E792ABCE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033" y="2620218"/>
            <a:ext cx="2962275" cy="2459355"/>
          </a:xfrm>
          <a:prstGeom prst="rect">
            <a:avLst/>
          </a:prstGeom>
        </p:spPr>
      </p:pic>
      <p:sp>
        <p:nvSpPr>
          <p:cNvPr id="10" name="Text Box 49">
            <a:extLst>
              <a:ext uri="{FF2B5EF4-FFF2-40B4-BE49-F238E27FC236}">
                <a16:creationId xmlns:a16="http://schemas.microsoft.com/office/drawing/2014/main" id="{EA5C7C1D-7441-443C-86D5-EA92CD036425}"/>
              </a:ext>
            </a:extLst>
          </p:cNvPr>
          <p:cNvSpPr txBox="1"/>
          <p:nvPr/>
        </p:nvSpPr>
        <p:spPr>
          <a:xfrm>
            <a:off x="9058274" y="2620218"/>
            <a:ext cx="2962275" cy="245935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Different distributions of the average value of all the strategies with increasing iterations (1000, 5000 and 10000).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0">
                <a:extLst>
                  <a:ext uri="{FF2B5EF4-FFF2-40B4-BE49-F238E27FC236}">
                    <a16:creationId xmlns:a16="http://schemas.microsoft.com/office/drawing/2014/main" id="{52D918EC-2806-45F5-8A84-5AEF4A9EA58C}"/>
                  </a:ext>
                </a:extLst>
              </p:cNvPr>
              <p:cNvSpPr txBox="1"/>
              <p:nvPr/>
            </p:nvSpPr>
            <p:spPr>
              <a:xfrm>
                <a:off x="171451" y="1078918"/>
                <a:ext cx="2518740" cy="2459355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Performance of the 3 best, the 3 worst and 3 randomly chosen players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= 1001,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= 10,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=5).</a:t>
                </a:r>
              </a:p>
            </p:txBody>
          </p:sp>
        </mc:Choice>
        <mc:Fallback xmlns="">
          <p:sp>
            <p:nvSpPr>
              <p:cNvPr id="8" name="Text Box 40">
                <a:extLst>
                  <a:ext uri="{FF2B5EF4-FFF2-40B4-BE49-F238E27FC236}">
                    <a16:creationId xmlns:a16="http://schemas.microsoft.com/office/drawing/2014/main" id="{52D918EC-2806-45F5-8A84-5AEF4A9EA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1" y="1078918"/>
                <a:ext cx="2518740" cy="2459355"/>
              </a:xfrm>
              <a:prstGeom prst="rect">
                <a:avLst/>
              </a:prstGeom>
              <a:blipFill>
                <a:blip r:embed="rId4"/>
                <a:stretch>
                  <a:fillRect l="-3623" t="-1733" r="-2899" b="-3960"/>
                </a:stretch>
              </a:blipFill>
              <a:ln w="635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5659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rmAutofit/>
          </a:bodyPr>
          <a:lstStyle/>
          <a:p>
            <a:r>
              <a:rPr lang="en-US" sz="4400" b="1" dirty="0"/>
              <a:t>4. Phases in the Minority Game</a:t>
            </a:r>
            <a:r>
              <a:rPr lang="en-US" sz="4400" b="1" baseline="30000" dirty="0"/>
              <a:t>5</a:t>
            </a:r>
            <a:endParaRPr lang="en-US" sz="40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18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F765DC-967F-4D5B-9479-D5F462376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885" y="1771873"/>
            <a:ext cx="3989627" cy="33151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CF7EAF-945B-4D60-A4A2-EE88C121A6BB}"/>
                  </a:ext>
                </a:extLst>
              </p:cNvPr>
              <p:cNvSpPr txBox="1"/>
              <p:nvPr/>
            </p:nvSpPr>
            <p:spPr>
              <a:xfrm>
                <a:off x="1202992" y="1923141"/>
                <a:ext cx="6098720" cy="28489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b="1" dirty="0">
                    <a:effectLst/>
                    <a:ea typeface="DengXian" panose="02010600030101010101" pitchFamily="2" charset="-122"/>
                  </a:rPr>
                  <a:t>Symmetric and asymmetric phases</a:t>
                </a:r>
                <a:endParaRPr lang="en-US" sz="2400" b="1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Note that the data points for various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(at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) fall on a nearly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universal curve 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being a function of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There is a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minimum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the curve near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≡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≈0.5.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It separates two different phases.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CF7EAF-945B-4D60-A4A2-EE88C121A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992" y="1923141"/>
                <a:ext cx="6098720" cy="2848985"/>
              </a:xfrm>
              <a:prstGeom prst="rect">
                <a:avLst/>
              </a:prstGeom>
              <a:blipFill>
                <a:blip r:embed="rId3"/>
                <a:stretch>
                  <a:fillRect l="-1499" t="-1496" r="-1499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783C19B-B345-4D6E-A8D3-A69FD4982124}"/>
              </a:ext>
            </a:extLst>
          </p:cNvPr>
          <p:cNvSpPr txBox="1"/>
          <p:nvPr/>
        </p:nvSpPr>
        <p:spPr>
          <a:xfrm>
            <a:off x="1202992" y="5797327"/>
            <a:ext cx="9786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aseline="300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5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Savit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R,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Manuca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R, and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Riolo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R (1999) Adaptive competition, market efficiency, and phase transitions.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Phys Rev Lett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82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2203-2206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14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1431715" y="500662"/>
                <a:ext cx="9144000" cy="712188"/>
              </a:xfrm>
            </p:spPr>
            <p:txBody>
              <a:bodyPr>
                <a:normAutofit/>
              </a:bodyPr>
              <a:lstStyle/>
              <a:p>
                <a:r>
                  <a:rPr lang="en-US" sz="4400" b="1" dirty="0"/>
                  <a:t>Symmetric Phase (</a:t>
                </a:r>
                <a14:m>
                  <m:oMath xmlns:m="http://schemas.openxmlformats.org/officeDocument/2006/math">
                    <m:r>
                      <a:rPr lang="en-US" sz="4400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4400" b="1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4400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1" i="1" dirty="0" err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400" b="1" i="1" dirty="0" err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4400" b="1" dirty="0"/>
                  <a:t>)</a:t>
                </a:r>
                <a:endParaRPr lang="en-US" sz="4000" b="1" baseline="30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431715" y="500662"/>
                <a:ext cx="9144000" cy="712188"/>
              </a:xfrm>
              <a:blipFill>
                <a:blip r:embed="rId2"/>
                <a:stretch>
                  <a:fillRect t="-24786" b="-4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19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293913" y="1256129"/>
                <a:ext cx="7429501" cy="5212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the time series generated by 101 players using strategies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=0.16⇒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/>
              </a:p>
              <a:p>
                <a:pPr marL="342900" indent="-342900">
                  <a:lnSpc>
                    <a:spcPct val="107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any strategy with memory ≤ 4, the history of minority groups contains </a:t>
                </a:r>
                <a:r>
                  <a:rPr lang="en-US" sz="2400" dirty="0">
                    <a:solidFill>
                      <a:srgbClr val="FF0000"/>
                    </a:solidFill>
                  </a:rPr>
                  <a:t>no predictive information </a:t>
                </a:r>
                <a:r>
                  <a:rPr lang="en-US" sz="2400" dirty="0"/>
                  <a:t>about which will be the minority group at the next time step.</a:t>
                </a:r>
              </a:p>
              <a:p>
                <a:pPr marL="342900" indent="-342900">
                  <a:lnSpc>
                    <a:spcPct val="107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Therefore, the market is </a:t>
                </a:r>
                <a:r>
                  <a:rPr lang="en-US" sz="2400" dirty="0">
                    <a:solidFill>
                      <a:srgbClr val="FF0000"/>
                    </a:solidFill>
                  </a:rPr>
                  <a:t>efficient</a:t>
                </a:r>
                <a:r>
                  <a:rPr lang="en-US" sz="2400" dirty="0"/>
                  <a:t>. No agents have a success rate better than 50%.</a:t>
                </a:r>
              </a:p>
              <a:p>
                <a:pPr marL="342900" marR="0" indent="-34290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There is information contained in 5-bit strings, but this information is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not available 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to the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agents.</a:t>
                </a:r>
              </a:p>
              <a:p>
                <a:pPr marL="342900" marR="0" indent="-34290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slope of the curve approaches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342900" marR="0" indent="-34290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implies that agents are making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correlated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decisions.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13" y="1256129"/>
                <a:ext cx="7429501" cy="5212068"/>
              </a:xfrm>
              <a:prstGeom prst="rect">
                <a:avLst/>
              </a:prstGeom>
              <a:blipFill>
                <a:blip r:embed="rId3"/>
                <a:stretch>
                  <a:fillRect l="-1066" t="-3509" r="-1395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1257BFC-6F3F-4C42-8BAF-5E12C6F3427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875" y="1212850"/>
            <a:ext cx="3676650" cy="473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26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1431715" y="500662"/>
                <a:ext cx="9144000" cy="712188"/>
              </a:xfrm>
            </p:spPr>
            <p:txBody>
              <a:bodyPr>
                <a:normAutofit/>
              </a:bodyPr>
              <a:lstStyle/>
              <a:p>
                <a:r>
                  <a:rPr lang="en-US" sz="4400" b="1" dirty="0"/>
                  <a:t>Asymmetric Phase (</a:t>
                </a:r>
                <a14:m>
                  <m:oMath xmlns:m="http://schemas.openxmlformats.org/officeDocument/2006/math">
                    <m:r>
                      <a:rPr lang="en-US" sz="4400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4400" b="1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4400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1" i="1" dirty="0" err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4400" b="1" i="1" dirty="0" err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4400" b="1" dirty="0"/>
                  <a:t>)</a:t>
                </a:r>
                <a:endParaRPr lang="en-US" sz="4000" b="1" baseline="30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431715" y="500662"/>
                <a:ext cx="9144000" cy="712188"/>
              </a:xfrm>
              <a:blipFill>
                <a:blip r:embed="rId2"/>
                <a:stretch>
                  <a:fillRect t="-24786" b="-4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20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47663" y="1808082"/>
                <a:ext cx="7429501" cy="2849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There is significant information available to the strategies of the agents. The market is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not efficient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342900" marR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There is an emergent coordination among the agents’ responses to reduce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to values below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1/4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(random fluctuations for agents making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independent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decisions).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</a:rPr>
                  <a:t> approaches 1/4 for large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</a:rPr>
                  <a:t> for fixed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</a:rPr>
                  <a:t>).</a:t>
                </a: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63" y="1808082"/>
                <a:ext cx="7429501" cy="2849947"/>
              </a:xfrm>
              <a:prstGeom prst="rect">
                <a:avLst/>
              </a:prstGeom>
              <a:blipFill>
                <a:blip r:embed="rId3"/>
                <a:stretch>
                  <a:fillRect l="-1066" t="-1499" b="-4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9437E06-3B63-4707-921F-497FC844267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062" y="1723344"/>
            <a:ext cx="372427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33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Autofit/>
          </a:bodyPr>
          <a:lstStyle/>
          <a:p>
            <a:r>
              <a:rPr lang="en-US" sz="4400" b="1" dirty="0"/>
              <a:t>Perspective from Growing Population (1)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21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886504" y="1811858"/>
                <a:ext cx="10380208" cy="3245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b="1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Asymmetric Phase</a:t>
                </a:r>
              </a:p>
              <a:p>
                <a:pPr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marR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When agents are few, the game is a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random choice game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∼1/4.</m:t>
                    </m:r>
                  </m:oMath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marR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marR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When agents are added, the fluctuations contain more refined information. The game is in the asymmetric phase. Knowing the history allows for a better-than-random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prediction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 The fluctuations decrease. Agents perform better. This continues until the fluctuations reach the minimum.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04" y="1811858"/>
                <a:ext cx="10380208" cy="3245119"/>
              </a:xfrm>
              <a:prstGeom prst="rect">
                <a:avLst/>
              </a:prstGeom>
              <a:blipFill>
                <a:blip r:embed="rId2"/>
                <a:stretch>
                  <a:fillRect l="-881" t="-1313" r="-1527" b="-3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2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715" y="500662"/>
            <a:ext cx="9144000" cy="712188"/>
          </a:xfrm>
        </p:spPr>
        <p:txBody>
          <a:bodyPr>
            <a:noAutofit/>
          </a:bodyPr>
          <a:lstStyle/>
          <a:p>
            <a:r>
              <a:rPr lang="en-US" sz="4400" b="1" dirty="0"/>
              <a:t>Perspective from Growing Population (2)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22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783774" y="1664897"/>
                <a:ext cx="10613569" cy="4575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b="1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Symmetric Phase</a:t>
                </a:r>
              </a:p>
              <a:p>
                <a:pPr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When the population increases further, the game enters 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crowded regime</a:t>
                </a:r>
                <a:r>
                  <a:rPr lang="en-US" sz="2400" dirty="0"/>
                  <a:t>. Agents making synchronized/correlated decisions, creating sizeable majorities.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correlated decisions result in an </a:t>
                </a:r>
                <a:r>
                  <a:rPr lang="en-US" sz="2400" dirty="0">
                    <a:solidFill>
                      <a:srgbClr val="FF0000"/>
                    </a:solidFill>
                  </a:rPr>
                  <a:t>unpredictable</a:t>
                </a:r>
                <a:r>
                  <a:rPr lang="en-US" sz="2400" dirty="0"/>
                  <a:t> game. This is similar to real financial markets in which all profitable opportunities would have been exploited and washed out.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-dependence of the variance provides a mechanism for the agent population to stay around 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most efficient state </a:t>
                </a:r>
                <a:r>
                  <a:rPr lang="en-US" sz="2400" dirty="0"/>
                  <a:t>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. 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 increases or decreases, the variance increases, and agents may leave or join the market.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74" y="1664897"/>
                <a:ext cx="10613569" cy="4575996"/>
              </a:xfrm>
              <a:prstGeom prst="rect">
                <a:avLst/>
              </a:prstGeom>
              <a:blipFill>
                <a:blip r:embed="rId2"/>
                <a:stretch>
                  <a:fillRect l="-919" t="-932" r="-689" b="-19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851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ea typeface="DengXian" panose="02010600030101010101" pitchFamily="2" charset="-122"/>
              </a:rPr>
              <a:t>Other Versions of the Minority Game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23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18975" y="1313944"/>
                <a:ext cx="5986031" cy="32362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b="1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(1) Exogenous Inputs</a:t>
                </a:r>
              </a:p>
              <a:p>
                <a:pPr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Cavagna</a:t>
                </a:r>
                <a:r>
                  <a:rPr lang="en-US" sz="2400" baseline="300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found that the dynamical behavior of the minority game is largely unaffected if the dynamics of the history is replaced by a history randomly drawn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 dirty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dirty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 states. That is,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endogenous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information is replaced by </a:t>
                </a:r>
                <a:r>
                  <a:rPr lang="en-US" sz="2400" dirty="0">
                    <a:solidFill>
                      <a:srgbClr val="FF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exogenous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information.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5" y="1313944"/>
                <a:ext cx="5986031" cy="3236207"/>
              </a:xfrm>
              <a:prstGeom prst="rect">
                <a:avLst/>
              </a:prstGeom>
              <a:blipFill>
                <a:blip r:embed="rId2"/>
                <a:stretch>
                  <a:fillRect l="-1527" t="-1321" r="-2648" b="-3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F36280A-1694-4235-A0AF-301283321B6B}"/>
              </a:ext>
            </a:extLst>
          </p:cNvPr>
          <p:cNvSpPr txBox="1"/>
          <p:nvPr/>
        </p:nvSpPr>
        <p:spPr>
          <a:xfrm>
            <a:off x="838200" y="6151256"/>
            <a:ext cx="9911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aseline="30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Cavagna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A (1999) Irrelevance of memory in the minority game.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Phys Rev E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59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R3783-R3786.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1E042-6FB8-4267-9A38-645C87226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30" y="1212850"/>
            <a:ext cx="3600953" cy="31817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BC395B-019E-4412-A875-F3283F9BE1F1}"/>
                  </a:ext>
                </a:extLst>
              </p:cNvPr>
              <p:cNvSpPr txBox="1"/>
              <p:nvPr/>
            </p:nvSpPr>
            <p:spPr>
              <a:xfrm>
                <a:off x="5826034" y="4394644"/>
                <a:ext cx="6065547" cy="165551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Note that the behaviors resemble those of the endogenous model. Also note that the variance increases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since more strategies owned by an agent cause more confusion.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BC395B-019E-4412-A875-F3283F9BE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034" y="4394644"/>
                <a:ext cx="6065547" cy="1655518"/>
              </a:xfrm>
              <a:prstGeom prst="rect">
                <a:avLst/>
              </a:prstGeom>
              <a:blipFill>
                <a:blip r:embed="rId4"/>
                <a:stretch>
                  <a:fillRect l="-1505" t="-2198" r="-2106" b="-7326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620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ea typeface="DengXian" panose="02010600030101010101" pitchFamily="2" charset="-122"/>
              </a:rPr>
              <a:t>(2) Linear Scores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24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52836" y="1264371"/>
                <a:ext cx="11355954" cy="4851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behavior of the game is qualitatively the same if the scores of the agents and the virtual scores of the strategies are replaced by </a:t>
                </a:r>
                <a:r>
                  <a:rPr lang="en-US" sz="2400" dirty="0">
                    <a:solidFill>
                      <a:srgbClr val="FF0000"/>
                    </a:solidFill>
                  </a:rPr>
                  <a:t>linear scores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r>
                  <a:rPr lang="en-US" sz="2400" dirty="0"/>
                  <a:t> be the response of strategy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of agent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at time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when the exogenous input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 sz="2400" dirty="0"/>
                  <a:t> represent buy and sell respectively.)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be 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excess demand</a:t>
                </a:r>
                <a:r>
                  <a:rPr lang="en-US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the active strategy of agent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at time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be the virtual score of strategy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of agent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at time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Then its updating rule is</a:t>
                </a:r>
              </a:p>
              <a:p>
                <a:pPr algn="ctr"/>
                <a:r>
                  <a:rPr lang="en-US" sz="2400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 The strategy is rewarded when it predicts correctly the minority sign, that is,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sign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and penalized otherwise.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6" y="1264371"/>
                <a:ext cx="11355954" cy="4851713"/>
              </a:xfrm>
              <a:prstGeom prst="rect">
                <a:avLst/>
              </a:prstGeom>
              <a:blipFill>
                <a:blip r:embed="rId2"/>
                <a:stretch>
                  <a:fillRect l="-859" t="-1005" b="-1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506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500662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ea typeface="DengXian" panose="02010600030101010101" pitchFamily="2" charset="-122"/>
              </a:rPr>
              <a:t>(3) Adding Noises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25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352836" y="1229179"/>
                <a:ext cx="11355954" cy="3777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deterministic decision of agent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namely,</a:t>
                </a: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s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func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replaced by</a:t>
                </a:r>
                <a:r>
                  <a:rPr lang="en-US" sz="2400" baseline="300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7</a:t>
                </a:r>
              </a:p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Prob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Γ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</m:e>
                        </m:nary>
                      </m:den>
                    </m:f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This is Gibbs distribution.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inverse noise temperature.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6" y="1229179"/>
                <a:ext cx="11355954" cy="3777765"/>
              </a:xfrm>
              <a:prstGeom prst="rect">
                <a:avLst/>
              </a:prstGeom>
              <a:blipFill>
                <a:blip r:embed="rId2"/>
                <a:stretch>
                  <a:fillRect l="-859" t="-1131" b="-2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E45AD04-0375-44C2-A74B-1B5927D3E786}"/>
              </a:ext>
            </a:extLst>
          </p:cNvPr>
          <p:cNvSpPr txBox="1"/>
          <p:nvPr/>
        </p:nvSpPr>
        <p:spPr>
          <a:xfrm>
            <a:off x="838200" y="5710019"/>
            <a:ext cx="9787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aseline="30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Cavagna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A, </a:t>
            </a:r>
            <a:r>
              <a:rPr lang="en-US" sz="1800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Garrahan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J, </a:t>
            </a:r>
            <a:r>
              <a:rPr lang="en-US" sz="1800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Giardina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I, and Sherrington D (1999) Thermal model for adaptive competition in a market. </a:t>
            </a:r>
            <a:r>
              <a:rPr lang="en-US" sz="1800" i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Phys Rev Lett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83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4429-4432.</a:t>
            </a:r>
          </a:p>
        </p:txBody>
      </p:sp>
    </p:spTree>
    <p:extLst>
      <p:ext uri="{BB962C8B-B14F-4D97-AF65-F5344CB8AC3E}">
        <p14:creationId xmlns:p14="http://schemas.microsoft.com/office/powerpoint/2010/main" val="4237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748" y="353540"/>
            <a:ext cx="10298130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ea typeface="DengXian" panose="02010600030101010101" pitchFamily="2" charset="-122"/>
              </a:rPr>
              <a:t>Minority Game as a Minimization Problem</a:t>
            </a:r>
            <a:r>
              <a:rPr lang="en-US" sz="4400" b="1" baseline="30000" dirty="0">
                <a:effectLst/>
                <a:ea typeface="DengXian" panose="02010600030101010101" pitchFamily="2" charset="-122"/>
              </a:rPr>
              <a:t>8</a:t>
            </a:r>
            <a:endParaRPr lang="en-US" sz="4400" b="1" baseline="30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26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/>
              <p:nvPr/>
            </p:nvSpPr>
            <p:spPr>
              <a:xfrm>
                <a:off x="418023" y="1092362"/>
                <a:ext cx="11355954" cy="4930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By 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considering the version of the Minority Game with exogenous inputs, linear scores, and adding noises, it was shown that the game is self-organizing to reach the state od minimum </a:t>
                </a:r>
                <a:r>
                  <a:rPr lang="en-US" sz="2400" dirty="0">
                    <a:solidFill>
                      <a:srgbClr val="FF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rPr>
                  <a:t>predictability</a:t>
                </a: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predictability is defined as</a:t>
                </a:r>
              </a:p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In the expression above,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excess demand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decision of agent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when she adopts strategy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responding to the input state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d>
                      <m:d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∈{0,⋯,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−1}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at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2400" b="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angular bracket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⟨⋅⟩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represents average over time. The overbar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⋅</m:t>
                        </m:r>
                      </m:e>
                    </m:acc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represents average over input states.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/>
                  <a:t>Furthermore, the theoretical critical point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=0.3374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>
                  <a:effectLst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AB38EC-3B85-462C-BDDE-02E55871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23" y="1092362"/>
                <a:ext cx="11355954" cy="4930581"/>
              </a:xfrm>
              <a:prstGeom prst="rect">
                <a:avLst/>
              </a:prstGeom>
              <a:blipFill>
                <a:blip r:embed="rId2"/>
                <a:stretch>
                  <a:fillRect l="-859" t="-865" r="-967" b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D23F467-70B8-416B-ADEB-3842BA1604BD}"/>
              </a:ext>
            </a:extLst>
          </p:cNvPr>
          <p:cNvSpPr txBox="1"/>
          <p:nvPr/>
        </p:nvSpPr>
        <p:spPr>
          <a:xfrm>
            <a:off x="609600" y="6206226"/>
            <a:ext cx="9787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aseline="30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baseline="30000" dirty="0"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Challet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D, Marsili M, and </a:t>
            </a:r>
            <a:r>
              <a:rPr lang="en-US" sz="1800" dirty="0" err="1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Zecchina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R (2000) Statistical </a:t>
            </a: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mechanics of systems with heterogeneous </a:t>
            </a:r>
            <a:r>
              <a:rPr lang="en-US" dirty="0" err="1">
                <a:ea typeface="DengXian" panose="02010600030101010101" pitchFamily="2" charset="-122"/>
                <a:cs typeface="Times New Roman" panose="02020603050405020304" pitchFamily="18" charset="0"/>
              </a:rPr>
              <a:t>agetns</a:t>
            </a: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: minority games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US" sz="1800" i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Phys Rev Lett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84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ea typeface="DengXian" panose="02010600030101010101" pitchFamily="2" charset="-122"/>
                <a:cs typeface="Times New Roman" panose="02020603050405020304" pitchFamily="18" charset="0"/>
              </a:rPr>
              <a:t>1824</a:t>
            </a:r>
            <a:r>
              <a:rPr lang="en-US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-1827.</a:t>
            </a:r>
          </a:p>
        </p:txBody>
      </p:sp>
    </p:spTree>
    <p:extLst>
      <p:ext uri="{BB962C8B-B14F-4D97-AF65-F5344CB8AC3E}">
        <p14:creationId xmlns:p14="http://schemas.microsoft.com/office/powerpoint/2010/main" val="2072956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20F0-B604-CB38-6BE2-DBAC2B154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916F-97E6-F3D3-445E-2E48B7A4D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81" y="353540"/>
            <a:ext cx="10892229" cy="712188"/>
          </a:xfrm>
        </p:spPr>
        <p:txBody>
          <a:bodyPr>
            <a:noAutofit/>
          </a:bodyPr>
          <a:lstStyle/>
          <a:p>
            <a:r>
              <a:rPr lang="en-US" sz="4400" b="1" dirty="0">
                <a:effectLst/>
                <a:ea typeface="DengXian" panose="02010600030101010101" pitchFamily="2" charset="-122"/>
              </a:rPr>
              <a:t>Reflection from the Machine Learning Viewpoint</a:t>
            </a:r>
            <a:endParaRPr lang="en-US" sz="4400" b="1" baseline="30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529D1-A110-2DDD-A596-B70EC089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FEB5B-16A8-4DEE-BB2E-0D48B630DA04}" type="slidenum">
              <a:rPr lang="en-US" sz="1400" smtClean="0">
                <a:solidFill>
                  <a:schemeClr val="tx1"/>
                </a:solidFill>
              </a:rPr>
              <a:t>27</a:t>
            </a:fld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C7210D-AD7B-E5FB-D2D2-95664FD6C169}"/>
                  </a:ext>
                </a:extLst>
              </p:cNvPr>
              <p:cNvSpPr txBox="1"/>
              <p:nvPr/>
            </p:nvSpPr>
            <p:spPr>
              <a:xfrm>
                <a:off x="418023" y="1092362"/>
                <a:ext cx="11355954" cy="2049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entire population can be considered as a machine trying to reduce the predictability of the system.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available number of historical examples for the population to learn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number of tunable parameters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task is learned best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C7210D-AD7B-E5FB-D2D2-95664FD6C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23" y="1092362"/>
                <a:ext cx="11355954" cy="2049728"/>
              </a:xfrm>
              <a:prstGeom prst="rect">
                <a:avLst/>
              </a:prstGeom>
              <a:blipFill>
                <a:blip r:embed="rId2"/>
                <a:stretch>
                  <a:fillRect l="-859" t="-2083" r="-859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720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7058</TotalTime>
  <Words>2891</Words>
  <Application>Microsoft Office PowerPoint</Application>
  <PresentationFormat>Widescreen</PresentationFormat>
  <Paragraphs>654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DengXian</vt:lpstr>
      <vt:lpstr>Arial</vt:lpstr>
      <vt:lpstr>Calibri</vt:lpstr>
      <vt:lpstr>Calibri Light</vt:lpstr>
      <vt:lpstr>Cambria Math</vt:lpstr>
      <vt:lpstr>Times New Roman</vt:lpstr>
      <vt:lpstr>Office Theme</vt:lpstr>
      <vt:lpstr>MSDM 5003 Lecture 12 20 November 2025  Agent-Based Models</vt:lpstr>
      <vt:lpstr>1. Game Theory Models</vt:lpstr>
      <vt:lpstr>Game Theory Models</vt:lpstr>
      <vt:lpstr>2. El Farol Bar Problem2</vt:lpstr>
      <vt:lpstr>Bounded Rationality</vt:lpstr>
      <vt:lpstr>Computer Experiment</vt:lpstr>
      <vt:lpstr>Self-Organization</vt:lpstr>
      <vt:lpstr>3. Minority Game3,4</vt:lpstr>
      <vt:lpstr>Decision Making</vt:lpstr>
      <vt:lpstr>Example</vt:lpstr>
      <vt:lpstr>Player 1’s Decision</vt:lpstr>
      <vt:lpstr>Player 2 and 3’s Decision</vt:lpstr>
      <vt:lpstr>Virtual Score Update</vt:lpstr>
      <vt:lpstr>Results</vt:lpstr>
      <vt:lpstr>Minority Game and Arbitrage</vt:lpstr>
      <vt:lpstr>Payoff Functions Favoring Small Minority</vt:lpstr>
      <vt:lpstr>Other Statistics</vt:lpstr>
      <vt:lpstr>4. Phases in the Minority Game5</vt:lpstr>
      <vt:lpstr>Symmetric Phase (m&lt;m_c)</vt:lpstr>
      <vt:lpstr>Asymmetric Phase (m&gt;m_c)</vt:lpstr>
      <vt:lpstr>Perspective from Growing Population (1)</vt:lpstr>
      <vt:lpstr>Perspective from Growing Population (2)</vt:lpstr>
      <vt:lpstr>Other Versions of the Minority Game</vt:lpstr>
      <vt:lpstr>(2) Linear Scores</vt:lpstr>
      <vt:lpstr>(3) Adding Noises</vt:lpstr>
      <vt:lpstr>Minority Game as a Minimization Problem8</vt:lpstr>
      <vt:lpstr>Reflection from the Machine Learning Viewpoint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MSDM 5003 Lecture 8  Power Laws 30 October 2020</dc:title>
  <dc:creator>Michael K Y WONG</dc:creator>
  <cp:lastModifiedBy>Michael K Y WONG</cp:lastModifiedBy>
  <cp:revision>202</cp:revision>
  <dcterms:created xsi:type="dcterms:W3CDTF">2020-10-26T08:36:08Z</dcterms:created>
  <dcterms:modified xsi:type="dcterms:W3CDTF">2025-11-17T14:51:16Z</dcterms:modified>
</cp:coreProperties>
</file>