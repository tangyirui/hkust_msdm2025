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1"/>
  </p:sldMasterIdLst>
  <p:notesMasterIdLst>
    <p:notesMasterId r:id="rId8"/>
  </p:notesMasterIdLst>
  <p:handoutMasterIdLst>
    <p:handoutMasterId r:id="rId9"/>
  </p:handoutMasterIdLst>
  <p:sldIdLst>
    <p:sldId id="381" r:id="rId2"/>
    <p:sldId id="372" r:id="rId3"/>
    <p:sldId id="403" r:id="rId4"/>
    <p:sldId id="373" r:id="rId5"/>
    <p:sldId id="402" r:id="rId6"/>
    <p:sldId id="404" r:id="rId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BCC9E4"/>
    <a:srgbClr val="006666"/>
    <a:srgbClr val="009999"/>
    <a:srgbClr val="FFCCFF"/>
    <a:srgbClr val="FF0000"/>
    <a:srgbClr val="FFCC66"/>
    <a:srgbClr val="FFFF66"/>
    <a:srgbClr val="FFCC99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5" autoAdjust="0"/>
    <p:restoredTop sz="94782" autoAdjust="0"/>
  </p:normalViewPr>
  <p:slideViewPr>
    <p:cSldViewPr snapToGrid="0">
      <p:cViewPr varScale="1">
        <p:scale>
          <a:sx n="80" d="100"/>
          <a:sy n="80" d="100"/>
        </p:scale>
        <p:origin x="133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34" d="100"/>
        <a:sy n="134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20000"/>
              </a:spcBef>
              <a:defRPr sz="1200">
                <a:latin typeface="Times New Roman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20000"/>
              </a:spcBef>
              <a:defRPr sz="1200">
                <a:latin typeface="Times New Roman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20000"/>
              </a:spcBef>
              <a:defRPr sz="1200">
                <a:latin typeface="Times New Roman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286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20000"/>
              </a:spcBef>
              <a:defRPr sz="1200">
                <a:latin typeface="Times New Roman" pitchFamily="18" charset="0"/>
              </a:defRPr>
            </a:lvl1pPr>
          </a:lstStyle>
          <a:p>
            <a:fld id="{DFD3B866-D8E9-40B3-B90D-60DE41DFC3C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73065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23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fld id="{D927074E-5E5D-4C1F-97AC-20A94DE0957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84376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2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52DB1-98FC-EABE-87EF-069523A9D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BA91C210-1E6F-0509-71E9-9361DAE75C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3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5AC9A8FD-3AB8-1192-0A32-DF5E9AF411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418D2D17-FDC0-DE78-9730-07D4D6D420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282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4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5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6061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B3CC3-2591-3F38-59A4-86D1F2BDC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EEAE1EDF-9909-CBBF-564A-1A0DEA791B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6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017D3354-62FF-BA53-DD6B-1B7941CD22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4531A2AE-13B6-CB95-60AC-3B7EE1FC9E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447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0610" name="Group 2"/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580611" name="Group 3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580612" name="Freeform 4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0613" name="Freeform 5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0614" name="Freeform 6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0615" name="Freeform 7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0616" name="Freeform 8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80617" name="Freeform 9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618" name="Freeform 10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906 h 1906"/>
                <a:gd name="T4" fmla="*/ 5740 w 5740"/>
                <a:gd name="T5" fmla="*/ 1906 h 1906"/>
                <a:gd name="T6" fmla="*/ 5740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80619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36725"/>
            <a:ext cx="7772400" cy="1920875"/>
          </a:xfrm>
        </p:spPr>
        <p:txBody>
          <a:bodyPr/>
          <a:lstStyle>
            <a:lvl1pPr>
              <a:defRPr sz="6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580620" name="Rectangle 1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580621" name="Rectangle 13"/>
          <p:cNvSpPr>
            <a:spLocks noGrp="1" noChangeArrowheads="1"/>
          </p:cNvSpPr>
          <p:nvPr>
            <p:ph type="dt" sz="quarter" idx="2"/>
          </p:nvPr>
        </p:nvSpPr>
        <p:spPr>
          <a:xfrm>
            <a:off x="457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80622" name="Rectangle 14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5157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80623" name="Rectangle 1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54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4275EF93-7C18-48A5-8351-AFEAC17FECB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30602D9-9302-4A50-95D0-CDC3384EEE1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2253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5EC7218-FB5C-4800-BD33-D53AC9BA118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5004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08E9AB3-3811-47CE-A2D2-C49B5400CB6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9403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5935C9E-B1D2-4853-B38F-82FAA8E22A8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161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A12B17B-E01D-4CEC-98D0-E1429A80711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0593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22E6CCC-599A-4314-85D2-A1BF51A7102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1909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759BF52-9517-47BE-BDD9-63388EA46D6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5528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55A8947-ACEE-45AB-AEC7-A6861EE72F1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4796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8B6436D-0598-4727-A5F6-2CCC7F41CCD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4061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BF02E00-FDFE-4923-8A3F-827323B2A22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40364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5157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7010400" y="6381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C7C187F2-0E06-40D0-8855-37C17089436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3124200" y="638175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91784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25157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7010400" y="6381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1DEE082F-283E-4D98-8BB1-6C2185D79E5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>
          <a:xfrm>
            <a:off x="3124200" y="638175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46847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5157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7010400" y="6381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10D4534A-65DB-4158-9AB1-310AB1ABB7A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3124200" y="638175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705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58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endParaRPr lang="en-US" altLang="en-US"/>
          </a:p>
        </p:txBody>
      </p:sp>
      <p:sp>
        <p:nvSpPr>
          <p:cNvPr id="579587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381750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7FE82E1C-73CE-44AC-A044-94B1ADEF7A8A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579588" name="Group 4"/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579589" name="Group 5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579590" name="Freeform 6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591" name="Freeform 7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592" name="Freeform 8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593" name="Freeform 9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594" name="Freeform 10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79595" name="Freeform 11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9596" name="Freeform 12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906 h 1906"/>
                <a:gd name="T4" fmla="*/ 5740 w 5740"/>
                <a:gd name="T5" fmla="*/ 1906 h 1906"/>
                <a:gd name="T6" fmla="*/ 5740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9597" name="Rectangle 13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579598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81750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/>
            </a:lvl1pPr>
          </a:lstStyle>
          <a:p>
            <a:endParaRPr lang="en-US" altLang="en-US"/>
          </a:p>
        </p:txBody>
      </p:sp>
      <p:sp>
        <p:nvSpPr>
          <p:cNvPr id="579599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20624" y="1381061"/>
            <a:ext cx="8229600" cy="2301591"/>
          </a:xfrm>
        </p:spPr>
        <p:txBody>
          <a:bodyPr/>
          <a:lstStyle/>
          <a:p>
            <a:r>
              <a:rPr lang="en-US" dirty="0">
                <a:effectLst/>
              </a:rPr>
              <a:t>Tutorial 12</a:t>
            </a:r>
            <a:br>
              <a:rPr lang="en-US" dirty="0">
                <a:effectLst/>
              </a:rPr>
            </a:br>
            <a:r>
              <a:rPr lang="en-US" dirty="0">
                <a:effectLst/>
              </a:rPr>
              <a:t>Portfolio Management Revisited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EE082F-283E-4D98-8BB1-6C2185D79E59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8832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266700" y="228600"/>
            <a:ext cx="8610600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chemeClr val="hlink"/>
                </a:solidFill>
              </a:rPr>
              <a:t>The Final Value of a Portfolio</a:t>
            </a:r>
            <a:endParaRPr lang="en-US" sz="2800" b="1" dirty="0">
              <a:solidFill>
                <a:schemeClr val="hlink"/>
              </a:solidFill>
            </a:endParaRPr>
          </a:p>
        </p:txBody>
      </p:sp>
      <p:sp>
        <p:nvSpPr>
          <p:cNvPr id="18437" name="Line 6"/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439" name="Text Box 12"/>
          <p:cNvSpPr txBox="1">
            <a:spLocks noChangeArrowheads="1"/>
          </p:cNvSpPr>
          <p:nvPr/>
        </p:nvSpPr>
        <p:spPr bwMode="auto">
          <a:xfrm>
            <a:off x="304800" y="1027113"/>
            <a:ext cx="845820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400" dirty="0"/>
              <a:t>When applying PCA to portfolio management of N stocks, we introduced 4 strategies that prescribe N-dimensional vectors quantifying the weights of the stocks. Their performances are tested when they are invested over a period.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In our example, we calculated the final value of the portfolio according to the following steps: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Use the strategy to determine the </a:t>
            </a:r>
            <a:r>
              <a:rPr lang="en-US" sz="2400" dirty="0">
                <a:solidFill>
                  <a:srgbClr val="FFCC00"/>
                </a:solidFill>
              </a:rPr>
              <a:t>weights</a:t>
            </a:r>
            <a:r>
              <a:rPr lang="en-US" sz="2400" dirty="0"/>
              <a:t> of the N stocks.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Divide the weights by the initial price to get the </a:t>
            </a:r>
            <a:r>
              <a:rPr lang="en-US" sz="2400" dirty="0">
                <a:solidFill>
                  <a:srgbClr val="FFCC00"/>
                </a:solidFill>
              </a:rPr>
              <a:t>volume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At the end of the period, multiply the volume by the </a:t>
            </a:r>
            <a:r>
              <a:rPr lang="en-US" sz="2400" dirty="0">
                <a:solidFill>
                  <a:srgbClr val="FFCC00"/>
                </a:solidFill>
              </a:rPr>
              <a:t>final price</a:t>
            </a:r>
            <a:r>
              <a:rPr lang="en-US" sz="2400" dirty="0"/>
              <a:t> to get the final value of each stock.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CC00"/>
                </a:solidFill>
              </a:rPr>
              <a:t>Add</a:t>
            </a:r>
            <a:r>
              <a:rPr lang="en-US" sz="2400" dirty="0"/>
              <a:t> the values of the stocks to get the final value of the portfolio.</a:t>
            </a:r>
          </a:p>
        </p:txBody>
      </p:sp>
    </p:spTree>
    <p:extLst>
      <p:ext uri="{BB962C8B-B14F-4D97-AF65-F5344CB8AC3E}">
        <p14:creationId xmlns:p14="http://schemas.microsoft.com/office/powerpoint/2010/main" val="572772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FA484-7E7E-46B5-7983-D2AB1CED1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>
            <a:extLst>
              <a:ext uri="{FF2B5EF4-FFF2-40B4-BE49-F238E27FC236}">
                <a16:creationId xmlns:a16="http://schemas.microsoft.com/office/drawing/2014/main" id="{64423103-36E8-49D4-5E7A-E8EDB731E7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8436" name="Rectangle 5">
            <a:extLst>
              <a:ext uri="{FF2B5EF4-FFF2-40B4-BE49-F238E27FC236}">
                <a16:creationId xmlns:a16="http://schemas.microsoft.com/office/drawing/2014/main" id="{1E08CB76-BB5A-5025-827F-A36D2F81C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" y="228600"/>
            <a:ext cx="8610600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chemeClr val="hlink"/>
                </a:solidFill>
              </a:rPr>
              <a:t>The Final Value of the Return</a:t>
            </a:r>
            <a:endParaRPr lang="en-US" sz="2800" b="1" dirty="0">
              <a:solidFill>
                <a:schemeClr val="hlink"/>
              </a:solidFill>
            </a:endParaRPr>
          </a:p>
        </p:txBody>
      </p:sp>
      <p:sp>
        <p:nvSpPr>
          <p:cNvPr id="18437" name="Line 6">
            <a:extLst>
              <a:ext uri="{FF2B5EF4-FFF2-40B4-BE49-F238E27FC236}">
                <a16:creationId xmlns:a16="http://schemas.microsoft.com/office/drawing/2014/main" id="{14427C22-E43A-8908-4F74-FBDEB98727D8}"/>
              </a:ext>
            </a:extLst>
          </p:cNvPr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39" name="Text Box 12">
                <a:extLst>
                  <a:ext uri="{FF2B5EF4-FFF2-40B4-BE49-F238E27FC236}">
                    <a16:creationId xmlns:a16="http://schemas.microsoft.com/office/drawing/2014/main" id="{52324764-BEE2-91B8-4649-1D85B46061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4800" y="1027113"/>
                <a:ext cx="8458200" cy="50981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sz="2400" dirty="0"/>
                  <a:t>A student calculated the final value of a portfolio by calculating the </a:t>
                </a:r>
                <a:r>
                  <a:rPr lang="en-US" sz="2400" dirty="0">
                    <a:solidFill>
                      <a:srgbClr val="FFCC00"/>
                    </a:solidFill>
                  </a:rPr>
                  <a:t>weighted average of the return </a:t>
                </a:r>
                <a:r>
                  <a:rPr lang="en-US" sz="2400" dirty="0">
                    <a:solidFill>
                      <a:schemeClr val="tx1"/>
                    </a:solidFill>
                  </a:rPr>
                  <a:t>according to the following steps:</a:t>
                </a:r>
              </a:p>
              <a:p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Use the strategy to determine the </a:t>
                </a:r>
                <a:r>
                  <a:rPr lang="en-US" sz="2400" dirty="0">
                    <a:solidFill>
                      <a:srgbClr val="FFCC00"/>
                    </a:solidFill>
                  </a:rPr>
                  <a:t>weights</a:t>
                </a:r>
                <a:r>
                  <a:rPr lang="en-US" sz="2400" dirty="0"/>
                  <a:t> of the N stocks.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Calculate the </a:t>
                </a:r>
                <a:r>
                  <a:rPr lang="en-US" sz="2400" dirty="0">
                    <a:solidFill>
                      <a:srgbClr val="FFCC00"/>
                    </a:solidFill>
                  </a:rPr>
                  <a:t>final return </a:t>
                </a:r>
                <a:r>
                  <a:rPr lang="en-US" sz="2400" dirty="0"/>
                  <a:t>of the stocks: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func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den>
                          </m:f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b="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Calculate the </a:t>
                </a:r>
                <a:r>
                  <a:rPr lang="en-US" sz="2400" dirty="0">
                    <a:solidFill>
                      <a:srgbClr val="FFCC00"/>
                    </a:solidFill>
                  </a:rPr>
                  <a:t>weighted average </a:t>
                </a:r>
                <a:r>
                  <a:rPr lang="en-US" sz="2400" dirty="0"/>
                  <a:t>of the returns: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tot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nary>
                      <m:r>
                        <a:rPr lang="en-US" sz="24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Convert the total return to the </a:t>
                </a:r>
                <a:r>
                  <a:rPr lang="en-US" sz="2400" dirty="0">
                    <a:solidFill>
                      <a:srgbClr val="FFCC00"/>
                    </a:solidFill>
                  </a:rPr>
                  <a:t>final value</a:t>
                </a:r>
                <a:r>
                  <a:rPr lang="en-US" sz="2400" dirty="0"/>
                  <a:t> of the portfolio: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Final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value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Initial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value</m:t>
                          </m:r>
                        </m:e>
                      </m:d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tot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439" name="Text Box 12">
                <a:extLst>
                  <a:ext uri="{FF2B5EF4-FFF2-40B4-BE49-F238E27FC236}">
                    <a16:creationId xmlns:a16="http://schemas.microsoft.com/office/drawing/2014/main" id="{52324764-BEE2-91B8-4649-1D85B46061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1027113"/>
                <a:ext cx="8458200" cy="5098191"/>
              </a:xfrm>
              <a:prstGeom prst="rect">
                <a:avLst/>
              </a:prstGeom>
              <a:blipFill>
                <a:blip r:embed="rId3"/>
                <a:stretch>
                  <a:fillRect l="-1081" t="-83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6004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266700" y="228600"/>
            <a:ext cx="8610600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hlink"/>
                </a:solidFill>
              </a:rPr>
              <a:t>Discussion</a:t>
            </a:r>
          </a:p>
        </p:txBody>
      </p:sp>
      <p:sp>
        <p:nvSpPr>
          <p:cNvPr id="18437" name="Line 6"/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439" name="Text Box 12"/>
          <p:cNvSpPr txBox="1">
            <a:spLocks noChangeArrowheads="1"/>
          </p:cNvSpPr>
          <p:nvPr/>
        </p:nvSpPr>
        <p:spPr bwMode="auto">
          <a:xfrm>
            <a:off x="304800" y="1027113"/>
            <a:ext cx="8458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400" dirty="0"/>
              <a:t>Does the two methods lead to the same results?</a:t>
            </a:r>
          </a:p>
        </p:txBody>
      </p:sp>
    </p:spTree>
    <p:extLst>
      <p:ext uri="{BB962C8B-B14F-4D97-AF65-F5344CB8AC3E}">
        <p14:creationId xmlns:p14="http://schemas.microsoft.com/office/powerpoint/2010/main" val="4232619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266700" y="228600"/>
            <a:ext cx="8610600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hlink"/>
                </a:solidFill>
              </a:rPr>
              <a:t>Example for One Stock</a:t>
            </a:r>
          </a:p>
        </p:txBody>
      </p:sp>
      <p:sp>
        <p:nvSpPr>
          <p:cNvPr id="18437" name="Line 6"/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439" name="Text Box 12"/>
          <p:cNvSpPr txBox="1">
            <a:spLocks noChangeArrowheads="1"/>
          </p:cNvSpPr>
          <p:nvPr/>
        </p:nvSpPr>
        <p:spPr bwMode="auto">
          <a:xfrm>
            <a:off x="304800" y="1027113"/>
            <a:ext cx="84582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400" dirty="0"/>
              <a:t>Suppose a stock has an initial price of $100.</a:t>
            </a:r>
          </a:p>
          <a:p>
            <a:r>
              <a:rPr lang="en-US" sz="2400" dirty="0"/>
              <a:t>At the end of one year, its price becomes $120.</a:t>
            </a:r>
          </a:p>
          <a:p>
            <a:endParaRPr lang="en-US" sz="2400" dirty="0"/>
          </a:p>
          <a:p>
            <a:r>
              <a:rPr lang="en-US" sz="2400" dirty="0"/>
              <a:t>Direct calculation of the final value =</a:t>
            </a:r>
          </a:p>
          <a:p>
            <a:endParaRPr lang="en-US" sz="2400" dirty="0"/>
          </a:p>
          <a:p>
            <a:r>
              <a:rPr lang="en-US" sz="2400" dirty="0"/>
              <a:t>First calculate the return =</a:t>
            </a:r>
          </a:p>
          <a:p>
            <a:r>
              <a:rPr lang="en-US" sz="2400" dirty="0"/>
              <a:t>Convert the return to final value =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65152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E7148-73FE-994A-C014-67BEB63C7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>
            <a:extLst>
              <a:ext uri="{FF2B5EF4-FFF2-40B4-BE49-F238E27FC236}">
                <a16:creationId xmlns:a16="http://schemas.microsoft.com/office/drawing/2014/main" id="{C4BCDDA7-C398-A0AD-ACEF-90BDE3454A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8436" name="Rectangle 5">
            <a:extLst>
              <a:ext uri="{FF2B5EF4-FFF2-40B4-BE49-F238E27FC236}">
                <a16:creationId xmlns:a16="http://schemas.microsoft.com/office/drawing/2014/main" id="{DFA0D9D8-6885-7D07-0C90-1813617AC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150" y="275734"/>
            <a:ext cx="8610600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hlink"/>
                </a:solidFill>
              </a:rPr>
              <a:t>Example for Two Stocks</a:t>
            </a:r>
          </a:p>
        </p:txBody>
      </p:sp>
      <p:sp>
        <p:nvSpPr>
          <p:cNvPr id="18437" name="Line 6">
            <a:extLst>
              <a:ext uri="{FF2B5EF4-FFF2-40B4-BE49-F238E27FC236}">
                <a16:creationId xmlns:a16="http://schemas.microsoft.com/office/drawing/2014/main" id="{64BC50B6-34C7-C865-A723-2B18D4D8F2E0}"/>
              </a:ext>
            </a:extLst>
          </p:cNvPr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439" name="Text Box 12">
            <a:extLst>
              <a:ext uri="{FF2B5EF4-FFF2-40B4-BE49-F238E27FC236}">
                <a16:creationId xmlns:a16="http://schemas.microsoft.com/office/drawing/2014/main" id="{95FA7696-5576-224F-70DB-32D24A6969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391" y="1027113"/>
            <a:ext cx="8714359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400" dirty="0"/>
              <a:t>Stocks 1 and 2 have initial prices of $100 and $200, resp.</a:t>
            </a:r>
          </a:p>
          <a:p>
            <a:r>
              <a:rPr lang="en-US" sz="2400" dirty="0"/>
              <a:t>A strategy assigns weights 0.6 and 0.4 to stocks 1 and 2, resp.</a:t>
            </a:r>
          </a:p>
          <a:p>
            <a:r>
              <a:rPr lang="en-US" sz="2400" dirty="0"/>
              <a:t>At the end of one year, the final prices of the stocks become $160 and $250, respectively.</a:t>
            </a:r>
          </a:p>
          <a:p>
            <a:endParaRPr lang="en-US" sz="2400" dirty="0"/>
          </a:p>
          <a:p>
            <a:r>
              <a:rPr lang="en-US" sz="2400" dirty="0"/>
              <a:t>Final value of the portfolio =Vo*[(0.6/100)(160)+(0.4/200)(250)]=V0*1.46</a:t>
            </a:r>
          </a:p>
          <a:p>
            <a:endParaRPr lang="en-US" sz="2400" dirty="0"/>
          </a:p>
          <a:p>
            <a:r>
              <a:rPr lang="en-US" sz="2400" dirty="0"/>
              <a:t>Return of stock 1 =ln(160/100)</a:t>
            </a:r>
          </a:p>
          <a:p>
            <a:r>
              <a:rPr lang="en-US" sz="2400" dirty="0"/>
              <a:t>Return of stock 2 =ln(250/200)</a:t>
            </a:r>
          </a:p>
          <a:p>
            <a:r>
              <a:rPr lang="en-US" sz="2400" dirty="0"/>
              <a:t>Weighted average of return =0.6ln(1.6)+0.4ln(1.25)=0.3713</a:t>
            </a:r>
          </a:p>
          <a:p>
            <a:endParaRPr lang="en-US" sz="2400" dirty="0"/>
          </a:p>
          <a:p>
            <a:r>
              <a:rPr lang="en-US" sz="2400" dirty="0"/>
              <a:t>Converted value of the portfolio =Vo*exp(</a:t>
            </a:r>
            <a:r>
              <a:rPr lang="en-US" altLang="zh-CN" sz="2400" dirty="0"/>
              <a:t>0.6ln(1.6)+0.4ln(</a:t>
            </a:r>
            <a:r>
              <a:rPr lang="en-US" altLang="zh-CN" sz="2400"/>
              <a:t>1.25)) = Vo*1.4459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305228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theme/theme1.xml><?xml version="1.0" encoding="utf-8"?>
<a:theme xmlns:a="http://schemas.openxmlformats.org/drawingml/2006/main" name="Stream">
  <a:themeElements>
    <a:clrScheme name="Stream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Stream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tream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eam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Stream</Template>
  <TotalTime>11625</TotalTime>
  <Words>410</Words>
  <Application>Microsoft Office PowerPoint</Application>
  <PresentationFormat>全屏显示(4:3)</PresentationFormat>
  <Paragraphs>53</Paragraphs>
  <Slides>6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Arial</vt:lpstr>
      <vt:lpstr>Cambria Math</vt:lpstr>
      <vt:lpstr>Garamond</vt:lpstr>
      <vt:lpstr>Times New Roman</vt:lpstr>
      <vt:lpstr>Wingdings</vt:lpstr>
      <vt:lpstr>Stream</vt:lpstr>
      <vt:lpstr>Tutorial 12 Portfolio Management Revisited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Preferred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Preferred Customer</dc:creator>
  <cp:lastModifiedBy>艺睿 唐</cp:lastModifiedBy>
  <cp:revision>362</cp:revision>
  <cp:lastPrinted>2001-04-05T18:48:46Z</cp:lastPrinted>
  <dcterms:created xsi:type="dcterms:W3CDTF">2001-03-29T17:58:54Z</dcterms:created>
  <dcterms:modified xsi:type="dcterms:W3CDTF">2025-11-20T13:49:13Z</dcterms:modified>
</cp:coreProperties>
</file>