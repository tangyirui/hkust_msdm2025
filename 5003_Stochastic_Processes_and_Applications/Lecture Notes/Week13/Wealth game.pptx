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23" r:id="rId2"/>
    <p:sldId id="322" r:id="rId3"/>
    <p:sldId id="324" r:id="rId4"/>
    <p:sldId id="337" r:id="rId5"/>
    <p:sldId id="325" r:id="rId6"/>
    <p:sldId id="326" r:id="rId7"/>
    <p:sldId id="327" r:id="rId8"/>
    <p:sldId id="338" r:id="rId9"/>
    <p:sldId id="328" r:id="rId10"/>
    <p:sldId id="330" r:id="rId11"/>
    <p:sldId id="340" r:id="rId12"/>
    <p:sldId id="331" r:id="rId13"/>
    <p:sldId id="332" r:id="rId14"/>
    <p:sldId id="333" r:id="rId15"/>
    <p:sldId id="341" r:id="rId16"/>
    <p:sldId id="342" r:id="rId17"/>
    <p:sldId id="343" r:id="rId18"/>
    <p:sldId id="34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  <a:srgbClr val="FF99FF"/>
    <a:srgbClr val="CCFFCC"/>
    <a:srgbClr val="FFFF9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4DDD6B-51B1-4BA4-9F00-AA5E544C5BDF}" v="1" dt="2025-11-24T16:00:16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6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K Y WONG" userId="f5f2c4cc-8781-4ae7-94a3-d45c3193875d" providerId="ADAL" clId="{5212DAFE-E703-4A3C-9F1B-76FCAF537850}"/>
    <pc:docChg chg="delSld modSld">
      <pc:chgData name="Michael K Y WONG" userId="f5f2c4cc-8781-4ae7-94a3-d45c3193875d" providerId="ADAL" clId="{5212DAFE-E703-4A3C-9F1B-76FCAF537850}" dt="2025-11-24T16:10:10.442" v="209" actId="20577"/>
      <pc:docMkLst>
        <pc:docMk/>
      </pc:docMkLst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56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58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60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61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63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64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65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66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68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70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74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75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77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79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89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92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95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97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98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299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300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301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302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303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307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308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309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310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311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312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315"/>
        </pc:sldMkLst>
      </pc:sldChg>
      <pc:sldChg chg="modSp mod">
        <pc:chgData name="Michael K Y WONG" userId="f5f2c4cc-8781-4ae7-94a3-d45c3193875d" providerId="ADAL" clId="{5212DAFE-E703-4A3C-9F1B-76FCAF537850}" dt="2025-11-24T15:32:37.232" v="16" actId="6549"/>
        <pc:sldMkLst>
          <pc:docMk/>
          <pc:sldMk cId="176814887" sldId="322"/>
        </pc:sldMkLst>
        <pc:spChg chg="mod">
          <ac:chgData name="Michael K Y WONG" userId="f5f2c4cc-8781-4ae7-94a3-d45c3193875d" providerId="ADAL" clId="{5212DAFE-E703-4A3C-9F1B-76FCAF537850}" dt="2025-11-24T15:32:37.232" v="16" actId="6549"/>
          <ac:spMkLst>
            <pc:docMk/>
            <pc:sldMk cId="176814887" sldId="322"/>
            <ac:spMk id="2" creationId="{00000000-0000-0000-0000-000000000000}"/>
          </ac:spMkLst>
        </pc:spChg>
      </pc:sldChg>
      <pc:sldChg chg="modSp mod">
        <pc:chgData name="Michael K Y WONG" userId="f5f2c4cc-8781-4ae7-94a3-d45c3193875d" providerId="ADAL" clId="{5212DAFE-E703-4A3C-9F1B-76FCAF537850}" dt="2025-11-24T15:31:43.279" v="13" actId="1076"/>
        <pc:sldMkLst>
          <pc:docMk/>
          <pc:sldMk cId="807326534" sldId="323"/>
        </pc:sldMkLst>
        <pc:spChg chg="mod">
          <ac:chgData name="Michael K Y WONG" userId="f5f2c4cc-8781-4ae7-94a3-d45c3193875d" providerId="ADAL" clId="{5212DAFE-E703-4A3C-9F1B-76FCAF537850}" dt="2025-11-24T15:31:43.279" v="13" actId="1076"/>
          <ac:spMkLst>
            <pc:docMk/>
            <pc:sldMk cId="807326534" sldId="323"/>
            <ac:spMk id="2" creationId="{00000000-0000-0000-0000-000000000000}"/>
          </ac:spMkLst>
        </pc:spChg>
        <pc:spChg chg="mod">
          <ac:chgData name="Michael K Y WONG" userId="f5f2c4cc-8781-4ae7-94a3-d45c3193875d" providerId="ADAL" clId="{5212DAFE-E703-4A3C-9F1B-76FCAF537850}" dt="2025-11-24T15:31:37.121" v="12" actId="1076"/>
          <ac:spMkLst>
            <pc:docMk/>
            <pc:sldMk cId="807326534" sldId="323"/>
            <ac:spMk id="3" creationId="{00000000-0000-0000-0000-000000000000}"/>
          </ac:spMkLst>
        </pc:spChg>
      </pc:sldChg>
      <pc:sldChg chg="modSp mod">
        <pc:chgData name="Michael K Y WONG" userId="f5f2c4cc-8781-4ae7-94a3-d45c3193875d" providerId="ADAL" clId="{5212DAFE-E703-4A3C-9F1B-76FCAF537850}" dt="2025-11-24T16:04:37.661" v="199" actId="20577"/>
        <pc:sldMkLst>
          <pc:docMk/>
          <pc:sldMk cId="3448620328" sldId="328"/>
        </pc:sldMkLst>
        <pc:spChg chg="mod">
          <ac:chgData name="Michael K Y WONG" userId="f5f2c4cc-8781-4ae7-94a3-d45c3193875d" providerId="ADAL" clId="{5212DAFE-E703-4A3C-9F1B-76FCAF537850}" dt="2025-11-24T16:04:37.661" v="199" actId="20577"/>
          <ac:spMkLst>
            <pc:docMk/>
            <pc:sldMk cId="3448620328" sldId="328"/>
            <ac:spMk id="2" creationId="{00000000-0000-0000-0000-000000000000}"/>
          </ac:spMkLst>
        </pc:spChg>
      </pc:sldChg>
      <pc:sldChg chg="modSp mod">
        <pc:chgData name="Michael K Y WONG" userId="f5f2c4cc-8781-4ae7-94a3-d45c3193875d" providerId="ADAL" clId="{5212DAFE-E703-4A3C-9F1B-76FCAF537850}" dt="2025-11-24T16:04:42.758" v="201" actId="20577"/>
        <pc:sldMkLst>
          <pc:docMk/>
          <pc:sldMk cId="357830379" sldId="330"/>
        </pc:sldMkLst>
        <pc:spChg chg="mod">
          <ac:chgData name="Michael K Y WONG" userId="f5f2c4cc-8781-4ae7-94a3-d45c3193875d" providerId="ADAL" clId="{5212DAFE-E703-4A3C-9F1B-76FCAF537850}" dt="2025-11-24T16:04:42.758" v="201" actId="20577"/>
          <ac:spMkLst>
            <pc:docMk/>
            <pc:sldMk cId="357830379" sldId="330"/>
            <ac:spMk id="2" creationId="{00000000-0000-0000-0000-000000000000}"/>
          </ac:spMkLst>
        </pc:spChg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334"/>
        </pc:sldMkLst>
      </pc:sldChg>
      <pc:sldChg chg="del">
        <pc:chgData name="Michael K Y WONG" userId="f5f2c4cc-8781-4ae7-94a3-d45c3193875d" providerId="ADAL" clId="{5212DAFE-E703-4A3C-9F1B-76FCAF537850}" dt="2025-11-24T15:32:30.260" v="14" actId="2696"/>
        <pc:sldMkLst>
          <pc:docMk/>
          <pc:sldMk cId="0" sldId="335"/>
        </pc:sldMkLst>
      </pc:sldChg>
      <pc:sldChg chg="modSp mod">
        <pc:chgData name="Michael K Y WONG" userId="f5f2c4cc-8781-4ae7-94a3-d45c3193875d" providerId="ADAL" clId="{5212DAFE-E703-4A3C-9F1B-76FCAF537850}" dt="2025-11-24T15:32:57.357" v="20" actId="20577"/>
        <pc:sldMkLst>
          <pc:docMk/>
          <pc:sldMk cId="1858020663" sldId="337"/>
        </pc:sldMkLst>
        <pc:spChg chg="mod">
          <ac:chgData name="Michael K Y WONG" userId="f5f2c4cc-8781-4ae7-94a3-d45c3193875d" providerId="ADAL" clId="{5212DAFE-E703-4A3C-9F1B-76FCAF537850}" dt="2025-11-24T15:32:57.357" v="20" actId="20577"/>
          <ac:spMkLst>
            <pc:docMk/>
            <pc:sldMk cId="1858020663" sldId="337"/>
            <ac:spMk id="2" creationId="{00000000-0000-0000-0000-000000000000}"/>
          </ac:spMkLst>
        </pc:spChg>
      </pc:sldChg>
      <pc:sldChg chg="modSp mod">
        <pc:chgData name="Michael K Y WONG" userId="f5f2c4cc-8781-4ae7-94a3-d45c3193875d" providerId="ADAL" clId="{5212DAFE-E703-4A3C-9F1B-76FCAF537850}" dt="2025-11-24T16:04:48.801" v="203" actId="20577"/>
        <pc:sldMkLst>
          <pc:docMk/>
          <pc:sldMk cId="502083841" sldId="340"/>
        </pc:sldMkLst>
        <pc:spChg chg="mod">
          <ac:chgData name="Michael K Y WONG" userId="f5f2c4cc-8781-4ae7-94a3-d45c3193875d" providerId="ADAL" clId="{5212DAFE-E703-4A3C-9F1B-76FCAF537850}" dt="2025-11-24T16:04:48.801" v="203" actId="20577"/>
          <ac:spMkLst>
            <pc:docMk/>
            <pc:sldMk cId="502083841" sldId="340"/>
            <ac:spMk id="2" creationId="{00000000-0000-0000-0000-000000000000}"/>
          </ac:spMkLst>
        </pc:spChg>
        <pc:spChg chg="mod">
          <ac:chgData name="Michael K Y WONG" userId="f5f2c4cc-8781-4ae7-94a3-d45c3193875d" providerId="ADAL" clId="{5212DAFE-E703-4A3C-9F1B-76FCAF537850}" dt="2025-11-24T16:01:56.328" v="197" actId="20577"/>
          <ac:spMkLst>
            <pc:docMk/>
            <pc:sldMk cId="502083841" sldId="340"/>
            <ac:spMk id="11" creationId="{F9AB38EC-3B85-462C-BDDE-02E558713328}"/>
          </ac:spMkLst>
        </pc:spChg>
      </pc:sldChg>
      <pc:sldChg chg="modSp mod">
        <pc:chgData name="Michael K Y WONG" userId="f5f2c4cc-8781-4ae7-94a3-d45c3193875d" providerId="ADAL" clId="{5212DAFE-E703-4A3C-9F1B-76FCAF537850}" dt="2025-11-24T16:05:02.844" v="205" actId="6549"/>
        <pc:sldMkLst>
          <pc:docMk/>
          <pc:sldMk cId="2333358178" sldId="341"/>
        </pc:sldMkLst>
        <pc:spChg chg="mod">
          <ac:chgData name="Michael K Y WONG" userId="f5f2c4cc-8781-4ae7-94a3-d45c3193875d" providerId="ADAL" clId="{5212DAFE-E703-4A3C-9F1B-76FCAF537850}" dt="2025-11-24T16:05:02.844" v="205" actId="6549"/>
          <ac:spMkLst>
            <pc:docMk/>
            <pc:sldMk cId="2333358178" sldId="341"/>
            <ac:spMk id="2" creationId="{00000000-0000-0000-0000-000000000000}"/>
          </ac:spMkLst>
        </pc:spChg>
      </pc:sldChg>
      <pc:sldChg chg="modSp mod">
        <pc:chgData name="Michael K Y WONG" userId="f5f2c4cc-8781-4ae7-94a3-d45c3193875d" providerId="ADAL" clId="{5212DAFE-E703-4A3C-9F1B-76FCAF537850}" dt="2025-11-24T16:08:07.553" v="207" actId="6549"/>
        <pc:sldMkLst>
          <pc:docMk/>
          <pc:sldMk cId="3029179577" sldId="343"/>
        </pc:sldMkLst>
        <pc:spChg chg="mod">
          <ac:chgData name="Michael K Y WONG" userId="f5f2c4cc-8781-4ae7-94a3-d45c3193875d" providerId="ADAL" clId="{5212DAFE-E703-4A3C-9F1B-76FCAF537850}" dt="2025-11-24T16:08:07.553" v="207" actId="6549"/>
          <ac:spMkLst>
            <pc:docMk/>
            <pc:sldMk cId="3029179577" sldId="343"/>
            <ac:spMk id="2" creationId="{00000000-0000-0000-0000-000000000000}"/>
          </ac:spMkLst>
        </pc:spChg>
      </pc:sldChg>
      <pc:sldChg chg="modSp mod">
        <pc:chgData name="Michael K Y WONG" userId="f5f2c4cc-8781-4ae7-94a3-d45c3193875d" providerId="ADAL" clId="{5212DAFE-E703-4A3C-9F1B-76FCAF537850}" dt="2025-11-24T16:10:10.442" v="209" actId="20577"/>
        <pc:sldMkLst>
          <pc:docMk/>
          <pc:sldMk cId="2864720322" sldId="344"/>
        </pc:sldMkLst>
        <pc:spChg chg="mod">
          <ac:chgData name="Michael K Y WONG" userId="f5f2c4cc-8781-4ae7-94a3-d45c3193875d" providerId="ADAL" clId="{5212DAFE-E703-4A3C-9F1B-76FCAF537850}" dt="2025-11-24T16:10:10.442" v="209" actId="20577"/>
          <ac:spMkLst>
            <pc:docMk/>
            <pc:sldMk cId="2864720322" sldId="344"/>
            <ac:spMk id="2" creationId="{00000000-0000-0000-0000-000000000000}"/>
          </ac:spMkLst>
        </pc:spChg>
      </pc:sldChg>
      <pc:sldMasterChg chg="delSldLayout">
        <pc:chgData name="Michael K Y WONG" userId="f5f2c4cc-8781-4ae7-94a3-d45c3193875d" providerId="ADAL" clId="{5212DAFE-E703-4A3C-9F1B-76FCAF537850}" dt="2025-11-24T15:32:30.260" v="14" actId="2696"/>
        <pc:sldMasterMkLst>
          <pc:docMk/>
          <pc:sldMasterMk cId="4035334941" sldId="2147483648"/>
        </pc:sldMasterMkLst>
        <pc:sldLayoutChg chg="del">
          <pc:chgData name="Michael K Y WONG" userId="f5f2c4cc-8781-4ae7-94a3-d45c3193875d" providerId="ADAL" clId="{5212DAFE-E703-4A3C-9F1B-76FCAF537850}" dt="2025-11-24T15:32:30.260" v="14" actId="2696"/>
          <pc:sldLayoutMkLst>
            <pc:docMk/>
            <pc:sldMasterMk cId="4035334941" sldId="2147483648"/>
            <pc:sldLayoutMk cId="1107098275" sldId="2147483660"/>
          </pc:sldLayoutMkLst>
        </pc:sldLayoutChg>
        <pc:sldLayoutChg chg="del">
          <pc:chgData name="Michael K Y WONG" userId="f5f2c4cc-8781-4ae7-94a3-d45c3193875d" providerId="ADAL" clId="{5212DAFE-E703-4A3C-9F1B-76FCAF537850}" dt="2025-11-24T15:32:30.260" v="14" actId="2696"/>
          <pc:sldLayoutMkLst>
            <pc:docMk/>
            <pc:sldMasterMk cId="4035334941" sldId="2147483648"/>
            <pc:sldLayoutMk cId="1009265738" sldId="2147483661"/>
          </pc:sldLayoutMkLst>
        </pc:sldLayoutChg>
        <pc:sldLayoutChg chg="del">
          <pc:chgData name="Michael K Y WONG" userId="f5f2c4cc-8781-4ae7-94a3-d45c3193875d" providerId="ADAL" clId="{5212DAFE-E703-4A3C-9F1B-76FCAF537850}" dt="2025-11-24T15:32:30.260" v="14" actId="2696"/>
          <pc:sldLayoutMkLst>
            <pc:docMk/>
            <pc:sldMasterMk cId="4035334941" sldId="2147483648"/>
            <pc:sldLayoutMk cId="2666370979" sldId="2147483662"/>
          </pc:sldLayoutMkLst>
        </pc:sldLayoutChg>
        <pc:sldLayoutChg chg="del">
          <pc:chgData name="Michael K Y WONG" userId="f5f2c4cc-8781-4ae7-94a3-d45c3193875d" providerId="ADAL" clId="{5212DAFE-E703-4A3C-9F1B-76FCAF537850}" dt="2025-11-24T15:32:30.260" v="14" actId="2696"/>
          <pc:sldLayoutMkLst>
            <pc:docMk/>
            <pc:sldMasterMk cId="4035334941" sldId="2147483648"/>
            <pc:sldLayoutMk cId="2916951516" sldId="2147483663"/>
          </pc:sldLayoutMkLst>
        </pc:sldLayoutChg>
        <pc:sldLayoutChg chg="del">
          <pc:chgData name="Michael K Y WONG" userId="f5f2c4cc-8781-4ae7-94a3-d45c3193875d" providerId="ADAL" clId="{5212DAFE-E703-4A3C-9F1B-76FCAF537850}" dt="2025-11-24T15:32:30.260" v="14" actId="2696"/>
          <pc:sldLayoutMkLst>
            <pc:docMk/>
            <pc:sldMasterMk cId="4035334941" sldId="2147483648"/>
            <pc:sldLayoutMk cId="2693956629" sldId="214748366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0D7FE-39BB-43A5-B49E-570BCF7992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75F20-8C43-433A-8929-7126DB364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9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85BAF-693C-4E92-9835-285BE653B69E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22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7122C-BA28-4890-9158-4C14A00192B1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27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61AF-773F-4F5D-A7DF-21FB33F68DC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1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7171-2FF3-4278-8834-025F53B88BA8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2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79DB-608B-4871-B6D9-8CC6C29BB448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5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E85C3-6633-4662-8FC5-17A3285217B7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7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E5A23-A5B7-4D4E-AD69-0FD018AB739E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6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6CFB8-58A8-464B-88BC-B50392920815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01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4EB3-92D0-4F31-8214-28F67FF5DD22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4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E656-0436-4A56-B5A8-3F95155F8CAE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28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209B-D46D-4916-B806-C77B45BAA9D8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68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5673D-0DB9-47F3-B51E-3E976D0F0440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3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2446" y="1002734"/>
            <a:ext cx="10067108" cy="2191862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MSDM 5003 Week 13</a:t>
            </a:r>
            <a:br>
              <a:rPr lang="en-US" dirty="0"/>
            </a:br>
            <a:r>
              <a:rPr lang="en-US" sz="4000" dirty="0"/>
              <a:t>27 November 2025</a:t>
            </a:r>
            <a:br>
              <a:rPr lang="en-US" sz="4000" dirty="0"/>
            </a:br>
            <a:r>
              <a:rPr lang="en-US" sz="5400" b="1" dirty="0"/>
              <a:t>Other Population Games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9971" y="3663404"/>
            <a:ext cx="10493829" cy="193840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Outline:</a:t>
            </a:r>
          </a:p>
          <a:p>
            <a:pPr algn="l"/>
            <a:r>
              <a:rPr lang="en-US" dirty="0"/>
              <a:t>1. Evolutionary Minority Games</a:t>
            </a:r>
          </a:p>
          <a:p>
            <a:pPr algn="l"/>
            <a:r>
              <a:rPr lang="en-US" dirty="0"/>
              <a:t>2. Adaptive Minority Games</a:t>
            </a:r>
          </a:p>
          <a:p>
            <a:pPr algn="l"/>
            <a:r>
              <a:rPr lang="en-US" dirty="0"/>
              <a:t>3. The Kolkata Paise Restaurant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326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715" y="500662"/>
            <a:ext cx="9144000" cy="712188"/>
          </a:xfrm>
        </p:spPr>
        <p:txBody>
          <a:bodyPr>
            <a:normAutofit/>
          </a:bodyPr>
          <a:lstStyle/>
          <a:p>
            <a:r>
              <a:rPr lang="en-US" sz="4400" b="1" dirty="0"/>
              <a:t>1. Evolutionary Minority Games</a:t>
            </a:r>
            <a:r>
              <a:rPr lang="en-US" sz="4400" b="1" baseline="30000" dirty="0"/>
              <a:t>1</a:t>
            </a:r>
            <a:endParaRPr lang="en-US" sz="40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2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CF7EAF-945B-4D60-A4A2-EE88C121A6BB}"/>
              </a:ext>
            </a:extLst>
          </p:cNvPr>
          <p:cNvSpPr txBox="1"/>
          <p:nvPr/>
        </p:nvSpPr>
        <p:spPr>
          <a:xfrm>
            <a:off x="1202992" y="1923141"/>
            <a:ext cx="6098720" cy="363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The worst player is </a:t>
            </a:r>
            <a:r>
              <a:rPr lang="en-US" sz="2400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replaced</a:t>
            </a: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by a new one after some time-steps.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The new player is a </a:t>
            </a:r>
            <a:r>
              <a:rPr lang="en-US" sz="2400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clone</a:t>
            </a: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of the best player.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The virtual scores of the new player’s strategies are </a:t>
            </a:r>
            <a:r>
              <a:rPr lang="en-US" sz="2400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reset</a:t>
            </a: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to zero.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Mutation</a:t>
            </a: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: Replace one strategy of the best player by a new one.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Result: The population is able to learn by reducing their fluctuations.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83C19B-B345-4D6E-A8D3-A69FD4982124}"/>
              </a:ext>
            </a:extLst>
          </p:cNvPr>
          <p:cNvSpPr txBox="1"/>
          <p:nvPr/>
        </p:nvSpPr>
        <p:spPr>
          <a:xfrm>
            <a:off x="1202992" y="5797327"/>
            <a:ext cx="9786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aseline="300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1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Challet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D and Zhang Y-C (1997) Emergence of cooperation and organization in an evolutionary game.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Physica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A 246 407-418.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8087BD-BA84-4ECB-AEA0-E94CA4B69A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712" y="1923141"/>
            <a:ext cx="4532627" cy="330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1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715" y="500662"/>
            <a:ext cx="9144000" cy="712188"/>
          </a:xfrm>
        </p:spPr>
        <p:txBody>
          <a:bodyPr>
            <a:normAutofit/>
          </a:bodyPr>
          <a:lstStyle/>
          <a:p>
            <a:r>
              <a:rPr lang="en-US" sz="4400" b="1" dirty="0"/>
              <a:t>Comparison</a:t>
            </a:r>
            <a:endParaRPr lang="en-US" sz="40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3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AB38EC-3B85-462C-BDDE-02E558713328}"/>
              </a:ext>
            </a:extLst>
          </p:cNvPr>
          <p:cNvSpPr txBox="1"/>
          <p:nvPr/>
        </p:nvSpPr>
        <p:spPr>
          <a:xfrm>
            <a:off x="3146214" y="1376152"/>
            <a:ext cx="7429501" cy="442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Comparison with the case with no mutation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US" sz="24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US" sz="24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US" sz="24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US" sz="24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US" sz="24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US" sz="24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US" sz="24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US" sz="24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US" sz="24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Conclusion: Diversity is important.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B8D55B-0E2F-4633-B9B2-81DEE9875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674" y="2007332"/>
            <a:ext cx="4624081" cy="294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26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715" y="500662"/>
            <a:ext cx="9144000" cy="712188"/>
          </a:xfrm>
        </p:spPr>
        <p:txBody>
          <a:bodyPr>
            <a:normAutofit/>
          </a:bodyPr>
          <a:lstStyle/>
          <a:p>
            <a:r>
              <a:rPr lang="en-US" sz="4400" b="1" dirty="0"/>
              <a:t>2. Adaptive Minority Games</a:t>
            </a:r>
            <a:r>
              <a:rPr lang="en-US" sz="4400" b="1" baseline="30000" dirty="0"/>
              <a:t>2</a:t>
            </a:r>
            <a:endParaRPr lang="en-US" sz="40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4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568625" y="1581954"/>
                <a:ext cx="10870180" cy="12603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players modify their strategies after every time interval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342900" marR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Players among a fraction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the worst performing players modify their strategies.</a:t>
                </a:r>
              </a:p>
              <a:p>
                <a:pPr marL="342900" marR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One-point genetic crossover mechanism: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25" y="1581954"/>
                <a:ext cx="10870180" cy="1260345"/>
              </a:xfrm>
              <a:prstGeom prst="rect">
                <a:avLst/>
              </a:prstGeom>
              <a:blipFill>
                <a:blip r:embed="rId2"/>
                <a:stretch>
                  <a:fillRect l="-729" t="-3398" b="-10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B5E0D6E-50AD-46D1-80A8-E1E8EDBC92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717" y="2842299"/>
            <a:ext cx="5158508" cy="31937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F72752-E0EC-4F1A-9F40-E6D70D196208}"/>
              </a:ext>
            </a:extLst>
          </p:cNvPr>
          <p:cNvSpPr txBox="1"/>
          <p:nvPr/>
        </p:nvSpPr>
        <p:spPr>
          <a:xfrm>
            <a:off x="804220" y="6097098"/>
            <a:ext cx="10583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aseline="300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2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Sys-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Aho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M,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Chakraborti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A, and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Kaski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K (2003) Biology helps you to win a game.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Physica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Scripta T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106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32.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020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2678192-A89D-4031-9FA5-E161434EE1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54" y="3536896"/>
            <a:ext cx="5101350" cy="2248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715" y="500662"/>
            <a:ext cx="9144000" cy="712188"/>
          </a:xfrm>
        </p:spPr>
        <p:txBody>
          <a:bodyPr>
            <a:normAutofit/>
          </a:bodyPr>
          <a:lstStyle/>
          <a:p>
            <a:r>
              <a:rPr lang="en-US" sz="4400" b="1" dirty="0"/>
              <a:t>Fluctuations Disappear! </a:t>
            </a:r>
            <a:endParaRPr lang="en-US" sz="40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5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D6CA02-CEF1-4756-8DA9-DF4F6C772738}"/>
                  </a:ext>
                </a:extLst>
              </p:cNvPr>
              <p:cNvSpPr txBox="1"/>
              <p:nvPr/>
            </p:nvSpPr>
            <p:spPr>
              <a:xfrm>
                <a:off x="732101" y="1357264"/>
                <a:ext cx="10890056" cy="20241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Total utility of the game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 buyers (or sellers):</a:t>
                </a:r>
              </a:p>
              <a:p>
                <a:pPr algn="ctr"/>
                <a:r>
                  <a:rPr lang="en-US" sz="2400" dirty="0"/>
                  <a:t>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dirty="0"/>
                  <a:t> 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−1)/2.</m:t>
                    </m:r>
                  </m:oMath>
                </a14:m>
                <a:r>
                  <a:rPr lang="en-US" sz="2400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400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, the total utility is maximum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Interestingly, the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fluctuations disappear totally </a:t>
                </a:r>
                <a:r>
                  <a:rPr lang="en-US" sz="2400" dirty="0"/>
                  <a:t>when the total utility is at maximum.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D6CA02-CEF1-4756-8DA9-DF4F6C772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01" y="1357264"/>
                <a:ext cx="10890056" cy="2024144"/>
              </a:xfrm>
              <a:prstGeom prst="rect">
                <a:avLst/>
              </a:prstGeom>
              <a:blipFill>
                <a:blip r:embed="rId3"/>
                <a:stretch>
                  <a:fillRect l="-839" t="-2410" b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395D19C-0E55-4173-A1B5-3221E59D45B0}"/>
              </a:ext>
            </a:extLst>
          </p:cNvPr>
          <p:cNvSpPr txBox="1"/>
          <p:nvPr/>
        </p:nvSpPr>
        <p:spPr>
          <a:xfrm>
            <a:off x="2001078" y="5886350"/>
            <a:ext cx="768626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Basic minority game (left) vs adaptive minority game (right)</a:t>
            </a:r>
          </a:p>
        </p:txBody>
      </p:sp>
    </p:spTree>
    <p:extLst>
      <p:ext uri="{BB962C8B-B14F-4D97-AF65-F5344CB8AC3E}">
        <p14:creationId xmlns:p14="http://schemas.microsoft.com/office/powerpoint/2010/main" val="2211233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715" y="500662"/>
            <a:ext cx="9144000" cy="712188"/>
          </a:xfrm>
        </p:spPr>
        <p:txBody>
          <a:bodyPr>
            <a:noAutofit/>
          </a:bodyPr>
          <a:lstStyle/>
          <a:p>
            <a:r>
              <a:rPr lang="en-US" sz="4400" b="1" dirty="0"/>
              <a:t>More Experiments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6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121" name="Picture 7">
            <a:extLst>
              <a:ext uri="{FF2B5EF4-FFF2-40B4-BE49-F238E27FC236}">
                <a16:creationId xmlns:a16="http://schemas.microsoft.com/office/drawing/2014/main" id="{39D85158-BBB4-4535-BB40-C3E975C4A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520" y="1366888"/>
            <a:ext cx="6013019" cy="417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C08C834-FF43-40D6-9C2B-DA51759708B7}"/>
              </a:ext>
            </a:extLst>
          </p:cNvPr>
          <p:cNvGrpSpPr/>
          <p:nvPr/>
        </p:nvGrpSpPr>
        <p:grpSpPr>
          <a:xfrm>
            <a:off x="4081924" y="2100110"/>
            <a:ext cx="4650396" cy="2601948"/>
            <a:chOff x="0" y="0"/>
            <a:chExt cx="4650401" cy="2602093"/>
          </a:xfrm>
        </p:grpSpPr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B93F8EE2-1B6F-468C-BC10-745AC4CF127D}"/>
                </a:ext>
              </a:extLst>
            </p:cNvPr>
            <p:cNvSpPr txBox="1"/>
            <p:nvPr/>
          </p:nvSpPr>
          <p:spPr>
            <a:xfrm>
              <a:off x="2400938" y="2233702"/>
              <a:ext cx="2249463" cy="368391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Basic Minority Game</a:t>
              </a:r>
              <a:endParaRPr lang="en-US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AEF9B794-14DD-4C96-868C-9770D69CBD39}"/>
                </a:ext>
              </a:extLst>
            </p:cNvPr>
            <p:cNvSpPr txBox="1"/>
            <p:nvPr/>
          </p:nvSpPr>
          <p:spPr>
            <a:xfrm>
              <a:off x="1726633" y="293397"/>
              <a:ext cx="1624464" cy="377824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 = 10, </a:t>
              </a:r>
              <a:r>
                <a:rPr lang="en-US" i="1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 = 0.6</a:t>
              </a:r>
              <a:endPara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D069684A-077C-4B42-B2A0-2F3BCB450796}"/>
                </a:ext>
              </a:extLst>
            </p:cNvPr>
            <p:cNvSpPr txBox="1"/>
            <p:nvPr/>
          </p:nvSpPr>
          <p:spPr>
            <a:xfrm>
              <a:off x="1215794" y="694739"/>
              <a:ext cx="1631513" cy="359599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 = 50, </a:t>
              </a:r>
              <a:r>
                <a:rPr lang="en-US" i="1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 = 0.6</a:t>
              </a:r>
              <a:endPara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739705AA-2507-47AB-8B45-3AFBBAA16717}"/>
                </a:ext>
              </a:extLst>
            </p:cNvPr>
            <p:cNvSpPr txBox="1"/>
            <p:nvPr/>
          </p:nvSpPr>
          <p:spPr>
            <a:xfrm>
              <a:off x="766257" y="1098157"/>
              <a:ext cx="1631512" cy="377823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 = 10, </a:t>
              </a:r>
              <a:r>
                <a:rPr lang="en-US" i="1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 = 0.2</a:t>
              </a:r>
              <a:endParaRPr lang="en-US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D19AD716-19C6-4403-980E-2DD40C5BAF66}"/>
                </a:ext>
              </a:extLst>
            </p:cNvPr>
            <p:cNvSpPr txBox="1"/>
            <p:nvPr/>
          </p:nvSpPr>
          <p:spPr>
            <a:xfrm>
              <a:off x="548373" y="1530120"/>
              <a:ext cx="1532775" cy="388041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 = 50, </a:t>
              </a:r>
              <a:r>
                <a:rPr lang="en-US" i="1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 = 0.2</a:t>
              </a:r>
              <a:endPara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B566B35-0372-467D-98BF-B8781CE294D9}"/>
                </a:ext>
              </a:extLst>
            </p:cNvPr>
            <p:cNvCxnSpPr/>
            <p:nvPr/>
          </p:nvCxnSpPr>
          <p:spPr>
            <a:xfrm flipH="1" flipV="1">
              <a:off x="102168" y="0"/>
              <a:ext cx="1624464" cy="490404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3674C78-4E24-4F38-8932-BEE66F845CB8}"/>
                </a:ext>
              </a:extLst>
            </p:cNvPr>
            <p:cNvCxnSpPr/>
            <p:nvPr/>
          </p:nvCxnSpPr>
          <p:spPr>
            <a:xfrm flipH="1" flipV="1">
              <a:off x="30651" y="434212"/>
              <a:ext cx="1184910" cy="377825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E23C7E5-B42F-4F33-A549-18D06DCD982D}"/>
                </a:ext>
              </a:extLst>
            </p:cNvPr>
            <p:cNvCxnSpPr/>
            <p:nvPr/>
          </p:nvCxnSpPr>
          <p:spPr>
            <a:xfrm flipH="1" flipV="1">
              <a:off x="0" y="929725"/>
              <a:ext cx="761014" cy="224584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57DE3BF-FD0D-4822-BDC9-672BA1CD522A}"/>
                </a:ext>
              </a:extLst>
            </p:cNvPr>
            <p:cNvCxnSpPr/>
            <p:nvPr/>
          </p:nvCxnSpPr>
          <p:spPr>
            <a:xfrm flipH="1" flipV="1">
              <a:off x="263265" y="1468032"/>
              <a:ext cx="306070" cy="8128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9541A84-95F7-4E99-A019-135E49914D20}"/>
                </a:ext>
              </a:extLst>
            </p:cNvPr>
            <p:cNvCxnSpPr/>
            <p:nvPr/>
          </p:nvCxnSpPr>
          <p:spPr>
            <a:xfrm flipH="1" flipV="1">
              <a:off x="1399696" y="2123401"/>
              <a:ext cx="985520" cy="239395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13">
            <a:extLst>
              <a:ext uri="{FF2B5EF4-FFF2-40B4-BE49-F238E27FC236}">
                <a16:creationId xmlns:a16="http://schemas.microsoft.com/office/drawing/2014/main" id="{ED8A1E27-74C4-46F7-AADB-1A8AA11AC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114407CD-E167-4746-BD8C-772A6A337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0FCFE87C-5025-4CB9-9D75-23B59BE59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6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B48997-0238-491E-9F5F-4B12B1A96A97}"/>
              </a:ext>
            </a:extLst>
          </p:cNvPr>
          <p:cNvSpPr txBox="1"/>
          <p:nvPr/>
        </p:nvSpPr>
        <p:spPr>
          <a:xfrm>
            <a:off x="1982235" y="5717593"/>
            <a:ext cx="86011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time of adaptation has to be optimal (not too frequent or slow).</a:t>
            </a:r>
          </a:p>
        </p:txBody>
      </p:sp>
    </p:spTree>
    <p:extLst>
      <p:ext uri="{BB962C8B-B14F-4D97-AF65-F5344CB8AC3E}">
        <p14:creationId xmlns:p14="http://schemas.microsoft.com/office/powerpoint/2010/main" val="20512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715" y="500662"/>
            <a:ext cx="9144000" cy="712188"/>
          </a:xfrm>
        </p:spPr>
        <p:txBody>
          <a:bodyPr>
            <a:noAutofit/>
          </a:bodyPr>
          <a:lstStyle/>
          <a:p>
            <a:r>
              <a:rPr lang="en-US" sz="4400" b="1" dirty="0"/>
              <a:t>Strategy Pool Experiments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7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AB38EC-3B85-462C-BDDE-02E558713328}"/>
              </a:ext>
            </a:extLst>
          </p:cNvPr>
          <p:cNvSpPr txBox="1"/>
          <p:nvPr/>
        </p:nvSpPr>
        <p:spPr>
          <a:xfrm>
            <a:off x="783774" y="1664897"/>
            <a:ext cx="10613569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Experiments on the strategy pools of the agents:</a:t>
            </a:r>
          </a:p>
        </p:txBody>
      </p:sp>
      <p:grpSp>
        <p:nvGrpSpPr>
          <p:cNvPr id="5" name="Canvas 21">
            <a:extLst>
              <a:ext uri="{FF2B5EF4-FFF2-40B4-BE49-F238E27FC236}">
                <a16:creationId xmlns:a16="http://schemas.microsoft.com/office/drawing/2014/main" id="{BF563019-0DCF-4CCC-8AFE-A4D16DC3C4D0}"/>
              </a:ext>
            </a:extLst>
          </p:cNvPr>
          <p:cNvGrpSpPr/>
          <p:nvPr/>
        </p:nvGrpSpPr>
        <p:grpSpPr>
          <a:xfrm>
            <a:off x="3347358" y="2235256"/>
            <a:ext cx="5486400" cy="4106545"/>
            <a:chOff x="0" y="0"/>
            <a:chExt cx="5486400" cy="410654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AA1F974-886A-4AC0-857D-FBAB062C9EA9}"/>
                </a:ext>
              </a:extLst>
            </p:cNvPr>
            <p:cNvSpPr/>
            <p:nvPr/>
          </p:nvSpPr>
          <p:spPr>
            <a:xfrm>
              <a:off x="0" y="0"/>
              <a:ext cx="5486400" cy="4106545"/>
            </a:xfrm>
            <a:prstGeom prst="rect">
              <a:avLst/>
            </a:prstGeom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9563641-31BB-4C08-A3ED-CE39E9B9EF9A}"/>
                </a:ext>
              </a:extLst>
            </p:cNvPr>
            <p:cNvGrpSpPr/>
            <p:nvPr/>
          </p:nvGrpSpPr>
          <p:grpSpPr>
            <a:xfrm>
              <a:off x="919508" y="71518"/>
              <a:ext cx="3187629" cy="763666"/>
              <a:chOff x="924617" y="260527"/>
              <a:chExt cx="3187629" cy="763666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B03FAE9-98B0-464D-ABC8-89777EFBD875}"/>
                  </a:ext>
                </a:extLst>
              </p:cNvPr>
              <p:cNvCxnSpPr/>
              <p:nvPr/>
            </p:nvCxnSpPr>
            <p:spPr>
              <a:xfrm flipH="1">
                <a:off x="1215794" y="260527"/>
                <a:ext cx="1" cy="485297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D5D21B6-82FF-4E34-BE25-0FBBA88FC73E}"/>
                  </a:ext>
                </a:extLst>
              </p:cNvPr>
              <p:cNvCxnSpPr/>
              <p:nvPr/>
            </p:nvCxnSpPr>
            <p:spPr>
              <a:xfrm flipH="1">
                <a:off x="1395390" y="266665"/>
                <a:ext cx="0" cy="485140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2D058D30-8230-42C5-BE61-51FE79B99C18}"/>
                  </a:ext>
                </a:extLst>
              </p:cNvPr>
              <p:cNvCxnSpPr/>
              <p:nvPr/>
            </p:nvCxnSpPr>
            <p:spPr>
              <a:xfrm flipH="1">
                <a:off x="2285159" y="272380"/>
                <a:ext cx="0" cy="485140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6BF34F9-8B2D-47F5-A07B-701C2812B98C}"/>
                  </a:ext>
                </a:extLst>
              </p:cNvPr>
              <p:cNvCxnSpPr/>
              <p:nvPr/>
            </p:nvCxnSpPr>
            <p:spPr>
              <a:xfrm flipH="1">
                <a:off x="2778515" y="277488"/>
                <a:ext cx="0" cy="485140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2C8863D-F885-4726-BCA8-76A7C0247956}"/>
                  </a:ext>
                </a:extLst>
              </p:cNvPr>
              <p:cNvCxnSpPr/>
              <p:nvPr/>
            </p:nvCxnSpPr>
            <p:spPr>
              <a:xfrm flipH="1">
                <a:off x="3581348" y="288284"/>
                <a:ext cx="0" cy="485140"/>
              </a:xfrm>
              <a:prstGeom prst="line">
                <a:avLst/>
              </a:prstGeom>
              <a:ln w="635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465A0B1B-1530-499B-B2F3-E74B66F2DEC7}"/>
                  </a:ext>
                </a:extLst>
              </p:cNvPr>
              <p:cNvCxnSpPr/>
              <p:nvPr/>
            </p:nvCxnSpPr>
            <p:spPr>
              <a:xfrm flipH="1">
                <a:off x="3781198" y="288284"/>
                <a:ext cx="0" cy="48514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 Box 8">
                <a:extLst>
                  <a:ext uri="{FF2B5EF4-FFF2-40B4-BE49-F238E27FC236}">
                    <a16:creationId xmlns:a16="http://schemas.microsoft.com/office/drawing/2014/main" id="{DF7F4E6B-BAD7-4309-9D69-273CC94DAA5E}"/>
                  </a:ext>
                </a:extLst>
              </p:cNvPr>
              <p:cNvSpPr txBox="1"/>
              <p:nvPr/>
            </p:nvSpPr>
            <p:spPr>
              <a:xfrm>
                <a:off x="924617" y="763208"/>
                <a:ext cx="761148" cy="26098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Best two  </a:t>
                </a:r>
              </a:p>
            </p:txBody>
          </p:sp>
          <p:sp>
            <p:nvSpPr>
              <p:cNvPr id="57" name="Text Box 8">
                <a:extLst>
                  <a:ext uri="{FF2B5EF4-FFF2-40B4-BE49-F238E27FC236}">
                    <a16:creationId xmlns:a16="http://schemas.microsoft.com/office/drawing/2014/main" id="{3CD2990B-A7FD-4E95-8857-AD6137544362}"/>
                  </a:ext>
                </a:extLst>
              </p:cNvPr>
              <p:cNvSpPr txBox="1"/>
              <p:nvPr/>
            </p:nvSpPr>
            <p:spPr>
              <a:xfrm>
                <a:off x="2034341" y="763208"/>
                <a:ext cx="1020469" cy="26098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Random two </a:t>
                </a:r>
              </a:p>
            </p:txBody>
          </p:sp>
          <p:sp>
            <p:nvSpPr>
              <p:cNvPr id="58" name="Text Box 8">
                <a:extLst>
                  <a:ext uri="{FF2B5EF4-FFF2-40B4-BE49-F238E27FC236}">
                    <a16:creationId xmlns:a16="http://schemas.microsoft.com/office/drawing/2014/main" id="{25070094-F351-4F00-8A2F-45820F10B717}"/>
                  </a:ext>
                </a:extLst>
              </p:cNvPr>
              <p:cNvSpPr txBox="1"/>
              <p:nvPr/>
            </p:nvSpPr>
            <p:spPr>
              <a:xfrm>
                <a:off x="3270570" y="763208"/>
                <a:ext cx="841676" cy="26098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Worst two 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8EF4857-4A55-48B4-B5E2-175E6766CCE1}"/>
                </a:ext>
              </a:extLst>
            </p:cNvPr>
            <p:cNvGrpSpPr/>
            <p:nvPr/>
          </p:nvGrpSpPr>
          <p:grpSpPr>
            <a:xfrm>
              <a:off x="802016" y="850175"/>
              <a:ext cx="2974073" cy="761962"/>
              <a:chOff x="793006" y="758225"/>
              <a:chExt cx="2974073" cy="76196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E04434B-E925-462D-980A-D6423C353D25}"/>
                  </a:ext>
                </a:extLst>
              </p:cNvPr>
              <p:cNvCxnSpPr/>
              <p:nvPr/>
            </p:nvCxnSpPr>
            <p:spPr>
              <a:xfrm flipH="1">
                <a:off x="1201675" y="1007557"/>
                <a:ext cx="1" cy="485044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B983A41-4E05-403E-8F5D-A48B78323E6C}"/>
                  </a:ext>
                </a:extLst>
              </p:cNvPr>
              <p:cNvCxnSpPr/>
              <p:nvPr/>
            </p:nvCxnSpPr>
            <p:spPr>
              <a:xfrm flipH="1">
                <a:off x="1381271" y="1013692"/>
                <a:ext cx="0" cy="484887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6726373-9459-4EC0-BC9D-C51E7EB7785E}"/>
                  </a:ext>
                </a:extLst>
              </p:cNvPr>
              <p:cNvCxnSpPr/>
              <p:nvPr/>
            </p:nvCxnSpPr>
            <p:spPr>
              <a:xfrm>
                <a:off x="2271040" y="1019302"/>
                <a:ext cx="0" cy="237359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9229F23-4B28-4F50-95DE-FC6820A98D25}"/>
                  </a:ext>
                </a:extLst>
              </p:cNvPr>
              <p:cNvCxnSpPr/>
              <p:nvPr/>
            </p:nvCxnSpPr>
            <p:spPr>
              <a:xfrm>
                <a:off x="2271040" y="1272712"/>
                <a:ext cx="0" cy="247474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73DC040E-B747-4E7D-9B76-B5B9C0737740}"/>
                  </a:ext>
                </a:extLst>
              </p:cNvPr>
              <p:cNvCxnSpPr/>
              <p:nvPr/>
            </p:nvCxnSpPr>
            <p:spPr>
              <a:xfrm flipH="1">
                <a:off x="3567229" y="1035300"/>
                <a:ext cx="0" cy="484887"/>
              </a:xfrm>
              <a:prstGeom prst="line">
                <a:avLst/>
              </a:prstGeom>
              <a:ln w="635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A471BB8-8160-4A76-ADA1-88953FA88C61}"/>
                  </a:ext>
                </a:extLst>
              </p:cNvPr>
              <p:cNvCxnSpPr/>
              <p:nvPr/>
            </p:nvCxnSpPr>
            <p:spPr>
              <a:xfrm flipH="1">
                <a:off x="3767079" y="1035300"/>
                <a:ext cx="0" cy="484887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 Box 8">
                <a:extLst>
                  <a:ext uri="{FF2B5EF4-FFF2-40B4-BE49-F238E27FC236}">
                    <a16:creationId xmlns:a16="http://schemas.microsoft.com/office/drawing/2014/main" id="{4652D3F0-5671-49E2-A2E8-8A935F4B9CC6}"/>
                  </a:ext>
                </a:extLst>
              </p:cNvPr>
              <p:cNvSpPr txBox="1"/>
              <p:nvPr/>
            </p:nvSpPr>
            <p:spPr>
              <a:xfrm>
                <a:off x="793006" y="758225"/>
                <a:ext cx="989819" cy="31453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Operation a:  </a:t>
                </a: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84E86A3D-D7FB-4744-8DDE-37C165BDE45E}"/>
                  </a:ext>
                </a:extLst>
              </p:cNvPr>
              <p:cNvCxnSpPr/>
              <p:nvPr/>
            </p:nvCxnSpPr>
            <p:spPr>
              <a:xfrm>
                <a:off x="2782805" y="1283323"/>
                <a:ext cx="0" cy="236855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A3F2549-108B-418A-BFF0-9F7D075755EC}"/>
                  </a:ext>
                </a:extLst>
              </p:cNvPr>
              <p:cNvCxnSpPr/>
              <p:nvPr/>
            </p:nvCxnSpPr>
            <p:spPr>
              <a:xfrm>
                <a:off x="2782805" y="1018843"/>
                <a:ext cx="0" cy="247015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E5E2E8-7FE9-4176-9236-C8BF6172375F}"/>
                </a:ext>
              </a:extLst>
            </p:cNvPr>
            <p:cNvGrpSpPr/>
            <p:nvPr/>
          </p:nvGrpSpPr>
          <p:grpSpPr>
            <a:xfrm>
              <a:off x="794584" y="1640998"/>
              <a:ext cx="2983084" cy="787290"/>
              <a:chOff x="0" y="0"/>
              <a:chExt cx="2983084" cy="787907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BF44891-946D-482E-9E91-C9DDED98EBD2}"/>
                  </a:ext>
                </a:extLst>
              </p:cNvPr>
              <p:cNvCxnSpPr/>
              <p:nvPr/>
            </p:nvCxnSpPr>
            <p:spPr>
              <a:xfrm flipH="1">
                <a:off x="408669" y="249332"/>
                <a:ext cx="1" cy="485044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952F047-3398-4960-B592-54BB1DA5BEE7}"/>
                  </a:ext>
                </a:extLst>
              </p:cNvPr>
              <p:cNvCxnSpPr/>
              <p:nvPr/>
            </p:nvCxnSpPr>
            <p:spPr>
              <a:xfrm flipH="1">
                <a:off x="588265" y="255467"/>
                <a:ext cx="0" cy="484887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92FE793-0239-4D36-AEF0-05EB944CB68D}"/>
                  </a:ext>
                </a:extLst>
              </p:cNvPr>
              <p:cNvCxnSpPr/>
              <p:nvPr/>
            </p:nvCxnSpPr>
            <p:spPr>
              <a:xfrm>
                <a:off x="2783234" y="277124"/>
                <a:ext cx="0" cy="237359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52AD394-0D41-46B4-B20A-A223CA14D28C}"/>
                  </a:ext>
                </a:extLst>
              </p:cNvPr>
              <p:cNvCxnSpPr/>
              <p:nvPr/>
            </p:nvCxnSpPr>
            <p:spPr>
              <a:xfrm>
                <a:off x="2780671" y="540433"/>
                <a:ext cx="0" cy="247474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737B986-C397-47CE-B395-8406DCB58F7B}"/>
                  </a:ext>
                </a:extLst>
              </p:cNvPr>
              <p:cNvCxnSpPr/>
              <p:nvPr/>
            </p:nvCxnSpPr>
            <p:spPr>
              <a:xfrm flipH="1">
                <a:off x="1476695" y="241288"/>
                <a:ext cx="0" cy="484887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119BD677-1D60-4D8A-AE14-AA957318077A}"/>
                  </a:ext>
                </a:extLst>
              </p:cNvPr>
              <p:cNvCxnSpPr/>
              <p:nvPr/>
            </p:nvCxnSpPr>
            <p:spPr>
              <a:xfrm flipH="1">
                <a:off x="2008589" y="249330"/>
                <a:ext cx="0" cy="484887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 Box 8">
                <a:extLst>
                  <a:ext uri="{FF2B5EF4-FFF2-40B4-BE49-F238E27FC236}">
                    <a16:creationId xmlns:a16="http://schemas.microsoft.com/office/drawing/2014/main" id="{4B1F4610-268C-4F02-B14B-26CCA0398490}"/>
                  </a:ext>
                </a:extLst>
              </p:cNvPr>
              <p:cNvSpPr txBox="1"/>
              <p:nvPr/>
            </p:nvSpPr>
            <p:spPr>
              <a:xfrm>
                <a:off x="0" y="0"/>
                <a:ext cx="989819" cy="31453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Operation b:  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A2348B4-088E-411E-BB06-D6DB5D076AC5}"/>
                  </a:ext>
                </a:extLst>
              </p:cNvPr>
              <p:cNvCxnSpPr/>
              <p:nvPr/>
            </p:nvCxnSpPr>
            <p:spPr>
              <a:xfrm>
                <a:off x="2983084" y="540435"/>
                <a:ext cx="0" cy="236855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1CABEB4-CE1E-4809-913E-00849C9A6158}"/>
                  </a:ext>
                </a:extLst>
              </p:cNvPr>
              <p:cNvCxnSpPr/>
              <p:nvPr/>
            </p:nvCxnSpPr>
            <p:spPr>
              <a:xfrm>
                <a:off x="2983084" y="267471"/>
                <a:ext cx="0" cy="247015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87DD6B9-4D08-4BF1-ADEB-FFB44BF55175}"/>
                </a:ext>
              </a:extLst>
            </p:cNvPr>
            <p:cNvGrpSpPr/>
            <p:nvPr/>
          </p:nvGrpSpPr>
          <p:grpSpPr>
            <a:xfrm>
              <a:off x="794584" y="2379743"/>
              <a:ext cx="2998619" cy="776164"/>
              <a:chOff x="0" y="0"/>
              <a:chExt cx="2998619" cy="777292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F55D855-208B-4E5A-AC65-A99BAEE165C3}"/>
                  </a:ext>
                </a:extLst>
              </p:cNvPr>
              <p:cNvCxnSpPr/>
              <p:nvPr/>
            </p:nvCxnSpPr>
            <p:spPr>
              <a:xfrm flipH="1">
                <a:off x="2998618" y="241460"/>
                <a:ext cx="1" cy="48504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0E7C206-8E7D-462C-885D-2E2C31AB6339}"/>
                  </a:ext>
                </a:extLst>
              </p:cNvPr>
              <p:cNvCxnSpPr/>
              <p:nvPr/>
            </p:nvCxnSpPr>
            <p:spPr>
              <a:xfrm flipH="1">
                <a:off x="2789548" y="241290"/>
                <a:ext cx="0" cy="484887"/>
              </a:xfrm>
              <a:prstGeom prst="line">
                <a:avLst/>
              </a:prstGeom>
              <a:ln w="635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15E3E2A5-DF08-478E-B40F-A57FC1082431}"/>
                  </a:ext>
                </a:extLst>
              </p:cNvPr>
              <p:cNvCxnSpPr/>
              <p:nvPr/>
            </p:nvCxnSpPr>
            <p:spPr>
              <a:xfrm>
                <a:off x="423994" y="265701"/>
                <a:ext cx="0" cy="237359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49B6C53-B784-43E7-B8D6-170EDE9F40BC}"/>
                  </a:ext>
                </a:extLst>
              </p:cNvPr>
              <p:cNvCxnSpPr/>
              <p:nvPr/>
            </p:nvCxnSpPr>
            <p:spPr>
              <a:xfrm>
                <a:off x="423995" y="529818"/>
                <a:ext cx="0" cy="247474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AADDBE2-B1A2-49F7-9A83-1FA3ED9CF459}"/>
                  </a:ext>
                </a:extLst>
              </p:cNvPr>
              <p:cNvCxnSpPr/>
              <p:nvPr/>
            </p:nvCxnSpPr>
            <p:spPr>
              <a:xfrm flipH="1">
                <a:off x="1476695" y="241288"/>
                <a:ext cx="0" cy="484887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1708083-55FF-4D74-B0C7-3D7A20F84245}"/>
                  </a:ext>
                </a:extLst>
              </p:cNvPr>
              <p:cNvCxnSpPr/>
              <p:nvPr/>
            </p:nvCxnSpPr>
            <p:spPr>
              <a:xfrm flipH="1">
                <a:off x="2008589" y="249330"/>
                <a:ext cx="0" cy="484887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 Box 8">
                <a:extLst>
                  <a:ext uri="{FF2B5EF4-FFF2-40B4-BE49-F238E27FC236}">
                    <a16:creationId xmlns:a16="http://schemas.microsoft.com/office/drawing/2014/main" id="{34B86AF5-6EE4-4E41-826A-CA4DEED8C20C}"/>
                  </a:ext>
                </a:extLst>
              </p:cNvPr>
              <p:cNvSpPr txBox="1"/>
              <p:nvPr/>
            </p:nvSpPr>
            <p:spPr>
              <a:xfrm>
                <a:off x="0" y="0"/>
                <a:ext cx="989819" cy="31453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Operation c:  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1C61339-0BAC-4B3B-8FF2-718F05A1CBB3}"/>
                  </a:ext>
                </a:extLst>
              </p:cNvPr>
              <p:cNvCxnSpPr/>
              <p:nvPr/>
            </p:nvCxnSpPr>
            <p:spPr>
              <a:xfrm>
                <a:off x="606374" y="535319"/>
                <a:ext cx="0" cy="236855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3C4DEB6-7C34-4C05-96EB-F8E10657FE52}"/>
                  </a:ext>
                </a:extLst>
              </p:cNvPr>
              <p:cNvCxnSpPr/>
              <p:nvPr/>
            </p:nvCxnSpPr>
            <p:spPr>
              <a:xfrm>
                <a:off x="603590" y="262356"/>
                <a:ext cx="0" cy="247015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FC8AC9A-63C0-4974-81DB-037852A6B5B5}"/>
                </a:ext>
              </a:extLst>
            </p:cNvPr>
            <p:cNvGrpSpPr/>
            <p:nvPr/>
          </p:nvGrpSpPr>
          <p:grpSpPr>
            <a:xfrm>
              <a:off x="794584" y="3155478"/>
              <a:ext cx="2983084" cy="786763"/>
              <a:chOff x="0" y="0"/>
              <a:chExt cx="2983084" cy="787907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B321FBE-6C0C-4B26-913E-6BE549BCCBC7}"/>
                  </a:ext>
                </a:extLst>
              </p:cNvPr>
              <p:cNvCxnSpPr/>
              <p:nvPr/>
            </p:nvCxnSpPr>
            <p:spPr>
              <a:xfrm flipH="1">
                <a:off x="408669" y="249332"/>
                <a:ext cx="1" cy="485044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0DED5E0-938A-4104-8DF3-A37DB79181AA}"/>
                  </a:ext>
                </a:extLst>
              </p:cNvPr>
              <p:cNvCxnSpPr/>
              <p:nvPr/>
            </p:nvCxnSpPr>
            <p:spPr>
              <a:xfrm flipH="1">
                <a:off x="588265" y="255467"/>
                <a:ext cx="0" cy="484887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EF93699-4033-4F27-AB70-2348E036984A}"/>
                  </a:ext>
                </a:extLst>
              </p:cNvPr>
              <p:cNvCxnSpPr/>
              <p:nvPr/>
            </p:nvCxnSpPr>
            <p:spPr>
              <a:xfrm>
                <a:off x="2783234" y="277124"/>
                <a:ext cx="0" cy="237359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4FB906D-3EC3-4264-8DFE-DA0E06FEF416}"/>
                  </a:ext>
                </a:extLst>
              </p:cNvPr>
              <p:cNvCxnSpPr/>
              <p:nvPr/>
            </p:nvCxnSpPr>
            <p:spPr>
              <a:xfrm>
                <a:off x="2780671" y="540433"/>
                <a:ext cx="0" cy="247474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BCBD8A4-ABC8-4E23-82A7-FFFE5A0ABD4D}"/>
                  </a:ext>
                </a:extLst>
              </p:cNvPr>
              <p:cNvCxnSpPr/>
              <p:nvPr/>
            </p:nvCxnSpPr>
            <p:spPr>
              <a:xfrm flipH="1">
                <a:off x="1476695" y="241288"/>
                <a:ext cx="0" cy="484887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9B57703-D65C-428F-8121-FEAB72872DD0}"/>
                  </a:ext>
                </a:extLst>
              </p:cNvPr>
              <p:cNvCxnSpPr/>
              <p:nvPr/>
            </p:nvCxnSpPr>
            <p:spPr>
              <a:xfrm flipH="1">
                <a:off x="2008589" y="249330"/>
                <a:ext cx="0" cy="484887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 Box 8">
                <a:extLst>
                  <a:ext uri="{FF2B5EF4-FFF2-40B4-BE49-F238E27FC236}">
                    <a16:creationId xmlns:a16="http://schemas.microsoft.com/office/drawing/2014/main" id="{64F9C2FF-C5E2-4D7D-AE21-D00DB6003CDC}"/>
                  </a:ext>
                </a:extLst>
              </p:cNvPr>
              <p:cNvSpPr txBox="1"/>
              <p:nvPr/>
            </p:nvSpPr>
            <p:spPr>
              <a:xfrm>
                <a:off x="0" y="0"/>
                <a:ext cx="989819" cy="31453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Operation d:  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3B0FF12-0249-4F42-8604-7AA61A5E8387}"/>
                  </a:ext>
                </a:extLst>
              </p:cNvPr>
              <p:cNvCxnSpPr/>
              <p:nvPr/>
            </p:nvCxnSpPr>
            <p:spPr>
              <a:xfrm>
                <a:off x="2983084" y="540435"/>
                <a:ext cx="0" cy="236855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07DE4A7-E71F-4BF8-998D-2AD4F9ECD2E0}"/>
                  </a:ext>
                </a:extLst>
              </p:cNvPr>
              <p:cNvCxnSpPr/>
              <p:nvPr/>
            </p:nvCxnSpPr>
            <p:spPr>
              <a:xfrm>
                <a:off x="2983084" y="267471"/>
                <a:ext cx="0" cy="247015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48851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715" y="500662"/>
            <a:ext cx="9144000" cy="712188"/>
          </a:xfrm>
        </p:spPr>
        <p:txBody>
          <a:bodyPr>
            <a:noAutofit/>
          </a:bodyPr>
          <a:lstStyle/>
          <a:p>
            <a:r>
              <a:rPr lang="en-US" sz="4400" b="1" dirty="0"/>
              <a:t>Results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8</a:t>
            </a:fld>
            <a:endParaRPr lang="en-US" sz="1400" dirty="0">
              <a:solidFill>
                <a:schemeClr val="tx1"/>
              </a:solidFill>
            </a:endParaRPr>
          </a:p>
        </p:txBody>
      </p:sp>
      <p:grpSp>
        <p:nvGrpSpPr>
          <p:cNvPr id="5" name="Canvas 21">
            <a:extLst>
              <a:ext uri="{FF2B5EF4-FFF2-40B4-BE49-F238E27FC236}">
                <a16:creationId xmlns:a16="http://schemas.microsoft.com/office/drawing/2014/main" id="{BF563019-0DCF-4CCC-8AFE-A4D16DC3C4D0}"/>
              </a:ext>
            </a:extLst>
          </p:cNvPr>
          <p:cNvGrpSpPr/>
          <p:nvPr/>
        </p:nvGrpSpPr>
        <p:grpSpPr>
          <a:xfrm>
            <a:off x="536998" y="1447895"/>
            <a:ext cx="5486400" cy="4106545"/>
            <a:chOff x="0" y="0"/>
            <a:chExt cx="5486400" cy="410654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AA1F974-886A-4AC0-857D-FBAB062C9EA9}"/>
                </a:ext>
              </a:extLst>
            </p:cNvPr>
            <p:cNvSpPr/>
            <p:nvPr/>
          </p:nvSpPr>
          <p:spPr>
            <a:xfrm>
              <a:off x="0" y="0"/>
              <a:ext cx="5486400" cy="4106545"/>
            </a:xfrm>
            <a:prstGeom prst="rect">
              <a:avLst/>
            </a:prstGeom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9563641-31BB-4C08-A3ED-CE39E9B9EF9A}"/>
                </a:ext>
              </a:extLst>
            </p:cNvPr>
            <p:cNvGrpSpPr/>
            <p:nvPr/>
          </p:nvGrpSpPr>
          <p:grpSpPr>
            <a:xfrm>
              <a:off x="919508" y="71518"/>
              <a:ext cx="3187629" cy="763666"/>
              <a:chOff x="924617" y="260527"/>
              <a:chExt cx="3187629" cy="763666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B03FAE9-98B0-464D-ABC8-89777EFBD875}"/>
                  </a:ext>
                </a:extLst>
              </p:cNvPr>
              <p:cNvCxnSpPr/>
              <p:nvPr/>
            </p:nvCxnSpPr>
            <p:spPr>
              <a:xfrm flipH="1">
                <a:off x="1215794" y="260527"/>
                <a:ext cx="1" cy="485297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D5D21B6-82FF-4E34-BE25-0FBBA88FC73E}"/>
                  </a:ext>
                </a:extLst>
              </p:cNvPr>
              <p:cNvCxnSpPr/>
              <p:nvPr/>
            </p:nvCxnSpPr>
            <p:spPr>
              <a:xfrm flipH="1">
                <a:off x="1395390" y="266665"/>
                <a:ext cx="0" cy="485140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2D058D30-8230-42C5-BE61-51FE79B99C18}"/>
                  </a:ext>
                </a:extLst>
              </p:cNvPr>
              <p:cNvCxnSpPr/>
              <p:nvPr/>
            </p:nvCxnSpPr>
            <p:spPr>
              <a:xfrm flipH="1">
                <a:off x="2285159" y="272380"/>
                <a:ext cx="0" cy="485140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6BF34F9-8B2D-47F5-A07B-701C2812B98C}"/>
                  </a:ext>
                </a:extLst>
              </p:cNvPr>
              <p:cNvCxnSpPr/>
              <p:nvPr/>
            </p:nvCxnSpPr>
            <p:spPr>
              <a:xfrm flipH="1">
                <a:off x="2778515" y="277488"/>
                <a:ext cx="0" cy="485140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2C8863D-F885-4726-BCA8-76A7C0247956}"/>
                  </a:ext>
                </a:extLst>
              </p:cNvPr>
              <p:cNvCxnSpPr/>
              <p:nvPr/>
            </p:nvCxnSpPr>
            <p:spPr>
              <a:xfrm flipH="1">
                <a:off x="3581348" y="288284"/>
                <a:ext cx="0" cy="485140"/>
              </a:xfrm>
              <a:prstGeom prst="line">
                <a:avLst/>
              </a:prstGeom>
              <a:ln w="635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465A0B1B-1530-499B-B2F3-E74B66F2DEC7}"/>
                  </a:ext>
                </a:extLst>
              </p:cNvPr>
              <p:cNvCxnSpPr/>
              <p:nvPr/>
            </p:nvCxnSpPr>
            <p:spPr>
              <a:xfrm flipH="1">
                <a:off x="3781198" y="288284"/>
                <a:ext cx="0" cy="48514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 Box 8">
                <a:extLst>
                  <a:ext uri="{FF2B5EF4-FFF2-40B4-BE49-F238E27FC236}">
                    <a16:creationId xmlns:a16="http://schemas.microsoft.com/office/drawing/2014/main" id="{DF7F4E6B-BAD7-4309-9D69-273CC94DAA5E}"/>
                  </a:ext>
                </a:extLst>
              </p:cNvPr>
              <p:cNvSpPr txBox="1"/>
              <p:nvPr/>
            </p:nvSpPr>
            <p:spPr>
              <a:xfrm>
                <a:off x="924617" y="763208"/>
                <a:ext cx="761148" cy="26098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Best two  </a:t>
                </a:r>
              </a:p>
            </p:txBody>
          </p:sp>
          <p:sp>
            <p:nvSpPr>
              <p:cNvPr id="57" name="Text Box 8">
                <a:extLst>
                  <a:ext uri="{FF2B5EF4-FFF2-40B4-BE49-F238E27FC236}">
                    <a16:creationId xmlns:a16="http://schemas.microsoft.com/office/drawing/2014/main" id="{3CD2990B-A7FD-4E95-8857-AD6137544362}"/>
                  </a:ext>
                </a:extLst>
              </p:cNvPr>
              <p:cNvSpPr txBox="1"/>
              <p:nvPr/>
            </p:nvSpPr>
            <p:spPr>
              <a:xfrm>
                <a:off x="2034341" y="763208"/>
                <a:ext cx="1020469" cy="26098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Random two </a:t>
                </a:r>
              </a:p>
            </p:txBody>
          </p:sp>
          <p:sp>
            <p:nvSpPr>
              <p:cNvPr id="58" name="Text Box 8">
                <a:extLst>
                  <a:ext uri="{FF2B5EF4-FFF2-40B4-BE49-F238E27FC236}">
                    <a16:creationId xmlns:a16="http://schemas.microsoft.com/office/drawing/2014/main" id="{25070094-F351-4F00-8A2F-45820F10B717}"/>
                  </a:ext>
                </a:extLst>
              </p:cNvPr>
              <p:cNvSpPr txBox="1"/>
              <p:nvPr/>
            </p:nvSpPr>
            <p:spPr>
              <a:xfrm>
                <a:off x="3270570" y="763208"/>
                <a:ext cx="841676" cy="26098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Worst two 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8EF4857-4A55-48B4-B5E2-175E6766CCE1}"/>
                </a:ext>
              </a:extLst>
            </p:cNvPr>
            <p:cNvGrpSpPr/>
            <p:nvPr/>
          </p:nvGrpSpPr>
          <p:grpSpPr>
            <a:xfrm>
              <a:off x="802016" y="850175"/>
              <a:ext cx="2974073" cy="761962"/>
              <a:chOff x="793006" y="758225"/>
              <a:chExt cx="2974073" cy="76196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E04434B-E925-462D-980A-D6423C353D25}"/>
                  </a:ext>
                </a:extLst>
              </p:cNvPr>
              <p:cNvCxnSpPr/>
              <p:nvPr/>
            </p:nvCxnSpPr>
            <p:spPr>
              <a:xfrm flipH="1">
                <a:off x="1201675" y="1007557"/>
                <a:ext cx="1" cy="485044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B983A41-4E05-403E-8F5D-A48B78323E6C}"/>
                  </a:ext>
                </a:extLst>
              </p:cNvPr>
              <p:cNvCxnSpPr/>
              <p:nvPr/>
            </p:nvCxnSpPr>
            <p:spPr>
              <a:xfrm flipH="1">
                <a:off x="1381271" y="1013692"/>
                <a:ext cx="0" cy="484887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6726373-9459-4EC0-BC9D-C51E7EB7785E}"/>
                  </a:ext>
                </a:extLst>
              </p:cNvPr>
              <p:cNvCxnSpPr/>
              <p:nvPr/>
            </p:nvCxnSpPr>
            <p:spPr>
              <a:xfrm>
                <a:off x="2271040" y="1019302"/>
                <a:ext cx="0" cy="237359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9229F23-4B28-4F50-95DE-FC6820A98D25}"/>
                  </a:ext>
                </a:extLst>
              </p:cNvPr>
              <p:cNvCxnSpPr/>
              <p:nvPr/>
            </p:nvCxnSpPr>
            <p:spPr>
              <a:xfrm>
                <a:off x="2271040" y="1272712"/>
                <a:ext cx="0" cy="247474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73DC040E-B747-4E7D-9B76-B5B9C0737740}"/>
                  </a:ext>
                </a:extLst>
              </p:cNvPr>
              <p:cNvCxnSpPr/>
              <p:nvPr/>
            </p:nvCxnSpPr>
            <p:spPr>
              <a:xfrm flipH="1">
                <a:off x="3567229" y="1035300"/>
                <a:ext cx="0" cy="484887"/>
              </a:xfrm>
              <a:prstGeom prst="line">
                <a:avLst/>
              </a:prstGeom>
              <a:ln w="635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A471BB8-8160-4A76-ADA1-88953FA88C61}"/>
                  </a:ext>
                </a:extLst>
              </p:cNvPr>
              <p:cNvCxnSpPr/>
              <p:nvPr/>
            </p:nvCxnSpPr>
            <p:spPr>
              <a:xfrm flipH="1">
                <a:off x="3767079" y="1035300"/>
                <a:ext cx="0" cy="484887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 Box 8">
                <a:extLst>
                  <a:ext uri="{FF2B5EF4-FFF2-40B4-BE49-F238E27FC236}">
                    <a16:creationId xmlns:a16="http://schemas.microsoft.com/office/drawing/2014/main" id="{4652D3F0-5671-49E2-A2E8-8A935F4B9CC6}"/>
                  </a:ext>
                </a:extLst>
              </p:cNvPr>
              <p:cNvSpPr txBox="1"/>
              <p:nvPr/>
            </p:nvSpPr>
            <p:spPr>
              <a:xfrm>
                <a:off x="793006" y="758225"/>
                <a:ext cx="989819" cy="31453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Operation a:  </a:t>
                </a: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84E86A3D-D7FB-4744-8DDE-37C165BDE45E}"/>
                  </a:ext>
                </a:extLst>
              </p:cNvPr>
              <p:cNvCxnSpPr/>
              <p:nvPr/>
            </p:nvCxnSpPr>
            <p:spPr>
              <a:xfrm>
                <a:off x="2782805" y="1283323"/>
                <a:ext cx="0" cy="236855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A3F2549-108B-418A-BFF0-9F7D075755EC}"/>
                  </a:ext>
                </a:extLst>
              </p:cNvPr>
              <p:cNvCxnSpPr/>
              <p:nvPr/>
            </p:nvCxnSpPr>
            <p:spPr>
              <a:xfrm>
                <a:off x="2782805" y="1018843"/>
                <a:ext cx="0" cy="247015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E5E2E8-7FE9-4176-9236-C8BF6172375F}"/>
                </a:ext>
              </a:extLst>
            </p:cNvPr>
            <p:cNvGrpSpPr/>
            <p:nvPr/>
          </p:nvGrpSpPr>
          <p:grpSpPr>
            <a:xfrm>
              <a:off x="794584" y="1640998"/>
              <a:ext cx="2983084" cy="787290"/>
              <a:chOff x="0" y="0"/>
              <a:chExt cx="2983084" cy="787907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BF44891-946D-482E-9E91-C9DDED98EBD2}"/>
                  </a:ext>
                </a:extLst>
              </p:cNvPr>
              <p:cNvCxnSpPr/>
              <p:nvPr/>
            </p:nvCxnSpPr>
            <p:spPr>
              <a:xfrm flipH="1">
                <a:off x="408669" y="249332"/>
                <a:ext cx="1" cy="485044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952F047-3398-4960-B592-54BB1DA5BEE7}"/>
                  </a:ext>
                </a:extLst>
              </p:cNvPr>
              <p:cNvCxnSpPr/>
              <p:nvPr/>
            </p:nvCxnSpPr>
            <p:spPr>
              <a:xfrm flipH="1">
                <a:off x="588265" y="255467"/>
                <a:ext cx="0" cy="484887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92FE793-0239-4D36-AEF0-05EB944CB68D}"/>
                  </a:ext>
                </a:extLst>
              </p:cNvPr>
              <p:cNvCxnSpPr/>
              <p:nvPr/>
            </p:nvCxnSpPr>
            <p:spPr>
              <a:xfrm>
                <a:off x="2783234" y="277124"/>
                <a:ext cx="0" cy="237359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52AD394-0D41-46B4-B20A-A223CA14D28C}"/>
                  </a:ext>
                </a:extLst>
              </p:cNvPr>
              <p:cNvCxnSpPr/>
              <p:nvPr/>
            </p:nvCxnSpPr>
            <p:spPr>
              <a:xfrm>
                <a:off x="2780671" y="540433"/>
                <a:ext cx="0" cy="247474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737B986-C397-47CE-B395-8406DCB58F7B}"/>
                  </a:ext>
                </a:extLst>
              </p:cNvPr>
              <p:cNvCxnSpPr/>
              <p:nvPr/>
            </p:nvCxnSpPr>
            <p:spPr>
              <a:xfrm flipH="1">
                <a:off x="1476695" y="241288"/>
                <a:ext cx="0" cy="484887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119BD677-1D60-4D8A-AE14-AA957318077A}"/>
                  </a:ext>
                </a:extLst>
              </p:cNvPr>
              <p:cNvCxnSpPr/>
              <p:nvPr/>
            </p:nvCxnSpPr>
            <p:spPr>
              <a:xfrm flipH="1">
                <a:off x="2008589" y="249330"/>
                <a:ext cx="0" cy="484887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 Box 8">
                <a:extLst>
                  <a:ext uri="{FF2B5EF4-FFF2-40B4-BE49-F238E27FC236}">
                    <a16:creationId xmlns:a16="http://schemas.microsoft.com/office/drawing/2014/main" id="{4B1F4610-268C-4F02-B14B-26CCA0398490}"/>
                  </a:ext>
                </a:extLst>
              </p:cNvPr>
              <p:cNvSpPr txBox="1"/>
              <p:nvPr/>
            </p:nvSpPr>
            <p:spPr>
              <a:xfrm>
                <a:off x="0" y="0"/>
                <a:ext cx="989819" cy="31453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Operation b:  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A2348B4-088E-411E-BB06-D6DB5D076AC5}"/>
                  </a:ext>
                </a:extLst>
              </p:cNvPr>
              <p:cNvCxnSpPr/>
              <p:nvPr/>
            </p:nvCxnSpPr>
            <p:spPr>
              <a:xfrm>
                <a:off x="2983084" y="540435"/>
                <a:ext cx="0" cy="236855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1CABEB4-CE1E-4809-913E-00849C9A6158}"/>
                  </a:ext>
                </a:extLst>
              </p:cNvPr>
              <p:cNvCxnSpPr/>
              <p:nvPr/>
            </p:nvCxnSpPr>
            <p:spPr>
              <a:xfrm>
                <a:off x="2983084" y="267471"/>
                <a:ext cx="0" cy="247015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87DD6B9-4D08-4BF1-ADEB-FFB44BF55175}"/>
                </a:ext>
              </a:extLst>
            </p:cNvPr>
            <p:cNvGrpSpPr/>
            <p:nvPr/>
          </p:nvGrpSpPr>
          <p:grpSpPr>
            <a:xfrm>
              <a:off x="794584" y="2379743"/>
              <a:ext cx="2998619" cy="776164"/>
              <a:chOff x="0" y="0"/>
              <a:chExt cx="2998619" cy="777292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F55D855-208B-4E5A-AC65-A99BAEE165C3}"/>
                  </a:ext>
                </a:extLst>
              </p:cNvPr>
              <p:cNvCxnSpPr/>
              <p:nvPr/>
            </p:nvCxnSpPr>
            <p:spPr>
              <a:xfrm flipH="1">
                <a:off x="2998618" y="241460"/>
                <a:ext cx="1" cy="48504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0E7C206-8E7D-462C-885D-2E2C31AB6339}"/>
                  </a:ext>
                </a:extLst>
              </p:cNvPr>
              <p:cNvCxnSpPr/>
              <p:nvPr/>
            </p:nvCxnSpPr>
            <p:spPr>
              <a:xfrm flipH="1">
                <a:off x="2789548" y="241290"/>
                <a:ext cx="0" cy="484887"/>
              </a:xfrm>
              <a:prstGeom prst="line">
                <a:avLst/>
              </a:prstGeom>
              <a:ln w="635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15E3E2A5-DF08-478E-B40F-A57FC1082431}"/>
                  </a:ext>
                </a:extLst>
              </p:cNvPr>
              <p:cNvCxnSpPr/>
              <p:nvPr/>
            </p:nvCxnSpPr>
            <p:spPr>
              <a:xfrm>
                <a:off x="423994" y="265701"/>
                <a:ext cx="0" cy="237359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49B6C53-B784-43E7-B8D6-170EDE9F40BC}"/>
                  </a:ext>
                </a:extLst>
              </p:cNvPr>
              <p:cNvCxnSpPr/>
              <p:nvPr/>
            </p:nvCxnSpPr>
            <p:spPr>
              <a:xfrm>
                <a:off x="423995" y="529818"/>
                <a:ext cx="0" cy="247474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AADDBE2-B1A2-49F7-9A83-1FA3ED9CF459}"/>
                  </a:ext>
                </a:extLst>
              </p:cNvPr>
              <p:cNvCxnSpPr/>
              <p:nvPr/>
            </p:nvCxnSpPr>
            <p:spPr>
              <a:xfrm flipH="1">
                <a:off x="1476695" y="241288"/>
                <a:ext cx="0" cy="484887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1708083-55FF-4D74-B0C7-3D7A20F84245}"/>
                  </a:ext>
                </a:extLst>
              </p:cNvPr>
              <p:cNvCxnSpPr/>
              <p:nvPr/>
            </p:nvCxnSpPr>
            <p:spPr>
              <a:xfrm flipH="1">
                <a:off x="2008589" y="249330"/>
                <a:ext cx="0" cy="484887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 Box 8">
                <a:extLst>
                  <a:ext uri="{FF2B5EF4-FFF2-40B4-BE49-F238E27FC236}">
                    <a16:creationId xmlns:a16="http://schemas.microsoft.com/office/drawing/2014/main" id="{34B86AF5-6EE4-4E41-826A-CA4DEED8C20C}"/>
                  </a:ext>
                </a:extLst>
              </p:cNvPr>
              <p:cNvSpPr txBox="1"/>
              <p:nvPr/>
            </p:nvSpPr>
            <p:spPr>
              <a:xfrm>
                <a:off x="0" y="0"/>
                <a:ext cx="989819" cy="31453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Operation c:  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1C61339-0BAC-4B3B-8FF2-718F05A1CBB3}"/>
                  </a:ext>
                </a:extLst>
              </p:cNvPr>
              <p:cNvCxnSpPr/>
              <p:nvPr/>
            </p:nvCxnSpPr>
            <p:spPr>
              <a:xfrm>
                <a:off x="606374" y="535319"/>
                <a:ext cx="0" cy="236855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3C4DEB6-7C34-4C05-96EB-F8E10657FE52}"/>
                  </a:ext>
                </a:extLst>
              </p:cNvPr>
              <p:cNvCxnSpPr/>
              <p:nvPr/>
            </p:nvCxnSpPr>
            <p:spPr>
              <a:xfrm>
                <a:off x="603590" y="262356"/>
                <a:ext cx="0" cy="247015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FC8AC9A-63C0-4974-81DB-037852A6B5B5}"/>
                </a:ext>
              </a:extLst>
            </p:cNvPr>
            <p:cNvGrpSpPr/>
            <p:nvPr/>
          </p:nvGrpSpPr>
          <p:grpSpPr>
            <a:xfrm>
              <a:off x="794584" y="3155478"/>
              <a:ext cx="2983084" cy="786763"/>
              <a:chOff x="0" y="0"/>
              <a:chExt cx="2983084" cy="787907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B321FBE-6C0C-4B26-913E-6BE549BCCBC7}"/>
                  </a:ext>
                </a:extLst>
              </p:cNvPr>
              <p:cNvCxnSpPr/>
              <p:nvPr/>
            </p:nvCxnSpPr>
            <p:spPr>
              <a:xfrm flipH="1">
                <a:off x="408669" y="249332"/>
                <a:ext cx="1" cy="485044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0DED5E0-938A-4104-8DF3-A37DB79181AA}"/>
                  </a:ext>
                </a:extLst>
              </p:cNvPr>
              <p:cNvCxnSpPr/>
              <p:nvPr/>
            </p:nvCxnSpPr>
            <p:spPr>
              <a:xfrm flipH="1">
                <a:off x="588265" y="255467"/>
                <a:ext cx="0" cy="484887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EF93699-4033-4F27-AB70-2348E036984A}"/>
                  </a:ext>
                </a:extLst>
              </p:cNvPr>
              <p:cNvCxnSpPr/>
              <p:nvPr/>
            </p:nvCxnSpPr>
            <p:spPr>
              <a:xfrm>
                <a:off x="2783234" y="277124"/>
                <a:ext cx="0" cy="237359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4FB906D-3EC3-4264-8DFE-DA0E06FEF416}"/>
                  </a:ext>
                </a:extLst>
              </p:cNvPr>
              <p:cNvCxnSpPr/>
              <p:nvPr/>
            </p:nvCxnSpPr>
            <p:spPr>
              <a:xfrm>
                <a:off x="2780671" y="540433"/>
                <a:ext cx="0" cy="247474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BCBD8A4-ABC8-4E23-82A7-FFFE5A0ABD4D}"/>
                  </a:ext>
                </a:extLst>
              </p:cNvPr>
              <p:cNvCxnSpPr/>
              <p:nvPr/>
            </p:nvCxnSpPr>
            <p:spPr>
              <a:xfrm flipH="1">
                <a:off x="1476695" y="241288"/>
                <a:ext cx="0" cy="484887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9B57703-D65C-428F-8121-FEAB72872DD0}"/>
                  </a:ext>
                </a:extLst>
              </p:cNvPr>
              <p:cNvCxnSpPr/>
              <p:nvPr/>
            </p:nvCxnSpPr>
            <p:spPr>
              <a:xfrm flipH="1">
                <a:off x="2008589" y="249330"/>
                <a:ext cx="0" cy="484887"/>
              </a:xfrm>
              <a:prstGeom prst="line">
                <a:avLst/>
              </a:prstGeom>
              <a:ln w="63500">
                <a:solidFill>
                  <a:srgbClr val="66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 Box 8">
                <a:extLst>
                  <a:ext uri="{FF2B5EF4-FFF2-40B4-BE49-F238E27FC236}">
                    <a16:creationId xmlns:a16="http://schemas.microsoft.com/office/drawing/2014/main" id="{64F9C2FF-C5E2-4D7D-AE21-D00DB6003CDC}"/>
                  </a:ext>
                </a:extLst>
              </p:cNvPr>
              <p:cNvSpPr txBox="1"/>
              <p:nvPr/>
            </p:nvSpPr>
            <p:spPr>
              <a:xfrm>
                <a:off x="0" y="0"/>
                <a:ext cx="989819" cy="31453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Operation d:  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3B0FF12-0249-4F42-8604-7AA61A5E8387}"/>
                  </a:ext>
                </a:extLst>
              </p:cNvPr>
              <p:cNvCxnSpPr/>
              <p:nvPr/>
            </p:nvCxnSpPr>
            <p:spPr>
              <a:xfrm>
                <a:off x="2983084" y="540435"/>
                <a:ext cx="0" cy="236855"/>
              </a:xfrm>
              <a:prstGeom prst="line">
                <a:avLst/>
              </a:prstGeom>
              <a:ln w="63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07DE4A7-E71F-4BF8-998D-2AD4F9ECD2E0}"/>
                  </a:ext>
                </a:extLst>
              </p:cNvPr>
              <p:cNvCxnSpPr/>
              <p:nvPr/>
            </p:nvCxnSpPr>
            <p:spPr>
              <a:xfrm>
                <a:off x="2983084" y="267471"/>
                <a:ext cx="0" cy="247015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3CD2F4B4-2734-41D7-9A3C-60057F00C32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346" y="1473177"/>
            <a:ext cx="5120640" cy="39954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AB38EC-3B85-462C-BDDE-02E558713328}"/>
              </a:ext>
            </a:extLst>
          </p:cNvPr>
          <p:cNvSpPr txBox="1"/>
          <p:nvPr/>
        </p:nvSpPr>
        <p:spPr>
          <a:xfrm>
            <a:off x="553377" y="5801126"/>
            <a:ext cx="10613569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Operation d is most efficient. </a:t>
            </a:r>
          </a:p>
        </p:txBody>
      </p:sp>
    </p:spTree>
    <p:extLst>
      <p:ext uri="{BB962C8B-B14F-4D97-AF65-F5344CB8AC3E}">
        <p14:creationId xmlns:p14="http://schemas.microsoft.com/office/powerpoint/2010/main" val="3887165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748" y="500662"/>
            <a:ext cx="10298130" cy="712188"/>
          </a:xfrm>
        </p:spPr>
        <p:txBody>
          <a:bodyPr>
            <a:no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b="1" dirty="0">
                <a:effectLst/>
                <a:ea typeface="DengXian" panose="02010600030101010101" pitchFamily="2" charset="-122"/>
                <a:cs typeface="Calibri Light" panose="020F0302020204030204" pitchFamily="34" charset="0"/>
              </a:rPr>
              <a:t>3. The Kolkata Paise Restaurant Problem</a:t>
            </a:r>
            <a:r>
              <a:rPr lang="en-US" sz="4400" b="1" baseline="30000" dirty="0">
                <a:effectLst/>
                <a:ea typeface="DengXian" panose="02010600030101010101" pitchFamily="2" charset="-122"/>
                <a:cs typeface="Calibri Light" panose="020F0302020204030204" pitchFamily="34" charset="0"/>
              </a:rPr>
              <a:t>3</a:t>
            </a:r>
            <a:endParaRPr lang="en-US" sz="4400" baseline="30000" dirty="0">
              <a:effectLst/>
              <a:ea typeface="DengXian" panose="02010600030101010101" pitchFamily="2" charset="-122"/>
              <a:cs typeface="Calibri Light" panose="020F030202020403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9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838199" y="1626177"/>
                <a:ext cx="10388054" cy="36313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Recently, this model has been extended to different resource allocation problems, e.g.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dynamic matching 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in mobility markets,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resource allocation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 in the Internet of Things.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i="1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restaurants, each with one table.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agents, each selecting one restaurant.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If there are more than one agents selecting a restaurant, the restaurant chooses one agent randomly. 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unselected agents will not have lunch on that day.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26177"/>
                <a:ext cx="10388054" cy="3631379"/>
              </a:xfrm>
              <a:prstGeom prst="rect">
                <a:avLst/>
              </a:prstGeom>
              <a:blipFill>
                <a:blip r:embed="rId2"/>
                <a:stretch>
                  <a:fillRect l="-880" t="-1176" r="-880" b="-3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F36280A-1694-4235-A0AF-301283321B6B}"/>
              </a:ext>
            </a:extLst>
          </p:cNvPr>
          <p:cNvSpPr txBox="1"/>
          <p:nvPr/>
        </p:nvSpPr>
        <p:spPr>
          <a:xfrm>
            <a:off x="838199" y="5892581"/>
            <a:ext cx="10298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aseline="30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Chakraborti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AS, Chakrabarti BK, Chatterjee A, and Mitra M (2009) The Kolkata Paise Restaurant Problem and resource utilization.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Physica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A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288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2420-2426.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620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4731" y="513419"/>
            <a:ext cx="10639947" cy="712188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b="1" dirty="0">
                <a:effectLst/>
                <a:latin typeface="Calibri Light" panose="020F0302020204030204" pitchFamily="34" charset="0"/>
                <a:ea typeface="DengXian" panose="02010600030101010101" pitchFamily="2" charset="-122"/>
                <a:cs typeface="Calibri Light" panose="020F0302020204030204" pitchFamily="34" charset="0"/>
              </a:rPr>
              <a:t>3.1. Repeated Game: No-Learning Strategy</a:t>
            </a:r>
            <a:endParaRPr lang="en-US" sz="4400" dirty="0">
              <a:effectLst/>
              <a:latin typeface="Calibri Light" panose="020F0302020204030204" pitchFamily="34" charset="0"/>
              <a:ea typeface="DengXian" panose="02010600030101010101" pitchFamily="2" charset="-122"/>
              <a:cs typeface="Calibri Light" panose="020F030202020403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10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352836" y="1392469"/>
                <a:ext cx="11355954" cy="4797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i="1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On each day, an agent selects any one restaurant with equal probability. There is no memory or learning and each day the same process is repeated.</a:t>
                </a: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number of agents selecting a given restaurant follows the Poisson distribution with mean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=1.</m:t>
                    </m:r>
                  </m:oMath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sup>
                      </m:sSup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Fraction of empty restaurants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Utilization of the restaurants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=1−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=1−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≈0.63.</m:t>
                    </m:r>
                  </m:oMath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Two limited learning strategies are described in the textbook, but the utilizations are low.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36" y="1392469"/>
                <a:ext cx="11355954" cy="4797019"/>
              </a:xfrm>
              <a:prstGeom prst="rect">
                <a:avLst/>
              </a:prstGeom>
              <a:blipFill>
                <a:blip r:embed="rId2"/>
                <a:stretch>
                  <a:fillRect l="-859" t="-889" r="-805" b="-1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30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748" y="500661"/>
            <a:ext cx="10298130" cy="13444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b="1" dirty="0">
                <a:latin typeface="Calibri Light" panose="020F0302020204030204" pitchFamily="34" charset="0"/>
                <a:ea typeface="DengXian" panose="02010600030101010101" pitchFamily="2" charset="-122"/>
                <a:cs typeface="Calibri Light" panose="020F0302020204030204" pitchFamily="34" charset="0"/>
              </a:rPr>
              <a:t>3.2</a:t>
            </a:r>
            <a:r>
              <a:rPr lang="en-US" sz="4400" b="1" dirty="0">
                <a:effectLst/>
                <a:latin typeface="Calibri Light" panose="020F0302020204030204" pitchFamily="34" charset="0"/>
                <a:ea typeface="DengXian" panose="02010600030101010101" pitchFamily="2" charset="-122"/>
                <a:cs typeface="Calibri Light" panose="020F0302020204030204" pitchFamily="34" charset="0"/>
              </a:rPr>
              <a:t>.	Repeated Game: </a:t>
            </a:r>
            <a:br>
              <a:rPr lang="en-US" sz="4400" b="1" dirty="0">
                <a:effectLst/>
                <a:latin typeface="Calibri Light" panose="020F0302020204030204" pitchFamily="34" charset="0"/>
                <a:ea typeface="DengXian" panose="02010600030101010101" pitchFamily="2" charset="-122"/>
                <a:cs typeface="Calibri Light" panose="020F0302020204030204" pitchFamily="34" charset="0"/>
              </a:rPr>
            </a:br>
            <a:r>
              <a:rPr lang="en-US" sz="4400" b="1" dirty="0">
                <a:effectLst/>
                <a:latin typeface="Calibri Light" panose="020F0302020204030204" pitchFamily="34" charset="0"/>
                <a:ea typeface="DengXian" panose="02010600030101010101" pitchFamily="2" charset="-122"/>
                <a:cs typeface="Calibri Light" panose="020F0302020204030204" pitchFamily="34" charset="0"/>
              </a:rPr>
              <a:t>One Period Limited Learning Strategy</a:t>
            </a:r>
            <a:endParaRPr lang="en-US" sz="4400" dirty="0">
              <a:effectLst/>
              <a:latin typeface="Calibri Light" panose="020F0302020204030204" pitchFamily="34" charset="0"/>
              <a:ea typeface="DengXian" panose="02010600030101010101" pitchFamily="2" charset="-122"/>
              <a:cs typeface="Calibri Light" panose="020F030202020403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11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287522" y="2051727"/>
                <a:ext cx="11355954" cy="32362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i="1" dirty="0">
                    <a:effectLst/>
                    <a:ea typeface="DengXian" panose="02010600030101010101" pitchFamily="2" charset="-122"/>
                  </a:rPr>
                  <a:t>If an agent gets lunch on day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sz="2400" i="1" dirty="0">
                    <a:effectLst/>
                    <a:ea typeface="DengXian" panose="02010600030101010101" pitchFamily="2" charset="-122"/>
                  </a:rPr>
                  <a:t> from restaurant k, then the agent </a:t>
                </a:r>
                <a:r>
                  <a:rPr lang="en-US" sz="2400" i="1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</a:rPr>
                  <a:t>goes back to the same restaurant on day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sz="2400" i="1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</a:rPr>
                  <a:t>)</a:t>
                </a:r>
                <a:r>
                  <a:rPr lang="en-US" sz="2400" i="1" dirty="0">
                    <a:effectLst/>
                    <a:ea typeface="DengXian" panose="02010600030101010101" pitchFamily="2" charset="-122"/>
                  </a:rPr>
                  <a:t> and tries for a restaurant on day (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+2</m:t>
                    </m:r>
                  </m:oMath>
                </a14:m>
                <a:r>
                  <a:rPr lang="en-US" sz="2400" i="1" dirty="0">
                    <a:effectLst/>
                    <a:ea typeface="DengXian" panose="02010600030101010101" pitchFamily="2" charset="-122"/>
                  </a:rPr>
                  <a:t>) which was vacant on day (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sz="2400" i="1" dirty="0">
                    <a:effectLst/>
                    <a:ea typeface="DengXian" panose="02010600030101010101" pitchFamily="2" charset="-122"/>
                  </a:rPr>
                  <a:t>). If the agent fails to get lunch on day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sz="2400" i="1" dirty="0">
                    <a:effectLst/>
                    <a:ea typeface="DengXian" panose="02010600030101010101" pitchFamily="2" charset="-122"/>
                  </a:rPr>
                  <a:t>, then the agent tries for a restaurant on day (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sz="2400" i="1" dirty="0">
                    <a:effectLst/>
                    <a:ea typeface="DengXian" panose="02010600030101010101" pitchFamily="2" charset="-122"/>
                  </a:rPr>
                  <a:t>) which was vacant on day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sz="2400" i="1" dirty="0">
                    <a:effectLst/>
                    <a:ea typeface="DengXian" panose="02010600030101010101" pitchFamily="2" charset="-122"/>
                  </a:rPr>
                  <a:t>, using the same stochastic strategy as in the no learning case.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i="1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i="1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(Assume that those who go back to the same restaurant on day (t + 1) have made reservations at the restaurant and there is no need to compete with other agents.)</a:t>
                </a: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2" y="2051727"/>
                <a:ext cx="11355954" cy="3236207"/>
              </a:xfrm>
              <a:prstGeom prst="rect">
                <a:avLst/>
              </a:prstGeom>
              <a:blipFill>
                <a:blip r:embed="rId2"/>
                <a:stretch>
                  <a:fillRect l="-805" t="-1321" r="-859" b="-3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083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748" y="500662"/>
            <a:ext cx="10298130" cy="712188"/>
          </a:xfrm>
        </p:spPr>
        <p:txBody>
          <a:bodyPr>
            <a:noAutofit/>
          </a:bodyPr>
          <a:lstStyle/>
          <a:p>
            <a:r>
              <a:rPr lang="en-US" sz="4400" b="1" dirty="0">
                <a:effectLst/>
                <a:ea typeface="DengXian" panose="02010600030101010101" pitchFamily="2" charset="-122"/>
              </a:rPr>
              <a:t>Recursion Relation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12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352836" y="1392465"/>
                <a:ext cx="11355954" cy="40949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On day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there are two kinds of agents who utilize a restaurant: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(1) Those who successfully selected a restaurant on day (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) and continue to stay in that restaurant on day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be the fraction of these agents.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(2) Those who were not successful in selecting a restaurant on day (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) but are successful on day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fraction of these agents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However,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related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by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36" y="1392465"/>
                <a:ext cx="11355954" cy="4094904"/>
              </a:xfrm>
              <a:prstGeom prst="rect">
                <a:avLst/>
              </a:prstGeom>
              <a:blipFill>
                <a:blip r:embed="rId2"/>
                <a:stretch>
                  <a:fillRect l="-859" t="-1042" r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7">
            <a:extLst>
              <a:ext uri="{FF2B5EF4-FFF2-40B4-BE49-F238E27FC236}">
                <a16:creationId xmlns:a16="http://schemas.microsoft.com/office/drawing/2014/main" id="{7245BAA2-BF31-428A-A63B-73110B798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830" y="5816599"/>
            <a:ext cx="2965307" cy="687065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Fraction of empty restaurants on the previous day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28">
            <a:extLst>
              <a:ext uri="{FF2B5EF4-FFF2-40B4-BE49-F238E27FC236}">
                <a16:creationId xmlns:a16="http://schemas.microsoft.com/office/drawing/2014/main" id="{88F51871-B92F-4A8E-B4AC-D3D195293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4533" y="5830886"/>
            <a:ext cx="2124422" cy="672783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Utilization of the no-learning strategy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925FC3-B85A-4109-952A-257D658D1B14}"/>
              </a:ext>
            </a:extLst>
          </p:cNvPr>
          <p:cNvCxnSpPr>
            <a:cxnSpLocks/>
          </p:cNvCxnSpPr>
          <p:nvPr/>
        </p:nvCxnSpPr>
        <p:spPr>
          <a:xfrm flipV="1">
            <a:off x="5277501" y="5387675"/>
            <a:ext cx="188580" cy="44321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1E0CEC-ADE2-4028-B7B3-B642DA3A7E53}"/>
              </a:ext>
            </a:extLst>
          </p:cNvPr>
          <p:cNvCxnSpPr>
            <a:cxnSpLocks/>
          </p:cNvCxnSpPr>
          <p:nvPr/>
        </p:nvCxnSpPr>
        <p:spPr>
          <a:xfrm flipH="1" flipV="1">
            <a:off x="6914500" y="5387675"/>
            <a:ext cx="664845" cy="44321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748" y="500662"/>
            <a:ext cx="10298130" cy="712188"/>
          </a:xfrm>
        </p:spPr>
        <p:txBody>
          <a:bodyPr>
            <a:noAutofit/>
          </a:bodyPr>
          <a:lstStyle/>
          <a:p>
            <a:r>
              <a:rPr lang="en-US" sz="4400" b="1" dirty="0">
                <a:effectLst/>
                <a:ea typeface="DengXian" panose="02010600030101010101" pitchFamily="2" charset="-122"/>
              </a:rPr>
              <a:t>Steady-State Solution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13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352836" y="1229179"/>
                <a:ext cx="11355954" cy="2693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At the steady 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Therefore,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2−</m:t>
                          </m:r>
                          <m:sSup>
                            <m:sSup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≈0.39.</m:t>
                      </m:r>
                    </m:oMath>
                  </m:oMathPara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Utilization of the restaurants on day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:</a:t>
                </a:r>
              </a:p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b="1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2(1−</m:t>
                        </m:r>
                        <m:sSup>
                          <m:sSup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2−</m:t>
                        </m:r>
                        <m:sSup>
                          <m:sSup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≈0.77.</m:t>
                    </m:r>
                  </m:oMath>
                </a14:m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36" y="1229179"/>
                <a:ext cx="11355954" cy="2693366"/>
              </a:xfrm>
              <a:prstGeom prst="rect">
                <a:avLst/>
              </a:prstGeom>
              <a:blipFill>
                <a:blip r:embed="rId2"/>
                <a:stretch>
                  <a:fillRect l="-859" t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3" name="Picture 96">
            <a:extLst>
              <a:ext uri="{FF2B5EF4-FFF2-40B4-BE49-F238E27FC236}">
                <a16:creationId xmlns:a16="http://schemas.microsoft.com/office/drawing/2014/main" id="{7108CF7E-34FA-425E-936A-C7F030D6D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636" y="4041867"/>
            <a:ext cx="3560942" cy="2580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97">
                <a:extLst>
                  <a:ext uri="{FF2B5EF4-FFF2-40B4-BE49-F238E27FC236}">
                    <a16:creationId xmlns:a16="http://schemas.microsoft.com/office/drawing/2014/main" id="{3C1C1D34-EA8D-47E6-9DF4-3F58B0BAE4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23795" y="4116453"/>
                <a:ext cx="5324537" cy="224313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Δ</m:t>
                    </m:r>
                    <m:r>
                      <a:rPr kumimoji="0" lang="en-US" altLang="en-US" sz="2400" b="0" i="1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altLang="en-US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en-US" sz="2400" b="0" i="0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sim</m:t>
                        </m:r>
                      </m:sub>
                    </m:sSub>
                    <m:r>
                      <a:rPr kumimoji="0" lang="en-US" altLang="en-US" sz="2400" b="0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kumimoji="0" lang="en-US" altLang="en-US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en-US" sz="2400" b="0" i="0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average</m:t>
                        </m:r>
                      </m:sub>
                    </m:sSub>
                  </m:oMath>
                </a14:m>
                <a:r>
                  <a:rPr kumimoji="0" lang="en-US" altLang="en-US" sz="24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= 1000 </m:t>
                    </m:r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agents and 10</a:t>
                </a:r>
                <a:r>
                  <a:rPr kumimoji="0" lang="en-US" altLang="en-US" sz="2400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steps. Symbols: + for no-learning strategy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 err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400" dirty="0" err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average</m:t>
                        </m:r>
                      </m:sub>
                    </m:sSub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≈0.63</m:t>
                    </m:r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, O for one-period repetition strategy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 err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400" dirty="0" err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average</m:t>
                        </m:r>
                      </m:sub>
                    </m:sSub>
                    <m:r>
                      <a:rPr lang="en-US" altLang="en-US" sz="2400" i="1" dirty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≈0.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77</m:t>
                    </m:r>
                  </m:oMath>
                </a14:m>
                <a:r>
                  <a:rPr kumimoji="0" lang="en-US" altLang="en-US" sz="24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(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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for limited-learning strategy</a:t>
                </a:r>
                <a:r>
                  <a:rPr kumimoji="0" lang="en-US" altLang="en-US" sz="2400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3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.)</a:t>
                </a:r>
              </a:p>
            </p:txBody>
          </p:sp>
        </mc:Choice>
        <mc:Fallback xmlns="">
          <p:sp>
            <p:nvSpPr>
              <p:cNvPr id="3" name="Text Box 97">
                <a:extLst>
                  <a:ext uri="{FF2B5EF4-FFF2-40B4-BE49-F238E27FC236}">
                    <a16:creationId xmlns:a16="http://schemas.microsoft.com/office/drawing/2014/main" id="{3C1C1D34-EA8D-47E6-9DF4-3F58B0BAE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3795" y="4116453"/>
                <a:ext cx="5324537" cy="2243138"/>
              </a:xfrm>
              <a:prstGeom prst="rect">
                <a:avLst/>
              </a:prstGeom>
              <a:blipFill>
                <a:blip r:embed="rId4"/>
                <a:stretch>
                  <a:fillRect l="-1714" t="-1897" r="-2629"/>
                </a:stretch>
              </a:blip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3837682-8BD4-4562-B704-868B5A6BBE32}"/>
              </a:ext>
            </a:extLst>
          </p:cNvPr>
          <p:cNvSpPr/>
          <p:nvPr/>
        </p:nvSpPr>
        <p:spPr>
          <a:xfrm>
            <a:off x="2986912" y="4186249"/>
            <a:ext cx="1691105" cy="1038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75C3D5-799E-4C1C-85FD-F47876EAE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905" y="3580202"/>
            <a:ext cx="81817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Theoretical prediction agrees with simulation results excellently.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86B3234-BD81-4720-B4BC-EE6FB098F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4748" y="5080935"/>
            <a:ext cx="1655225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72956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748" y="500662"/>
            <a:ext cx="10298130" cy="712188"/>
          </a:xfrm>
        </p:spPr>
        <p:txBody>
          <a:bodyPr>
            <a:noAutofit/>
          </a:bodyPr>
          <a:lstStyle/>
          <a:p>
            <a:r>
              <a:rPr lang="en-US" sz="4400" b="1" dirty="0">
                <a:effectLst/>
                <a:ea typeface="DengXian" panose="02010600030101010101" pitchFamily="2" charset="-122"/>
              </a:rPr>
              <a:t>Win-Stay-Lose-Shift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14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352836" y="1308691"/>
                <a:ext cx="11355954" cy="4901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If all restaurants are identical, the One Period Repetition strategy resembles the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Win-Stay-Lose-Shift</a:t>
                </a:r>
                <a:r>
                  <a:rPr lang="en-US" sz="2400" dirty="0"/>
                  <a:t> (WS-LS) strategy, which will lead to social efficiency: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If an agent successfully selects a restaurant on day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, then she will continue to attend that restaurant after that day.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If she fails to select a restaurant on day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then on the next day she will select another restaurant that is empty on day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She will continue this strategy until she is successful.</a:t>
                </a:r>
              </a:p>
              <a:p>
                <a:r>
                  <a:rPr lang="en-US" sz="2400" dirty="0"/>
                  <a:t>With all agents using this strategy, the number of successful agents is a non-decreasing function.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Eventually all agents find a restaurant.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36" y="1308691"/>
                <a:ext cx="11355954" cy="4901983"/>
              </a:xfrm>
              <a:prstGeom prst="rect">
                <a:avLst/>
              </a:prstGeom>
              <a:blipFill>
                <a:blip r:embed="rId2"/>
                <a:stretch>
                  <a:fillRect l="-859" t="-995" r="-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632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748" y="500662"/>
            <a:ext cx="10298130" cy="712188"/>
          </a:xfrm>
        </p:spPr>
        <p:txBody>
          <a:bodyPr>
            <a:noAutofit/>
          </a:bodyPr>
          <a:lstStyle/>
          <a:p>
            <a:r>
              <a:rPr lang="en-US" sz="4400" b="1" dirty="0">
                <a:effectLst/>
                <a:ea typeface="DengXian" panose="02010600030101010101" pitchFamily="2" charset="-122"/>
              </a:rPr>
              <a:t>3.3. Follow-the-Crowd Strategy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15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352836" y="1308691"/>
                <a:ext cx="11355954" cy="5379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probability of selecting a restaurant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on day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depends on the queue length of agents in restaurant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on day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Assume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 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/>
                  <a:t> is the number of agents arriving at restaurant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on day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→∞:</m:t>
                    </m:r>
                  </m:oMath>
                </a14:m>
                <a:r>
                  <a:rPr lang="en-US" sz="2400" dirty="0"/>
                  <a:t> the selection is independent of history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→0:</m:t>
                    </m:r>
                  </m:oMath>
                </a14:m>
                <a:r>
                  <a:rPr lang="en-US" sz="2400" dirty="0"/>
                  <a:t> the selection is dependent on history only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Average utilization decreases with increasing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𝑟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It was observed that the probability of a queue length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goes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en-US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en-US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kumimoji="0" lang="en-US" altLang="en-US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𝑟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→0</m:t>
                    </m:r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: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condensation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endParaRPr lang="en-US" sz="2400" dirty="0"/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36" y="1308691"/>
                <a:ext cx="11355954" cy="5379165"/>
              </a:xfrm>
              <a:prstGeom prst="rect">
                <a:avLst/>
              </a:prstGeom>
              <a:blipFill>
                <a:blip r:embed="rId2"/>
                <a:stretch>
                  <a:fillRect l="-859" t="-794" r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5D03F8D-F85B-4D7D-90FC-F2346F616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097" name="Picture 102">
            <a:extLst>
              <a:ext uri="{FF2B5EF4-FFF2-40B4-BE49-F238E27FC236}">
                <a16:creationId xmlns:a16="http://schemas.microsoft.com/office/drawing/2014/main" id="{FB8F3C5A-020C-450E-A7BD-93B6883F1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562" y="2064341"/>
            <a:ext cx="3993438" cy="2926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358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748" y="500662"/>
            <a:ext cx="10298130" cy="712188"/>
          </a:xfrm>
        </p:spPr>
        <p:txBody>
          <a:bodyPr>
            <a:noAutofit/>
          </a:bodyPr>
          <a:lstStyle/>
          <a:p>
            <a:r>
              <a:rPr lang="en-US" sz="4400" b="1" dirty="0">
                <a:effectLst/>
                <a:ea typeface="DengXian" panose="02010600030101010101" pitchFamily="2" charset="-122"/>
              </a:rPr>
              <a:t>Avoid-the-Crowd Strategy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16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352836" y="1441211"/>
                <a:ext cx="11355954" cy="159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 </a:t>
                </a:r>
              </a:p>
              <a:p>
                <a:r>
                  <a:rPr lang="en-US" sz="2400" dirty="0"/>
                  <a:t>The most probable utilization is observed to be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≈0.63</m:t>
                    </m:r>
                  </m:oMath>
                </a14:m>
                <a:r>
                  <a:rPr lang="en-US" sz="2400" dirty="0"/>
                  <a:t> independent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36" y="1441211"/>
                <a:ext cx="11355954" cy="1599990"/>
              </a:xfrm>
              <a:prstGeom prst="rect">
                <a:avLst/>
              </a:prstGeom>
              <a:blipFill>
                <a:blip r:embed="rId2"/>
                <a:stretch>
                  <a:fillRect l="-859" b="-7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5D03F8D-F85B-4D7D-90FC-F2346F616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86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748" y="500662"/>
            <a:ext cx="10298130" cy="712188"/>
          </a:xfrm>
        </p:spPr>
        <p:txBody>
          <a:bodyPr>
            <a:noAutofit/>
          </a:bodyPr>
          <a:lstStyle/>
          <a:p>
            <a:r>
              <a:rPr lang="en-US" sz="4400" b="1" dirty="0">
                <a:ea typeface="DengXian" panose="02010600030101010101" pitchFamily="2" charset="-122"/>
              </a:rPr>
              <a:t>3.4</a:t>
            </a:r>
            <a:r>
              <a:rPr lang="en-US" sz="4400" b="1" dirty="0">
                <a:effectLst/>
                <a:ea typeface="DengXian" panose="02010600030101010101" pitchFamily="2" charset="-122"/>
              </a:rPr>
              <a:t>. Modified KPR Problem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17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352836" y="1441211"/>
                <a:ext cx="11355954" cy="3869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i="1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On each day the restaurants are filled up sequentially. Each restaurant </a:t>
                </a:r>
                <a:r>
                  <a:rPr lang="en-US" sz="2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allows for a queue length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i="1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so that the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+1)</m:t>
                    </m:r>
                  </m:oMath>
                </a14:m>
                <a:r>
                  <a:rPr lang="en-US" sz="2400" i="1" dirty="0" err="1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</a:t>
                </a:r>
                <a:r>
                  <a:rPr lang="en-US" sz="2400" i="1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agent at the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400" i="1" dirty="0" err="1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</a:t>
                </a:r>
                <a:r>
                  <a:rPr lang="en-US" sz="2400" i="1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restaurant has to search for another restaurant with a queue length less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i="1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When all agents have arrived, one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i="1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agents gets lunch at the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400" i="1" dirty="0" err="1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</a:t>
                </a:r>
                <a:r>
                  <a:rPr lang="en-US" sz="2400" i="1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restaurant, while the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sz="2400" i="1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number of prospective customers do not get any lunch on that day.</a:t>
                </a:r>
              </a:p>
              <a:p>
                <a:endParaRPr lang="en-US" sz="2400" i="1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Utilization results:</a:t>
                </a:r>
                <a:endParaRPr lang="en-US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=0.68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→0.63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36" y="1441211"/>
                <a:ext cx="11355954" cy="3869585"/>
              </a:xfrm>
              <a:prstGeom prst="rect">
                <a:avLst/>
              </a:prstGeom>
              <a:blipFill>
                <a:blip r:embed="rId2"/>
                <a:stretch>
                  <a:fillRect l="-859" t="-1260" b="-2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F1AD950-19D5-42B5-A392-06C072606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202" y="3295591"/>
            <a:ext cx="4039164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79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748" y="500662"/>
            <a:ext cx="10298130" cy="712188"/>
          </a:xfrm>
        </p:spPr>
        <p:txBody>
          <a:bodyPr>
            <a:noAutofit/>
          </a:bodyPr>
          <a:lstStyle/>
          <a:p>
            <a:r>
              <a:rPr lang="en-US" sz="4400" b="1" dirty="0">
                <a:ea typeface="DengXian" panose="02010600030101010101" pitchFamily="2" charset="-122"/>
              </a:rPr>
              <a:t>3</a:t>
            </a:r>
            <a:r>
              <a:rPr lang="en-US" sz="4400" b="1">
                <a:ea typeface="DengXian" panose="02010600030101010101" pitchFamily="2" charset="-122"/>
              </a:rPr>
              <a:t>.5</a:t>
            </a:r>
            <a:r>
              <a:rPr lang="en-US" sz="4400" b="1" dirty="0">
                <a:effectLst/>
                <a:ea typeface="DengXian" panose="02010600030101010101" pitchFamily="2" charset="-122"/>
              </a:rPr>
              <a:t>. Summary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18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352836" y="1533975"/>
                <a:ext cx="11560868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400" dirty="0"/>
                  <a:t>Repeated KPR game: utilization depends on strategies.</a:t>
                </a:r>
              </a:p>
              <a:p>
                <a:pPr lvl="0"/>
                <a:endParaRPr lang="en-US" sz="2400" dirty="0"/>
              </a:p>
              <a:p>
                <a:pPr lvl="0"/>
                <a:r>
                  <a:rPr lang="en-US" sz="2400" dirty="0"/>
                  <a:t>One-period repetition game: utilization improves if the successful agents stay longer in their selected restaurants.</a:t>
                </a:r>
              </a:p>
              <a:p>
                <a:pPr lvl="0"/>
                <a:endParaRPr lang="en-US" sz="2400" dirty="0"/>
              </a:p>
              <a:p>
                <a:pPr lvl="0"/>
                <a:r>
                  <a:rPr lang="en-US" sz="2400" dirty="0"/>
                  <a:t>Avoid-the-crowd strategy cannot improve utilization beyond no-learning strategy.</a:t>
                </a:r>
              </a:p>
              <a:p>
                <a:pPr lvl="0"/>
                <a:endParaRPr lang="en-US" sz="2400" dirty="0"/>
              </a:p>
              <a:p>
                <a:pPr lvl="0"/>
                <a:r>
                  <a:rPr lang="en-US" sz="2400" dirty="0"/>
                  <a:t>Modified KPR game: utilization approximates that of no-learning strategy except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0"/>
                <a:endParaRPr lang="en-US" sz="2400" dirty="0"/>
              </a:p>
              <a:p>
                <a:r>
                  <a:rPr lang="en-US" sz="2400" dirty="0"/>
                  <a:t>Other results can be found in Sec. 9.4.4 and 9.4.5 of the textbook.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36" y="1533975"/>
                <a:ext cx="11560868" cy="3785652"/>
              </a:xfrm>
              <a:prstGeom prst="rect">
                <a:avLst/>
              </a:prstGeom>
              <a:blipFill>
                <a:blip r:embed="rId2"/>
                <a:stretch>
                  <a:fillRect l="-844" t="-1288" r="-1002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5D03F8D-F85B-4D7D-90FC-F2346F616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20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8484</TotalTime>
  <Words>1382</Words>
  <Application>Microsoft Office PowerPoint</Application>
  <PresentationFormat>Widescreen</PresentationFormat>
  <Paragraphs>157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DengXian</vt:lpstr>
      <vt:lpstr>Arial</vt:lpstr>
      <vt:lpstr>Calibri</vt:lpstr>
      <vt:lpstr>Calibri Light</vt:lpstr>
      <vt:lpstr>Cambria Math</vt:lpstr>
      <vt:lpstr>Times New Roman</vt:lpstr>
      <vt:lpstr>Office Theme</vt:lpstr>
      <vt:lpstr>MSDM 5003 Week 13 27 November 2025 Other Population Games</vt:lpstr>
      <vt:lpstr>1. Evolutionary Minority Games1</vt:lpstr>
      <vt:lpstr>Comparison</vt:lpstr>
      <vt:lpstr>2. Adaptive Minority Games2</vt:lpstr>
      <vt:lpstr>Fluctuations Disappear! </vt:lpstr>
      <vt:lpstr>More Experiments</vt:lpstr>
      <vt:lpstr>Strategy Pool Experiments</vt:lpstr>
      <vt:lpstr>Results</vt:lpstr>
      <vt:lpstr>3. The Kolkata Paise Restaurant Problem3</vt:lpstr>
      <vt:lpstr>3.1. Repeated Game: No-Learning Strategy</vt:lpstr>
      <vt:lpstr>3.2. Repeated Game:  One Period Limited Learning Strategy</vt:lpstr>
      <vt:lpstr>Recursion Relation</vt:lpstr>
      <vt:lpstr>Steady-State Solution</vt:lpstr>
      <vt:lpstr>Win-Stay-Lose-Shift</vt:lpstr>
      <vt:lpstr>3.3. Follow-the-Crowd Strategy</vt:lpstr>
      <vt:lpstr>Avoid-the-Crowd Strategy</vt:lpstr>
      <vt:lpstr>3.4. Modified KPR Problem</vt:lpstr>
      <vt:lpstr>3.5.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MSDM 5003 Lecture 8  Power Laws 30 October 2020</dc:title>
  <dc:creator>Michael K Y WONG</dc:creator>
  <cp:lastModifiedBy>Michael K Y WONG</cp:lastModifiedBy>
  <cp:revision>228</cp:revision>
  <dcterms:created xsi:type="dcterms:W3CDTF">2020-10-26T08:36:08Z</dcterms:created>
  <dcterms:modified xsi:type="dcterms:W3CDTF">2025-11-24T16:10:22Z</dcterms:modified>
</cp:coreProperties>
</file>