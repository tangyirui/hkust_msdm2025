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18"/>
  </p:notesMasterIdLst>
  <p:handoutMasterIdLst>
    <p:handoutMasterId r:id="rId19"/>
  </p:handoutMasterIdLst>
  <p:sldIdLst>
    <p:sldId id="381" r:id="rId2"/>
    <p:sldId id="372" r:id="rId3"/>
    <p:sldId id="373" r:id="rId4"/>
    <p:sldId id="402" r:id="rId5"/>
    <p:sldId id="395" r:id="rId6"/>
    <p:sldId id="396" r:id="rId7"/>
    <p:sldId id="403" r:id="rId8"/>
    <p:sldId id="404" r:id="rId9"/>
    <p:sldId id="405" r:id="rId10"/>
    <p:sldId id="394" r:id="rId11"/>
    <p:sldId id="385" r:id="rId12"/>
    <p:sldId id="387" r:id="rId13"/>
    <p:sldId id="398" r:id="rId14"/>
    <p:sldId id="399" r:id="rId15"/>
    <p:sldId id="400" r:id="rId16"/>
    <p:sldId id="401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6666"/>
    <a:srgbClr val="009999"/>
    <a:srgbClr val="FFCCFF"/>
    <a:srgbClr val="FF0000"/>
    <a:srgbClr val="FFCC66"/>
    <a:srgbClr val="FFFF66"/>
    <a:srgbClr val="FFCC99"/>
    <a:srgbClr val="CCFF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4782" autoAdjust="0"/>
  </p:normalViewPr>
  <p:slideViewPr>
    <p:cSldViewPr snapToGrid="0">
      <p:cViewPr varScale="1">
        <p:scale>
          <a:sx n="102" d="100"/>
          <a:sy n="102" d="100"/>
        </p:scale>
        <p:origin x="18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fld id="{DFD3B866-D8E9-40B3-B90D-60DE41DFC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927074E-5E5D-4C1F-97AC-20A94DE09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437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06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4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6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3E1E-BBE1-8C1B-11F7-A7E39ABE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A00BD87-5A5B-1A8A-3022-AE0FDA9C2A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D88FFE5-5B9C-A180-D0C7-856E51886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84924D20-E2BD-8871-03B2-57DA6D60D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79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CD9E-9AA6-BE4E-FE90-E352778E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D85594D-C7D9-15DB-DEFB-195B6D545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2E09345-94A6-5F1A-C2B0-25BA5AB28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651EFFC-0AAD-90BD-DDF7-842C6C632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1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2BF1-6657-6172-9E5D-2E504BEB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0C5A489-F3DF-8B44-B083-C439CE86C7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1B4714E-F8EE-DCF6-702C-9B089B656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FCDD842-FA1E-76DD-858E-BA28FFC5F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53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06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82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71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6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1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52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8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610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80611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80612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3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4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5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6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617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8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0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80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80621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75EF93-7C18-48A5-8351-AFEAC17FEC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0602D9-9302-4A50-95D0-CDC3384EEE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C7218-FB5C-4800-BD33-D53AC9BA11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00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8E9AB3-3811-47CE-A2D2-C49B5400CB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935C9E-B1D2-4853-B38F-82FAA8E22A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12B17B-E01D-4CEC-98D0-E1429A8071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E6CCC-599A-4314-85D2-A1BF51A710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59BF52-9517-47BE-BDD9-63388EA46D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5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5A8947-ACEE-45AB-AEC7-A6861EE72F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79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B6436D-0598-4727-A5F6-2CCC7F41CC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0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F02E00-FDFE-4923-8A3F-827323B2A2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36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C187F2-0E06-40D0-8855-37C170894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178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EE082F-283E-4D98-8BB1-6C2185D79E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68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D4534A-65DB-4158-9AB1-310AB1ABB7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E82E1C-73CE-44AC-A044-94B1ADEF7A8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7958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79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3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596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959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795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9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20624" y="1381061"/>
            <a:ext cx="8229600" cy="2785586"/>
          </a:xfrm>
        </p:spPr>
        <p:txBody>
          <a:bodyPr/>
          <a:lstStyle/>
          <a:p>
            <a:r>
              <a:rPr lang="en-US" dirty="0">
                <a:effectLst/>
              </a:rPr>
              <a:t>Tutorial 13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Simulation of the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Minority Game</a:t>
            </a:r>
            <a:endParaRPr lang="en-US" dirty="0">
              <a:solidFill>
                <a:srgbClr val="FFCC00"/>
              </a:solidFill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</a:rPr>
              <a:t>Representation of the Strategies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9100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457200" indent="-457200">
                  <a:buAutoNum type="alphaLcParenBoth"/>
                </a:pPr>
                <a:r>
                  <a:rPr lang="en-US" sz="2400" u="sng" dirty="0">
                    <a:solidFill>
                      <a:srgbClr val="FFC000"/>
                    </a:solidFill>
                  </a:rPr>
                  <a:t>What is the number of input states of strategies with </a:t>
                </a:r>
                <a14:m>
                  <m:oMath xmlns:m="http://schemas.openxmlformats.org/officeDocument/2006/math"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 3</m:t>
                    </m:r>
                  </m:oMath>
                </a14:m>
                <a:r>
                  <a:rPr lang="en-US" sz="2400" u="sng" dirty="0">
                    <a:solidFill>
                      <a:srgbClr val="FFC000"/>
                    </a:solidFill>
                  </a:rPr>
                  <a:t>?</a:t>
                </a:r>
              </a:p>
              <a:p>
                <a:endParaRPr lang="en-US" sz="2400" u="sng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r>
                  <a:rPr lang="en-US" sz="2400" dirty="0"/>
                  <a:t>Each strategy is a function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input states. These input states, from 000 to 111, represent the history of the winning states in the past 3 steps.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 decisions of a strategy in response to these 8 input states (integers in the range 0 to 7) can be determined by converting the strategy number to its 8-digit binary representation. The response to input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=0,⋯,7)</m:t>
                    </m:r>
                  </m:oMath>
                </a14:m>
                <a:r>
                  <a:rPr lang="en-US" sz="2400" dirty="0"/>
                  <a:t> is then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sz="2400" dirty="0"/>
                  <a:t> digit of the binary representation (counting from the right).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910062"/>
              </a:xfrm>
              <a:prstGeom prst="rect">
                <a:avLst/>
              </a:prstGeom>
              <a:blipFill>
                <a:blip r:embed="rId3"/>
                <a:stretch>
                  <a:fillRect l="-1081" t="-868" r="-360" b="-18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7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Example of Strategy 173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5632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Hence a strategy is represented by a list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elements of 1’s and 0’s. For example, [1, 0, 1, 0, 1, 1, 0, 1] represents the strategy of: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(starting from the rightmost bit)</a:t>
                </a:r>
              </a:p>
              <a:p>
                <a:r>
                  <a:rPr lang="en-US" sz="2400" dirty="0"/>
                  <a:t>When the market history of winners is 000, buy.</a:t>
                </a:r>
              </a:p>
              <a:p>
                <a:r>
                  <a:rPr lang="en-US" sz="2400" dirty="0"/>
                  <a:t>When the market history of winners is 001, sell.</a:t>
                </a:r>
              </a:p>
              <a:p>
                <a:r>
                  <a:rPr lang="en-US" sz="2400" dirty="0"/>
                  <a:t>When the market history of winners is 010, buy.</a:t>
                </a:r>
              </a:p>
              <a:p>
                <a:r>
                  <a:rPr lang="en-US" sz="2400" dirty="0"/>
                  <a:t>When the market history of winners is 011, buy.</a:t>
                </a:r>
              </a:p>
              <a:p>
                <a:r>
                  <a:rPr lang="en-US" sz="2400" dirty="0"/>
                  <a:t>When the market history of winners is 100, sell.</a:t>
                </a:r>
              </a:p>
              <a:p>
                <a:r>
                  <a:rPr lang="en-US" sz="2400" dirty="0"/>
                  <a:t>When the market history of winners is 101, buy.</a:t>
                </a:r>
              </a:p>
              <a:p>
                <a:r>
                  <a:rPr lang="en-US" sz="2400" dirty="0"/>
                  <a:t>When the market history of winners is 110, sell.</a:t>
                </a:r>
              </a:p>
              <a:p>
                <a:r>
                  <a:rPr lang="en-US" sz="2400" dirty="0"/>
                  <a:t>When the market history of winners is 111, buy.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This strategy is labeled to be 173, as 173 =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5632311"/>
              </a:xfrm>
              <a:prstGeom prst="rect">
                <a:avLst/>
              </a:prstGeom>
              <a:blipFill>
                <a:blip r:embed="rId3"/>
                <a:stretch>
                  <a:fillRect l="-1081" t="-758" r="-1369" b="-16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61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From Strategy Outputs to Strategy Label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159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conversion from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to 173 can be done by: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10101101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=1+0+4+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+32+0+128=1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(b) Given the strategy output, say, [1, 0, 1, 0, 1, 1, 0, 1], write a few lines of Python commands to calculate the strategy label.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159152"/>
              </a:xfrm>
              <a:prstGeom prst="rect">
                <a:avLst/>
              </a:prstGeom>
              <a:blipFill>
                <a:blip r:embed="rId3"/>
                <a:stretch>
                  <a:fillRect l="-1081" t="-1025" r="-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15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From Strategy Label to Strategy Outputs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524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In Python, the remainder of integer division can be obtained by the modulus operator. For example, the results in Slide 4 can be written as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173%2=1,  86%2=0,  43%2=1,  ⋯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 Python, the floor division of integers can be obtained by the operator “//”. For example, the results in Slide 4 can be written as</a:t>
                </a:r>
              </a:p>
              <a:p>
                <a:endParaRPr lang="en-US" sz="2400" dirty="0"/>
              </a:p>
              <a:p>
                <a:pPr algn="ctr"/>
                <a:r>
                  <a:rPr lang="en-US" sz="2400" dirty="0"/>
                  <a:t>173//2 = 86,	86//2 = 43, 	43//2 = 21, 	…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524315"/>
              </a:xfrm>
              <a:prstGeom prst="rect">
                <a:avLst/>
              </a:prstGeom>
              <a:blipFill>
                <a:blip r:embed="rId3"/>
                <a:stretch>
                  <a:fillRect l="-1081" t="-9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00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Strategy Conversion in Python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Since 173 =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the output of strategy 173 to</a:t>
                </a:r>
              </a:p>
              <a:p>
                <a:r>
                  <a:rPr lang="en-US" sz="2400" dirty="0"/>
                  <a:t>states 7, 6, 5, 4, 3, 2, 1, 0 are 1, 0, 1, 0, 1, 1, 0, 1 respectively.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(c) Given a strategy label, say, 173, write a few lines of Python commands to find the output of the strategy for state mu (mu = </a:t>
                </a:r>
                <a14:m>
                  <m:oMath xmlns:m="http://schemas.openxmlformats.org/officeDocument/2006/math"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0, …, </m:t>
                    </m:r>
                    <m:sSup>
                      <m:sSupPr>
                        <m:ctrlP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u="sng" dirty="0">
                    <a:solidFill>
                      <a:srgbClr val="FFC000"/>
                    </a:solidFill>
                  </a:rPr>
                  <a:t>) of the input.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blipFill>
                <a:blip r:embed="rId3"/>
                <a:stretch>
                  <a:fillRect l="-1081" t="-1591" b="-43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9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549E-2138-D627-84E5-9CCE82FC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C394CC2A-8673-9B54-32F0-2A090F26B2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9CC0EB41-4E96-7C0F-8D86-7A52158DB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Bitwise Left Shift Operator in Python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E4E79D21-0CA9-277D-94F8-94E3241A7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27536D41-EC58-2C64-1FE6-371187BFA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In Python, </a:t>
            </a:r>
            <a:r>
              <a:rPr lang="en-US" sz="2400" dirty="0">
                <a:solidFill>
                  <a:srgbClr val="FFCC00"/>
                </a:solidFill>
              </a:rPr>
              <a:t>a &lt;&lt; b </a:t>
            </a:r>
            <a:r>
              <a:rPr lang="en-US" sz="2400" dirty="0"/>
              <a:t>(a, b are integers) means:</a:t>
            </a:r>
          </a:p>
          <a:p>
            <a:r>
              <a:rPr lang="en-US" sz="2400" dirty="0"/>
              <a:t>(1) Consider a in its </a:t>
            </a:r>
            <a:r>
              <a:rPr lang="en-US" sz="2400" dirty="0">
                <a:solidFill>
                  <a:srgbClr val="FFCC00"/>
                </a:solidFill>
              </a:rPr>
              <a:t>binary</a:t>
            </a:r>
            <a:r>
              <a:rPr lang="en-US" sz="2400" dirty="0"/>
              <a:t> representation, e.g. 5 = 101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(2) </a:t>
            </a:r>
            <a:r>
              <a:rPr lang="en-US" sz="2400" dirty="0">
                <a:solidFill>
                  <a:srgbClr val="FFCC00"/>
                </a:solidFill>
              </a:rPr>
              <a:t>Left-shift</a:t>
            </a:r>
            <a:r>
              <a:rPr lang="en-US" sz="2400" dirty="0"/>
              <a:t> the binary representation by </a:t>
            </a:r>
            <a:r>
              <a:rPr lang="en-US" sz="2400" dirty="0">
                <a:solidFill>
                  <a:srgbClr val="FFCC00"/>
                </a:solidFill>
              </a:rPr>
              <a:t>b positions</a:t>
            </a:r>
            <a:r>
              <a:rPr lang="en-US" sz="2400" dirty="0"/>
              <a:t>, and zeros are introduced on the right, e.g. 5 &lt;&lt; 2 = 10100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(3) (If the leftmost position exists, bits shifted beyond the leftmost position are discarded.)</a:t>
            </a:r>
          </a:p>
          <a:p>
            <a:r>
              <a:rPr lang="en-US" sz="2400" dirty="0"/>
              <a:t>(4) Return the binary representation as an integer.</a:t>
            </a:r>
          </a:p>
          <a:p>
            <a:endParaRPr lang="en-US" sz="2400" dirty="0"/>
          </a:p>
          <a:p>
            <a:r>
              <a:rPr lang="en-US" sz="2400" dirty="0"/>
              <a:t>Example</a:t>
            </a:r>
          </a:p>
          <a:p>
            <a:r>
              <a:rPr lang="en-US" sz="2400" dirty="0"/>
              <a:t>5 = 101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(5 &lt;&lt; 2) = 10100</a:t>
            </a:r>
            <a:r>
              <a:rPr lang="en-US" sz="2400" baseline="-25000" dirty="0"/>
              <a:t>2</a:t>
            </a:r>
            <a:r>
              <a:rPr lang="en-US" sz="2400" dirty="0"/>
              <a:t> = 20</a:t>
            </a:r>
          </a:p>
          <a:p>
            <a:endParaRPr lang="en-US" sz="2400" dirty="0"/>
          </a:p>
          <a:p>
            <a:r>
              <a:rPr lang="en-US" sz="2400" dirty="0"/>
              <a:t>Effectively, the value of a &lt;&lt; b is (a)(2</a:t>
            </a:r>
            <a:r>
              <a:rPr lang="en-US" sz="2400" baseline="30000" dirty="0"/>
              <a:t>b</a:t>
            </a:r>
            <a:r>
              <a:rPr lang="en-US" sz="2400" dirty="0"/>
              <a:t>).</a:t>
            </a:r>
            <a:endParaRPr lang="en-US" sz="2400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54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E652-4CED-7738-4C58-70F4A557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FF8B6705-FBCB-2179-C4A9-6D3022B66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9C899A0A-3BA2-FC42-4375-58B2AD67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Bitwise Right Shift Operator in Python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0399791D-97D5-E876-4B3F-7FC2EA43B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CCF96D3F-281E-8466-A57A-82AC229CC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In Python, </a:t>
            </a:r>
            <a:r>
              <a:rPr lang="en-US" sz="2400" dirty="0">
                <a:solidFill>
                  <a:srgbClr val="FFCC00"/>
                </a:solidFill>
              </a:rPr>
              <a:t>a &gt;&gt; b </a:t>
            </a:r>
            <a:r>
              <a:rPr lang="en-US" sz="2400" dirty="0"/>
              <a:t>(a, b are integers) means:</a:t>
            </a:r>
          </a:p>
          <a:p>
            <a:r>
              <a:rPr lang="en-US" sz="2400" dirty="0"/>
              <a:t>(1) Consider a in its </a:t>
            </a:r>
            <a:r>
              <a:rPr lang="en-US" sz="2400" dirty="0">
                <a:solidFill>
                  <a:srgbClr val="FFCC00"/>
                </a:solidFill>
              </a:rPr>
              <a:t>binary</a:t>
            </a:r>
            <a:r>
              <a:rPr lang="en-US" sz="2400" dirty="0"/>
              <a:t> representation, e.g. 9 = 1001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(2) </a:t>
            </a:r>
            <a:r>
              <a:rPr lang="en-US" sz="2400" dirty="0">
                <a:solidFill>
                  <a:srgbClr val="FFCC00"/>
                </a:solidFill>
              </a:rPr>
              <a:t>Right-shift</a:t>
            </a:r>
            <a:r>
              <a:rPr lang="en-US" sz="2400" dirty="0"/>
              <a:t> the binary representation by </a:t>
            </a:r>
            <a:r>
              <a:rPr lang="en-US" sz="2400" dirty="0">
                <a:solidFill>
                  <a:srgbClr val="FFCC00"/>
                </a:solidFill>
              </a:rPr>
              <a:t>b positions</a:t>
            </a:r>
            <a:r>
              <a:rPr lang="en-US" sz="2400" dirty="0"/>
              <a:t>, and zeros are introduced on the right, e.g. 9 &gt;&gt; 2 = 10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(3) Bits shifted beyond the rightmost position are discarded.</a:t>
            </a:r>
          </a:p>
          <a:p>
            <a:r>
              <a:rPr lang="en-US" sz="2400" dirty="0"/>
              <a:t>(4) Return the binary representation as an integer.</a:t>
            </a:r>
          </a:p>
          <a:p>
            <a:endParaRPr lang="en-US" sz="2400" dirty="0"/>
          </a:p>
          <a:p>
            <a:r>
              <a:rPr lang="en-US" sz="2400" dirty="0"/>
              <a:t>Example</a:t>
            </a:r>
          </a:p>
          <a:p>
            <a:r>
              <a:rPr lang="en-US" sz="2400" dirty="0"/>
              <a:t>9 = 1001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(9 &gt;&gt; 2) = 10</a:t>
            </a:r>
            <a:r>
              <a:rPr lang="en-US" sz="2400" baseline="-25000" dirty="0"/>
              <a:t>2</a:t>
            </a:r>
            <a:r>
              <a:rPr lang="en-US" sz="2400" dirty="0"/>
              <a:t> = 2</a:t>
            </a:r>
          </a:p>
          <a:p>
            <a:endParaRPr lang="en-US" sz="2400" dirty="0"/>
          </a:p>
          <a:p>
            <a:r>
              <a:rPr lang="en-US" sz="2400" dirty="0"/>
              <a:t>Effectively, the value of a &gt;&gt; b is a//2</a:t>
            </a:r>
            <a:r>
              <a:rPr lang="en-US" sz="2400" baseline="30000" dirty="0"/>
              <a:t>b</a:t>
            </a:r>
            <a:r>
              <a:rPr lang="en-US" sz="2400" dirty="0"/>
              <a:t>.</a:t>
            </a:r>
            <a:endParaRPr lang="en-US" sz="2400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6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DD13-D8E9-FEEC-A067-E00DC1C3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F7A98A4B-31BE-3C9C-E58A-5F1C818F9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29F1CE9D-CDC8-B0A4-E73B-414844CB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Vectorized Bitwise Shift Operation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A198CBCA-1FC8-E1FE-4397-3FD75307B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AAB20C59-8145-D344-E1C5-3F056C59F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The conversion between strategy labels and strategy outputs can be simplified by vectorizing the bitwise shift operations.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20D6DE0-F2E4-5E0A-B1BF-ED939FA2B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683" y="1899174"/>
            <a:ext cx="4353533" cy="2772162"/>
          </a:xfrm>
          <a:prstGeom prst="rect">
            <a:avLst/>
          </a:prstGeom>
        </p:spPr>
      </p:pic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D0B94A2-C361-5EC4-3D75-80BEE883E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36" y="4742572"/>
            <a:ext cx="753532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5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Generation of the Strategies (1)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964768"/>
                <a:ext cx="8458200" cy="52629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agents in the market. </a:t>
                </a:r>
              </a:p>
              <a:p>
                <a:r>
                  <a:rPr lang="en-US" sz="2400" dirty="0"/>
                  <a:t>Each agent has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strategies. </a:t>
                </a:r>
              </a:p>
              <a:p>
                <a:r>
                  <a:rPr lang="en-US" sz="2400" dirty="0"/>
                  <a:t>Each strategy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⁡=2</m:t>
                    </m:r>
                    <m:r>
                      <a:rPr lang="en-US" sz="2400" i="1" baseline="3000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elements.</a:t>
                </a:r>
              </a:p>
              <a:p>
                <a:r>
                  <a:rPr lang="en-US" sz="2400" dirty="0"/>
                  <a:t>Each element is randomly assigned to be 0 or 1.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C00"/>
                    </a:solidFill>
                  </a:rPr>
                  <a:t>(c) Write the Python commands to generate the strategies of the agents, where</a:t>
                </a:r>
              </a:p>
              <a:p>
                <a:endParaRPr lang="en-US" sz="2400" dirty="0">
                  <a:solidFill>
                    <a:srgbClr val="FFCC00"/>
                  </a:solidFill>
                </a:endParaRPr>
              </a:p>
              <a:p>
                <a:r>
                  <a:rPr lang="en-US" sz="2400" u="sng" dirty="0" err="1">
                    <a:solidFill>
                      <a:srgbClr val="FFCC00"/>
                    </a:solidFill>
                  </a:rPr>
                  <a:t>darray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[i, j, state] = decision of strategy </a:t>
                </a:r>
                <a:r>
                  <a:rPr lang="en-US" sz="2400" i="1" u="sng" dirty="0">
                    <a:solidFill>
                      <a:srgbClr val="FFC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 of agent </a:t>
                </a:r>
                <a:r>
                  <a:rPr lang="en-US" sz="2400" i="1" u="sng" dirty="0">
                    <a:solidFill>
                      <a:srgbClr val="FFC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 when the input market state is mu.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Hint: The command to generate 0’s and 1’s randomly is </a:t>
                </a:r>
                <a:r>
                  <a:rPr lang="en-US" sz="2400" dirty="0" err="1"/>
                  <a:t>np.random.randint</a:t>
                </a:r>
                <a:r>
                  <a:rPr lang="en-US" sz="2400" dirty="0"/>
                  <a:t>(0, 2, size=SZ).</a:t>
                </a:r>
              </a:p>
              <a:p>
                <a:r>
                  <a:rPr lang="en-US" sz="2400" dirty="0"/>
                  <a:t>SZ = output shape.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964768"/>
                <a:ext cx="8458200" cy="5262979"/>
              </a:xfrm>
              <a:prstGeom prst="rect">
                <a:avLst/>
              </a:prstGeom>
              <a:blipFill>
                <a:blip r:embed="rId3"/>
                <a:stretch>
                  <a:fillRect l="-1154" t="-810" r="-577" b="-17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47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Representation of the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8936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After the winning side (1 = buyers win, 0 = sellers win) has been determined, the input state has to be changed to give the updated history for the next step. </a:t>
                </a:r>
              </a:p>
              <a:p>
                <a:r>
                  <a:rPr lang="en-US" sz="2400" dirty="0"/>
                  <a:t>For example, if the present input state is 5, and the winning side is 1, then the input state has to be updated to 3, because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After deleting the leftmost digit and adding the rightmost digit according to the winning side, we have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011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893647"/>
              </a:xfrm>
              <a:prstGeom prst="rect">
                <a:avLst/>
              </a:prstGeom>
              <a:blipFill>
                <a:blip r:embed="rId3"/>
                <a:stretch>
                  <a:fillRect l="-1081" t="-872" r="-1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30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Endogenous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u="sng" dirty="0">
                <a:solidFill>
                  <a:srgbClr val="FFC000"/>
                </a:solidFill>
              </a:rPr>
              <a:t>(d) In an endogenous minority game, write a line in Python to update the historical state mu after the winning side is determined to be w.</a:t>
            </a:r>
          </a:p>
          <a:p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dirty="0"/>
              <a:t>Hint: </a:t>
            </a:r>
          </a:p>
          <a:p>
            <a:r>
              <a:rPr lang="en-US" sz="2400" dirty="0"/>
              <a:t>Shifting a base-10 number by one leftward position is equivalent to multiplying it by 10.</a:t>
            </a:r>
          </a:p>
          <a:p>
            <a:r>
              <a:rPr lang="en-US" sz="2400" dirty="0"/>
              <a:t>Similarly, shifting a binary number by one leftward position is equivalent to multiplying it by 2. </a:t>
            </a:r>
          </a:p>
          <a:p>
            <a:r>
              <a:rPr lang="en-US" sz="2400" dirty="0"/>
              <a:t>The Python operator % is useful. % is the modulus operator. For example, 13%8 = 5 because 5 is the remainder of 13 divided by 8.</a:t>
            </a:r>
          </a:p>
        </p:txBody>
      </p:sp>
    </p:spTree>
    <p:extLst>
      <p:ext uri="{BB962C8B-B14F-4D97-AF65-F5344CB8AC3E}">
        <p14:creationId xmlns:p14="http://schemas.microsoft.com/office/powerpoint/2010/main" val="162606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Exogenous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input state in an exogenous minority game is even simpler. It is randomly generated as one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states.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(e) Write a line of Python commands to generate the input state mu in an exogenous minority game.</a:t>
                </a:r>
              </a:p>
              <a:p>
                <a:endParaRPr lang="en-US" sz="2400" u="sng" dirty="0">
                  <a:solidFill>
                    <a:srgbClr val="FFC000"/>
                  </a:solidFill>
                </a:endParaRPr>
              </a:p>
              <a:p>
                <a:r>
                  <a:rPr lang="en-US" sz="2400" dirty="0"/>
                  <a:t>Hint: Use ‘</a:t>
                </a:r>
                <a:r>
                  <a:rPr lang="en-US" sz="2400" dirty="0" err="1"/>
                  <a:t>randint</a:t>
                </a:r>
                <a:r>
                  <a:rPr lang="en-US" sz="2400" dirty="0"/>
                  <a:t>’.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blipFill>
                <a:blip r:embed="rId3"/>
                <a:stretch>
                  <a:fillRect l="-1081" t="-1591" b="-43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90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Virtual Scores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5525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In this simulation, we will use linear scores. It is proportional to the </a:t>
                </a:r>
                <a:r>
                  <a:rPr lang="en-US" sz="2400" u="sng" dirty="0">
                    <a:solidFill>
                      <a:srgbClr val="FFCC66"/>
                    </a:solidFill>
                  </a:rPr>
                  <a:t>excess demand</a:t>
                </a:r>
                <a:r>
                  <a:rPr lang="en-US" sz="2400" dirty="0"/>
                  <a:t>, defined as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excess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demand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buyers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sellers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agents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(f) Write Python commands to determine how the virtual score of a strategy should be updated, where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excess = excess demand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</a:t>
                </a:r>
                <a:r>
                  <a:rPr lang="en-US" sz="2400" u="sng" dirty="0" err="1">
                    <a:solidFill>
                      <a:srgbClr val="FFC000"/>
                    </a:solidFill>
                  </a:rPr>
                  <a:t>darray</a:t>
                </a:r>
                <a:r>
                  <a:rPr lang="en-US" sz="2400" u="sng" dirty="0">
                    <a:solidFill>
                      <a:srgbClr val="FFC000"/>
                    </a:solidFill>
                  </a:rPr>
                  <a:t>[i, j, mu] = decision (0 or 1) of strategy j of agent 	i responding to state mu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</a:t>
                </a:r>
                <a:r>
                  <a:rPr lang="en-US" sz="2400" u="sng" dirty="0" err="1">
                    <a:solidFill>
                      <a:srgbClr val="FFC000"/>
                    </a:solidFill>
                  </a:rPr>
                  <a:t>vscore</a:t>
                </a:r>
                <a:r>
                  <a:rPr lang="en-US" sz="2400" u="sng" dirty="0">
                    <a:solidFill>
                      <a:srgbClr val="FFC000"/>
                    </a:solidFill>
                  </a:rPr>
                  <a:t>[i, j] = virtual score of strategy j of agent i.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552593"/>
              </a:xfrm>
              <a:prstGeom prst="rect">
                <a:avLst/>
              </a:prstGeom>
              <a:blipFill>
                <a:blip r:embed="rId3"/>
                <a:stretch>
                  <a:fillRect l="-1081" t="-937" r="-1441" b="-21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44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Decision of an Agent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Given </a:t>
            </a:r>
            <a:r>
              <a:rPr lang="en-US" sz="2400" dirty="0" err="1"/>
              <a:t>vscore</a:t>
            </a:r>
            <a:r>
              <a:rPr lang="en-US" sz="2400" dirty="0"/>
              <a:t>[i, j] = virtual score of  strategy j of agent i, it is tempting to use the Python command ‘argmax’ to determine the strategy choice of the agent.</a:t>
            </a:r>
          </a:p>
          <a:p>
            <a:r>
              <a:rPr lang="en-US" sz="2400" dirty="0"/>
              <a:t>When there are more than one strategies having the same maximum value, ‘argmax’ chooses the one that </a:t>
            </a:r>
            <a:r>
              <a:rPr lang="en-US" sz="2400" u="sng" dirty="0">
                <a:solidFill>
                  <a:srgbClr val="FFCC66"/>
                </a:solidFill>
              </a:rPr>
              <a:t>appears first</a:t>
            </a:r>
            <a:r>
              <a:rPr lang="en-US" sz="2400" dirty="0"/>
              <a:t>.</a:t>
            </a:r>
          </a:p>
          <a:p>
            <a:r>
              <a:rPr lang="en-US" sz="2400" dirty="0"/>
              <a:t>Since the game starts with all virtual scores initialized to 0, using ‘argmax’ will freeze the choices of the agents too early!</a:t>
            </a:r>
          </a:p>
          <a:p>
            <a:endParaRPr lang="en-US" sz="2400" dirty="0"/>
          </a:p>
          <a:p>
            <a:r>
              <a:rPr lang="en-US" sz="2400" u="sng" dirty="0">
                <a:solidFill>
                  <a:srgbClr val="FFCC00"/>
                </a:solidFill>
              </a:rPr>
              <a:t>(g) Write a few lines of Python commands to determine the strategy choice of an agent, where</a:t>
            </a:r>
          </a:p>
          <a:p>
            <a:r>
              <a:rPr lang="en-US" sz="2400" u="sng" dirty="0">
                <a:solidFill>
                  <a:srgbClr val="FFCC00"/>
                </a:solidFill>
              </a:rPr>
              <a:t>	</a:t>
            </a:r>
            <a:r>
              <a:rPr lang="en-US" sz="2400" u="sng" dirty="0" err="1">
                <a:solidFill>
                  <a:srgbClr val="FFCC00"/>
                </a:solidFill>
              </a:rPr>
              <a:t>jchoice</a:t>
            </a:r>
            <a:r>
              <a:rPr lang="en-US" sz="2400" u="sng" dirty="0">
                <a:solidFill>
                  <a:srgbClr val="FFCC00"/>
                </a:solidFill>
              </a:rPr>
              <a:t> = strategy choice of agent </a:t>
            </a:r>
            <a:r>
              <a:rPr lang="en-US" sz="2400" u="sng" dirty="0" err="1">
                <a:solidFill>
                  <a:srgbClr val="FFCC00"/>
                </a:solidFill>
              </a:rPr>
              <a:t>i</a:t>
            </a:r>
            <a:endParaRPr lang="en-US" sz="2400" u="sng" dirty="0">
              <a:solidFill>
                <a:srgbClr val="FFCC00"/>
              </a:solidFill>
            </a:endParaRPr>
          </a:p>
          <a:p>
            <a:r>
              <a:rPr lang="en-US" sz="2400" u="sng" dirty="0">
                <a:solidFill>
                  <a:srgbClr val="FFCC00"/>
                </a:solidFill>
              </a:rPr>
              <a:t>For an agent having two strategies, when the two strategies have the same maximum virtual score, select one of them randomly.</a:t>
            </a:r>
          </a:p>
          <a:p>
            <a:r>
              <a:rPr lang="en-US" sz="2400" dirty="0"/>
              <a:t>This is left for you to work out.</a:t>
            </a:r>
          </a:p>
        </p:txBody>
      </p:sp>
    </p:spTree>
    <p:extLst>
      <p:ext uri="{BB962C8B-B14F-4D97-AF65-F5344CB8AC3E}">
        <p14:creationId xmlns:p14="http://schemas.microsoft.com/office/powerpoint/2010/main" val="11871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Real Scores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u="sng" dirty="0">
                <a:solidFill>
                  <a:srgbClr val="FFC000"/>
                </a:solidFill>
              </a:rPr>
              <a:t>(h) Write the lines of Python commands to determine (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) the decision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 given the strategy choice </a:t>
            </a:r>
            <a:r>
              <a:rPr lang="en-US" sz="2400" u="sng" dirty="0" err="1">
                <a:solidFill>
                  <a:srgbClr val="FFC000"/>
                </a:solidFill>
              </a:rPr>
              <a:t>jchoice</a:t>
            </a:r>
            <a:r>
              <a:rPr lang="en-US" sz="2400" u="sng" dirty="0">
                <a:solidFill>
                  <a:srgbClr val="FFC000"/>
                </a:solidFill>
              </a:rPr>
              <a:t>, and (ii)  how the real score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 should be updated, where</a:t>
            </a:r>
          </a:p>
          <a:p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>
                <a:solidFill>
                  <a:srgbClr val="FFC000"/>
                </a:solidFill>
              </a:rPr>
              <a:t>excess = excess demand</a:t>
            </a:r>
          </a:p>
          <a:p>
            <a:r>
              <a:rPr lang="en-US" sz="2400" u="sng" dirty="0" err="1">
                <a:solidFill>
                  <a:srgbClr val="FFC000"/>
                </a:solidFill>
              </a:rPr>
              <a:t>darray</a:t>
            </a:r>
            <a:r>
              <a:rPr lang="en-US" sz="2400" u="sng" dirty="0">
                <a:solidFill>
                  <a:srgbClr val="FFC000"/>
                </a:solidFill>
              </a:rPr>
              <a:t>[i, j, mu] = decision (0 or 1) of strategy j of agent i responding to state mu</a:t>
            </a:r>
          </a:p>
          <a:p>
            <a:r>
              <a:rPr lang="en-US" sz="2400" u="sng" dirty="0" err="1">
                <a:solidFill>
                  <a:srgbClr val="FFC000"/>
                </a:solidFill>
              </a:rPr>
              <a:t>jchoice</a:t>
            </a:r>
            <a:r>
              <a:rPr lang="en-US" sz="2400" u="sng" dirty="0">
                <a:solidFill>
                  <a:srgbClr val="FFC000"/>
                </a:solidFill>
              </a:rPr>
              <a:t> = strategy choice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>
                <a:solidFill>
                  <a:srgbClr val="FFC000"/>
                </a:solidFill>
              </a:rPr>
              <a:t>decision[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] = decision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 err="1">
                <a:solidFill>
                  <a:srgbClr val="FFC000"/>
                </a:solidFill>
              </a:rPr>
              <a:t>rscore</a:t>
            </a:r>
            <a:r>
              <a:rPr lang="en-US" sz="2400" u="sng" dirty="0">
                <a:solidFill>
                  <a:srgbClr val="FFC000"/>
                </a:solidFill>
              </a:rPr>
              <a:t>[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] = real score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03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11856</TotalTime>
  <Words>1567</Words>
  <Application>Microsoft Office PowerPoint</Application>
  <PresentationFormat>On-screen Show (4:3)</PresentationFormat>
  <Paragraphs>160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Garamond</vt:lpstr>
      <vt:lpstr>Times New Roman</vt:lpstr>
      <vt:lpstr>Wingdings</vt:lpstr>
      <vt:lpstr>Stream</vt:lpstr>
      <vt:lpstr>Tutorial 13 Simulation of the  Minority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Preferred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Michael K Y WONG</cp:lastModifiedBy>
  <cp:revision>360</cp:revision>
  <cp:lastPrinted>2001-04-05T18:48:46Z</cp:lastPrinted>
  <dcterms:created xsi:type="dcterms:W3CDTF">2001-03-29T17:58:54Z</dcterms:created>
  <dcterms:modified xsi:type="dcterms:W3CDTF">2025-11-26T02:00:23Z</dcterms:modified>
</cp:coreProperties>
</file>