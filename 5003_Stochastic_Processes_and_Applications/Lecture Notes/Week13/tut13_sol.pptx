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</p:sldMasterIdLst>
  <p:notesMasterIdLst>
    <p:notesMasterId r:id="rId18"/>
  </p:notesMasterIdLst>
  <p:handoutMasterIdLst>
    <p:handoutMasterId r:id="rId19"/>
  </p:handoutMasterIdLst>
  <p:sldIdLst>
    <p:sldId id="381" r:id="rId2"/>
    <p:sldId id="372" r:id="rId3"/>
    <p:sldId id="406" r:id="rId4"/>
    <p:sldId id="402" r:id="rId5"/>
    <p:sldId id="395" r:id="rId6"/>
    <p:sldId id="396" r:id="rId7"/>
    <p:sldId id="403" r:id="rId8"/>
    <p:sldId id="404" r:id="rId9"/>
    <p:sldId id="405" r:id="rId10"/>
    <p:sldId id="394" r:id="rId11"/>
    <p:sldId id="385" r:id="rId12"/>
    <p:sldId id="387" r:id="rId13"/>
    <p:sldId id="398" r:id="rId14"/>
    <p:sldId id="399" r:id="rId15"/>
    <p:sldId id="400" r:id="rId16"/>
    <p:sldId id="401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006666"/>
    <a:srgbClr val="009999"/>
    <a:srgbClr val="FFCCFF"/>
    <a:srgbClr val="FF0000"/>
    <a:srgbClr val="FFCC66"/>
    <a:srgbClr val="FFFF66"/>
    <a:srgbClr val="FFCC99"/>
    <a:srgbClr val="CCFFFF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5" autoAdjust="0"/>
    <p:restoredTop sz="94782" autoAdjust="0"/>
  </p:normalViewPr>
  <p:slideViewPr>
    <p:cSldViewPr snapToGrid="0">
      <p:cViewPr varScale="1">
        <p:scale>
          <a:sx n="102" d="100"/>
          <a:sy n="102" d="100"/>
        </p:scale>
        <p:origin x="180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sz="1200">
                <a:latin typeface="Times New Roman" pitchFamily="18" charset="0"/>
              </a:defRPr>
            </a:lvl1pPr>
          </a:lstStyle>
          <a:p>
            <a:fld id="{DFD3B866-D8E9-40B3-B90D-60DE41DFC3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73065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D927074E-5E5D-4C1F-97AC-20A94DE095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84376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2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3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4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06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5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43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6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60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33E1E-BBE1-8C1B-11F7-A7E39ABE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7A00BD87-5A5B-1A8A-3022-AE0FDA9C2A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7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6D88FFE5-5B9C-A180-D0C7-856E518862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84924D20-E2BD-8871-03B2-57DA6D60D2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79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CD9E-9AA6-BE4E-FE90-E352778E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FD85594D-C7D9-15DB-DEFB-195B6D5453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8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D2E09345-94A6-5F1A-C2B0-25BA5AB28B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7651EFFC-0AAD-90BD-DDF7-842C6C6326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12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72BF1-6657-6172-9E5D-2E504BEB5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D0C5A489-F3DF-8B44-B083-C439CE86C7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9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01B4714E-F8EE-DCF6-702C-9B089B656A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DFCDD842-FA1E-76DD-858E-BA28FFC5F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53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10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06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82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12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71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13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26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14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019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15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528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B8F2241-9BB1-496E-93BD-26C2BE888288}" type="slidenum">
              <a:rPr lang="en-US" smtClean="0">
                <a:latin typeface="Times New Roman" pitchFamily="18" charset="0"/>
              </a:rPr>
              <a:pPr/>
              <a:t>16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88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610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80611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80612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3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4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5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616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0617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618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0619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80620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80621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8062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8062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275EF93-7C18-48A5-8351-AFEAC17FEC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30602D9-9302-4A50-95D0-CDC3384EEE1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253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5EC7218-FB5C-4800-BD33-D53AC9BA118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500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8E9AB3-3811-47CE-A2D2-C49B5400CB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40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5935C9E-B1D2-4853-B38F-82FAA8E22A8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161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12B17B-E01D-4CEC-98D0-E1429A8071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0593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2E6CCC-599A-4314-85D2-A1BF51A7102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1909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759BF52-9517-47BE-BDD9-63388EA46D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52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55A8947-ACEE-45AB-AEC7-A6861EE72F1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4796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8B6436D-0598-4727-A5F6-2CCC7F41CCD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406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F02E00-FDFE-4923-8A3F-827323B2A22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036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7C187F2-0E06-40D0-8855-37C17089436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9178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DEE082F-283E-4D98-8BB1-6C2185D79E5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684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0D4534A-65DB-4158-9AB1-310AB1ABB7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70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FE82E1C-73CE-44AC-A044-94B1ADEF7A8A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579588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79589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79590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1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2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3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594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9595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9596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9597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79598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57959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tm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tmp"/><Relationship Id="rId4" Type="http://schemas.openxmlformats.org/officeDocument/2006/relationships/image" Target="../media/image8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tm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20624" y="1381061"/>
            <a:ext cx="8229600" cy="2785586"/>
          </a:xfrm>
        </p:spPr>
        <p:txBody>
          <a:bodyPr/>
          <a:lstStyle/>
          <a:p>
            <a:r>
              <a:rPr lang="en-US" dirty="0">
                <a:effectLst/>
              </a:rPr>
              <a:t>Tutorial 13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Simulation of the 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Minority Game</a:t>
            </a:r>
            <a:br>
              <a:rPr lang="en-US" dirty="0">
                <a:effectLst/>
              </a:rPr>
            </a:br>
            <a:r>
              <a:rPr lang="en-US" dirty="0">
                <a:solidFill>
                  <a:srgbClr val="FFCC00"/>
                </a:solidFill>
                <a:effectLst/>
              </a:rPr>
              <a:t>Solution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EE082F-283E-4D98-8BB1-6C2185D79E59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8832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hlink"/>
                </a:solidFill>
              </a:rPr>
              <a:t>Representation of the Strategies</a:t>
            </a:r>
            <a:endParaRPr lang="en-US" sz="2800" b="1" dirty="0">
              <a:solidFill>
                <a:schemeClr val="hlink"/>
              </a:solidFill>
            </a:endParaRP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49100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457200" indent="-457200">
                  <a:buAutoNum type="alphaLcParenBoth"/>
                </a:pPr>
                <a:r>
                  <a:rPr lang="en-US" sz="2400" u="sng" dirty="0">
                    <a:solidFill>
                      <a:srgbClr val="FFC000"/>
                    </a:solidFill>
                  </a:rPr>
                  <a:t>What is the number of input states of strategies with </a:t>
                </a:r>
                <a14:m>
                  <m:oMath xmlns:m="http://schemas.openxmlformats.org/officeDocument/2006/math">
                    <m:r>
                      <a:rPr lang="en-US" sz="2400" i="1" u="sng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u="sng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u="sng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 3</m:t>
                    </m:r>
                  </m:oMath>
                </a14:m>
                <a:r>
                  <a:rPr lang="en-US" sz="2400" u="sng" dirty="0">
                    <a:solidFill>
                      <a:srgbClr val="FFC000"/>
                    </a:solidFill>
                  </a:rPr>
                  <a:t>?</a:t>
                </a:r>
              </a:p>
              <a:p>
                <a:endParaRPr lang="en-US" sz="2400" u="sng" dirty="0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  <a:p>
                <a:r>
                  <a:rPr lang="en-US" sz="2400" dirty="0"/>
                  <a:t>Each strategy is a function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input states. These input states, from 000 to 111, represent the history of the winning states in the past 3 steps.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The decisions of a strategy in response to these 8 input states (integers in the range 0 to 7) can be determined by converting the strategy number to its 8-digit binary representation. The response to input state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=0,⋯,7)</m:t>
                    </m:r>
                  </m:oMath>
                </a14:m>
                <a:r>
                  <a:rPr lang="en-US" sz="2400" dirty="0"/>
                  <a:t> is then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th</m:t>
                        </m:r>
                      </m:sup>
                    </m:sSup>
                  </m:oMath>
                </a14:m>
                <a:r>
                  <a:rPr lang="en-US" sz="2400" dirty="0"/>
                  <a:t> digit of the binary representation (counting from the right).</a:t>
                </a:r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4910062"/>
              </a:xfrm>
              <a:prstGeom prst="rect">
                <a:avLst/>
              </a:prstGeom>
              <a:blipFill>
                <a:blip r:embed="rId3"/>
                <a:stretch>
                  <a:fillRect l="-1081" t="-868" r="-360" b="-18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527178-4A3D-C5B7-D775-EE4D001569E2}"/>
                  </a:ext>
                </a:extLst>
              </p:cNvPr>
              <p:cNvSpPr txBox="1"/>
              <p:nvPr/>
            </p:nvSpPr>
            <p:spPr>
              <a:xfrm>
                <a:off x="4212647" y="1575098"/>
                <a:ext cx="718705" cy="46166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527178-4A3D-C5B7-D775-EE4D00156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647" y="1575098"/>
                <a:ext cx="71870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77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Example of Strategy 173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56323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Hence a strategy is represented by a list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elements of 1’s and 0’s. For example, [1, 0, 1, 0, 1, 1, 0, 1] represents the strategy of: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(starting from the rightmost bit)</a:t>
                </a:r>
              </a:p>
              <a:p>
                <a:r>
                  <a:rPr lang="en-US" sz="2400" dirty="0"/>
                  <a:t>When the market history of winners is 000, buy.</a:t>
                </a:r>
              </a:p>
              <a:p>
                <a:r>
                  <a:rPr lang="en-US" sz="2400" dirty="0"/>
                  <a:t>When the market history of winners is 001, sell.</a:t>
                </a:r>
              </a:p>
              <a:p>
                <a:r>
                  <a:rPr lang="en-US" sz="2400" dirty="0"/>
                  <a:t>When the market history of winners is 010, buy.</a:t>
                </a:r>
              </a:p>
              <a:p>
                <a:r>
                  <a:rPr lang="en-US" sz="2400" dirty="0"/>
                  <a:t>When the market history of winners is 011, buy.</a:t>
                </a:r>
              </a:p>
              <a:p>
                <a:r>
                  <a:rPr lang="en-US" sz="2400" dirty="0"/>
                  <a:t>When the market history of winners is 100, sell.</a:t>
                </a:r>
              </a:p>
              <a:p>
                <a:r>
                  <a:rPr lang="en-US" sz="2400" dirty="0"/>
                  <a:t>When the market history of winners is 101, buy.</a:t>
                </a:r>
              </a:p>
              <a:p>
                <a:r>
                  <a:rPr lang="en-US" sz="2400" dirty="0"/>
                  <a:t>When the market history of winners is 110, sell.</a:t>
                </a:r>
              </a:p>
              <a:p>
                <a:r>
                  <a:rPr lang="en-US" sz="2400" dirty="0"/>
                  <a:t>When the market history of winners is 111, buy.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This strategy is labeled to be 173, as 173 = 10101101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5632311"/>
              </a:xfrm>
              <a:prstGeom prst="rect">
                <a:avLst/>
              </a:prstGeom>
              <a:blipFill>
                <a:blip r:embed="rId3"/>
                <a:stretch>
                  <a:fillRect l="-1081" t="-758" r="-1369" b="-162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39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From Strategy Outputs to Strategy Label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4159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The conversion from 10101101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to 173 can be done by: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10101101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+0×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HK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HK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+0×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sz="2400" b="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=1+0+4+</m:t>
                      </m:r>
                      <m:r>
                        <a:rPr lang="en-HK" sz="2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HK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+32+0+128=1</m:t>
                      </m:r>
                      <m:r>
                        <a:rPr lang="en-HK" sz="2400" b="0" i="1" smtClean="0">
                          <a:latin typeface="Cambria Math" panose="02040503050406030204" pitchFamily="18" charset="0"/>
                        </a:rPr>
                        <m:t>73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u="sng" dirty="0">
                    <a:solidFill>
                      <a:srgbClr val="FFC000"/>
                    </a:solidFill>
                  </a:rPr>
                  <a:t>(b) Given the strategy output, say, [1, 0, 1, 0, 1, 1, 0, 1], write a few lines of Python commands to calculate the strategy label.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4159152"/>
              </a:xfrm>
              <a:prstGeom prst="rect">
                <a:avLst/>
              </a:prstGeom>
              <a:blipFill>
                <a:blip r:embed="rId3"/>
                <a:stretch>
                  <a:fillRect l="-1081" t="-1025" r="-79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computer code with numbers&#10;&#10;AI-generated content may be incorrect.">
            <a:extLst>
              <a:ext uri="{FF2B5EF4-FFF2-40B4-BE49-F238E27FC236}">
                <a16:creationId xmlns:a16="http://schemas.microsoft.com/office/drawing/2014/main" id="{E9A3CEF5-4776-258E-E77B-ADA33A4EBD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275" y="4859756"/>
            <a:ext cx="5644350" cy="141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15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From Strategy Label to Strategy Outputs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4524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In Python, the remainder of integer division can be obtained by the modulus operator. For example, the results in Slide 4 can be written as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173%2=1,  86%2=0,  43%2=1,  ⋯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In Python, the floor division of integers can be obtained by the operator “//”. For example, the results in Slide 4 can be written as</a:t>
                </a:r>
              </a:p>
              <a:p>
                <a:endParaRPr lang="en-US" sz="2400" dirty="0"/>
              </a:p>
              <a:p>
                <a:pPr algn="ctr"/>
                <a:r>
                  <a:rPr lang="en-US" sz="2400" dirty="0"/>
                  <a:t>173//2 = 86,	86//2 = 43, 	43//2 = 21, 	…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4524315"/>
              </a:xfrm>
              <a:prstGeom prst="rect">
                <a:avLst/>
              </a:prstGeom>
              <a:blipFill>
                <a:blip r:embed="rId3"/>
                <a:stretch>
                  <a:fillRect l="-1081" t="-94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000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Strategy Conversion in Python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2677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Since 173 = 10101101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, the output of strategy 173 to</a:t>
                </a:r>
              </a:p>
              <a:p>
                <a:r>
                  <a:rPr lang="en-US" sz="2400" dirty="0"/>
                  <a:t>states 7, 6, 5, 4, 3, 2, 1, 0 are 1, 0, 1, 0, 1, 1, 0, 1 respectively.</a:t>
                </a:r>
              </a:p>
              <a:p>
                <a:endParaRPr lang="en-US" sz="2400" dirty="0"/>
              </a:p>
              <a:p>
                <a:r>
                  <a:rPr lang="en-US" sz="2400" u="sng" dirty="0">
                    <a:solidFill>
                      <a:srgbClr val="FFC000"/>
                    </a:solidFill>
                  </a:rPr>
                  <a:t>(c) Given a strategy label, say, 173, write a few lines of Python commands to find the output of the strategy for state mu (mu = </a:t>
                </a:r>
                <a14:m>
                  <m:oMath xmlns:m="http://schemas.openxmlformats.org/officeDocument/2006/math">
                    <m:r>
                      <a:rPr lang="en-US" sz="2400" i="1" u="sng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0, …, </m:t>
                    </m:r>
                    <m:sSup>
                      <m:sSupPr>
                        <m:ctrlPr>
                          <a:rPr lang="en-US" sz="2400" i="1" u="sng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u="sng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 u="sng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i="1" u="sng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u="sng" dirty="0">
                    <a:solidFill>
                      <a:srgbClr val="FFC000"/>
                    </a:solidFill>
                  </a:rPr>
                  <a:t>) of the input.</a:t>
                </a:r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2677656"/>
              </a:xfrm>
              <a:prstGeom prst="rect">
                <a:avLst/>
              </a:prstGeom>
              <a:blipFill>
                <a:blip r:embed="rId3"/>
                <a:stretch>
                  <a:fillRect l="-1081" t="-1591" b="-43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omputer screen shot of a math equation&#10;&#10;AI-generated content may be incorrect.">
            <a:extLst>
              <a:ext uri="{FF2B5EF4-FFF2-40B4-BE49-F238E27FC236}">
                <a16:creationId xmlns:a16="http://schemas.microsoft.com/office/drawing/2014/main" id="{9B6AE682-FE69-28CE-6E65-17F3780DF6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562" y="3976700"/>
            <a:ext cx="4372586" cy="161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9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549E-2138-D627-84E5-9CCE82FC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>
            <a:extLst>
              <a:ext uri="{FF2B5EF4-FFF2-40B4-BE49-F238E27FC236}">
                <a16:creationId xmlns:a16="http://schemas.microsoft.com/office/drawing/2014/main" id="{C394CC2A-8673-9B54-32F0-2A090F26B2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9CC0EB41-4E96-7C0F-8D86-7A52158DB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Bitwise Left Shift Operator in Python</a:t>
            </a:r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E4E79D21-0CA9-277D-94F8-94E3241A7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>
            <a:extLst>
              <a:ext uri="{FF2B5EF4-FFF2-40B4-BE49-F238E27FC236}">
                <a16:creationId xmlns:a16="http://schemas.microsoft.com/office/drawing/2014/main" id="{27536D41-EC58-2C64-1FE6-371187BFA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27113"/>
            <a:ext cx="84582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In Python, </a:t>
            </a:r>
            <a:r>
              <a:rPr lang="en-US" sz="2400" dirty="0">
                <a:solidFill>
                  <a:srgbClr val="FFCC00"/>
                </a:solidFill>
              </a:rPr>
              <a:t>a &lt;&lt; b </a:t>
            </a:r>
            <a:r>
              <a:rPr lang="en-US" sz="2400" dirty="0"/>
              <a:t>(a, b are integers) means:</a:t>
            </a:r>
          </a:p>
          <a:p>
            <a:r>
              <a:rPr lang="en-US" sz="2400" dirty="0"/>
              <a:t>(1) Consider a in its </a:t>
            </a:r>
            <a:r>
              <a:rPr lang="en-US" sz="2400" dirty="0">
                <a:solidFill>
                  <a:srgbClr val="FFCC00"/>
                </a:solidFill>
              </a:rPr>
              <a:t>binary</a:t>
            </a:r>
            <a:r>
              <a:rPr lang="en-US" sz="2400" dirty="0"/>
              <a:t> representation, e.g. 5 = 101</a:t>
            </a:r>
            <a:r>
              <a:rPr lang="en-US" sz="2400" baseline="-25000" dirty="0"/>
              <a:t>2</a:t>
            </a:r>
          </a:p>
          <a:p>
            <a:r>
              <a:rPr lang="en-US" sz="2400" dirty="0"/>
              <a:t>(2) </a:t>
            </a:r>
            <a:r>
              <a:rPr lang="en-US" sz="2400" dirty="0">
                <a:solidFill>
                  <a:srgbClr val="FFCC00"/>
                </a:solidFill>
              </a:rPr>
              <a:t>Left-shift</a:t>
            </a:r>
            <a:r>
              <a:rPr lang="en-US" sz="2400" dirty="0"/>
              <a:t> the binary representation by </a:t>
            </a:r>
            <a:r>
              <a:rPr lang="en-US" sz="2400" dirty="0">
                <a:solidFill>
                  <a:srgbClr val="FFCC00"/>
                </a:solidFill>
              </a:rPr>
              <a:t>b positions</a:t>
            </a:r>
            <a:r>
              <a:rPr lang="en-US" sz="2400" dirty="0"/>
              <a:t>, and zeros are introduced on the right, e.g. 5 &lt;&lt; 2 = 10100</a:t>
            </a:r>
            <a:r>
              <a:rPr lang="en-US" sz="2400" baseline="-25000" dirty="0"/>
              <a:t>2</a:t>
            </a:r>
          </a:p>
          <a:p>
            <a:r>
              <a:rPr lang="en-US" sz="2400" dirty="0"/>
              <a:t>(3) (If the leftmost position exists, bits shifted beyond the leftmost position are discarded.)</a:t>
            </a:r>
          </a:p>
          <a:p>
            <a:r>
              <a:rPr lang="en-US" sz="2400" dirty="0"/>
              <a:t>(4) Return the binary representation as an integer.</a:t>
            </a:r>
          </a:p>
          <a:p>
            <a:endParaRPr lang="en-US" sz="2400" dirty="0"/>
          </a:p>
          <a:p>
            <a:r>
              <a:rPr lang="en-US" sz="2400" dirty="0"/>
              <a:t>Example</a:t>
            </a:r>
          </a:p>
          <a:p>
            <a:r>
              <a:rPr lang="en-US" sz="2400" dirty="0"/>
              <a:t>5 = 101</a:t>
            </a:r>
            <a:r>
              <a:rPr lang="en-US" sz="2400" baseline="-25000" dirty="0"/>
              <a:t>2</a:t>
            </a:r>
          </a:p>
          <a:p>
            <a:r>
              <a:rPr lang="en-US" sz="2400" dirty="0"/>
              <a:t>(5 &lt;&lt; 2) = 10100</a:t>
            </a:r>
            <a:r>
              <a:rPr lang="en-US" sz="2400" baseline="-25000" dirty="0"/>
              <a:t>2</a:t>
            </a:r>
            <a:r>
              <a:rPr lang="en-US" sz="2400" dirty="0"/>
              <a:t> = 20</a:t>
            </a:r>
          </a:p>
          <a:p>
            <a:endParaRPr lang="en-US" sz="2400" dirty="0"/>
          </a:p>
          <a:p>
            <a:r>
              <a:rPr lang="en-US" sz="2400" dirty="0"/>
              <a:t>Effectively, the value of a &lt;&lt; b is (a)(2</a:t>
            </a:r>
            <a:r>
              <a:rPr lang="en-US" sz="2400" baseline="30000" dirty="0"/>
              <a:t>b</a:t>
            </a:r>
            <a:r>
              <a:rPr lang="en-US" sz="2400" dirty="0"/>
              <a:t>).</a:t>
            </a:r>
            <a:endParaRPr lang="en-US" sz="2400" u="sng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54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BE652-4CED-7738-4C58-70F4A557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>
            <a:extLst>
              <a:ext uri="{FF2B5EF4-FFF2-40B4-BE49-F238E27FC236}">
                <a16:creationId xmlns:a16="http://schemas.microsoft.com/office/drawing/2014/main" id="{FF8B6705-FBCB-2179-C4A9-6D3022B66B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9C899A0A-3BA2-FC42-4375-58B2AD67F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Bitwise Right Shift Operator in Python</a:t>
            </a:r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0399791D-97D5-E876-4B3F-7FC2EA43BA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>
            <a:extLst>
              <a:ext uri="{FF2B5EF4-FFF2-40B4-BE49-F238E27FC236}">
                <a16:creationId xmlns:a16="http://schemas.microsoft.com/office/drawing/2014/main" id="{CCF96D3F-281E-8466-A57A-82AC229CC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27113"/>
            <a:ext cx="84582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In Python, </a:t>
            </a:r>
            <a:r>
              <a:rPr lang="en-US" sz="2400" dirty="0">
                <a:solidFill>
                  <a:srgbClr val="FFCC00"/>
                </a:solidFill>
              </a:rPr>
              <a:t>a &gt;&gt; b </a:t>
            </a:r>
            <a:r>
              <a:rPr lang="en-US" sz="2400" dirty="0"/>
              <a:t>(a, b are integers) means:</a:t>
            </a:r>
          </a:p>
          <a:p>
            <a:r>
              <a:rPr lang="en-US" sz="2400" dirty="0"/>
              <a:t>(1) Consider a in its </a:t>
            </a:r>
            <a:r>
              <a:rPr lang="en-US" sz="2400" dirty="0">
                <a:solidFill>
                  <a:srgbClr val="FFCC00"/>
                </a:solidFill>
              </a:rPr>
              <a:t>binary</a:t>
            </a:r>
            <a:r>
              <a:rPr lang="en-US" sz="2400" dirty="0"/>
              <a:t> representation, e.g. 9 = 1001</a:t>
            </a:r>
            <a:r>
              <a:rPr lang="en-US" sz="2400" baseline="-25000" dirty="0"/>
              <a:t>2</a:t>
            </a:r>
          </a:p>
          <a:p>
            <a:r>
              <a:rPr lang="en-US" sz="2400" dirty="0"/>
              <a:t>(2) </a:t>
            </a:r>
            <a:r>
              <a:rPr lang="en-US" sz="2400" dirty="0">
                <a:solidFill>
                  <a:srgbClr val="FFCC00"/>
                </a:solidFill>
              </a:rPr>
              <a:t>Right-shift</a:t>
            </a:r>
            <a:r>
              <a:rPr lang="en-US" sz="2400" dirty="0"/>
              <a:t> the binary representation by </a:t>
            </a:r>
            <a:r>
              <a:rPr lang="en-US" sz="2400" dirty="0">
                <a:solidFill>
                  <a:srgbClr val="FFCC00"/>
                </a:solidFill>
              </a:rPr>
              <a:t>b positions</a:t>
            </a:r>
            <a:r>
              <a:rPr lang="en-US" sz="2400" dirty="0"/>
              <a:t>, and zeros are introduced on the right, e.g. 9 &gt;&gt; 2 = 10</a:t>
            </a:r>
            <a:r>
              <a:rPr lang="en-US" sz="2400" baseline="-25000" dirty="0"/>
              <a:t>2</a:t>
            </a:r>
          </a:p>
          <a:p>
            <a:r>
              <a:rPr lang="en-US" sz="2400" dirty="0"/>
              <a:t>(3) Bits shifted beyond the rightmost position are discarded.</a:t>
            </a:r>
          </a:p>
          <a:p>
            <a:r>
              <a:rPr lang="en-US" sz="2400" dirty="0"/>
              <a:t>(4) Return the binary representation as an integer.</a:t>
            </a:r>
          </a:p>
          <a:p>
            <a:endParaRPr lang="en-US" sz="2400" dirty="0"/>
          </a:p>
          <a:p>
            <a:r>
              <a:rPr lang="en-US" sz="2400" dirty="0"/>
              <a:t>Example</a:t>
            </a:r>
          </a:p>
          <a:p>
            <a:r>
              <a:rPr lang="en-US" sz="2400" dirty="0"/>
              <a:t>9 = 1001</a:t>
            </a:r>
            <a:r>
              <a:rPr lang="en-US" sz="2400" baseline="-25000" dirty="0"/>
              <a:t>2</a:t>
            </a:r>
          </a:p>
          <a:p>
            <a:r>
              <a:rPr lang="en-US" sz="2400" dirty="0"/>
              <a:t>(9 &gt;&gt; 2) = 10</a:t>
            </a:r>
            <a:r>
              <a:rPr lang="en-US" sz="2400" baseline="-25000" dirty="0"/>
              <a:t>2</a:t>
            </a:r>
            <a:r>
              <a:rPr lang="en-US" sz="2400" dirty="0"/>
              <a:t> = 2</a:t>
            </a:r>
          </a:p>
          <a:p>
            <a:endParaRPr lang="en-US" sz="2400" dirty="0"/>
          </a:p>
          <a:p>
            <a:r>
              <a:rPr lang="en-US" sz="2400" dirty="0"/>
              <a:t>Effectively, the value of a &gt;&gt; b is a//2</a:t>
            </a:r>
            <a:r>
              <a:rPr lang="en-US" sz="2400" baseline="30000" dirty="0"/>
              <a:t>b</a:t>
            </a:r>
            <a:r>
              <a:rPr lang="en-US" sz="2400" dirty="0"/>
              <a:t>.</a:t>
            </a:r>
            <a:endParaRPr lang="en-US" sz="2400" u="sng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66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ADD13-D8E9-FEEC-A067-E00DC1C35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>
            <a:extLst>
              <a:ext uri="{FF2B5EF4-FFF2-40B4-BE49-F238E27FC236}">
                <a16:creationId xmlns:a16="http://schemas.microsoft.com/office/drawing/2014/main" id="{F7A98A4B-31BE-3C9C-E58A-5F1C818F96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29F1CE9D-CDC8-B0A4-E73B-414844CBF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Vectorized Bitwise Shift Operation</a:t>
            </a:r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A198CBCA-1FC8-E1FE-4397-3FD75307B5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>
            <a:extLst>
              <a:ext uri="{FF2B5EF4-FFF2-40B4-BE49-F238E27FC236}">
                <a16:creationId xmlns:a16="http://schemas.microsoft.com/office/drawing/2014/main" id="{AAB20C59-8145-D344-E1C5-3F056C59F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27113"/>
            <a:ext cx="8458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The conversion between strategy labels and strategy outputs can be simplified by vectorizing the bitwise shift operations.</a:t>
            </a:r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20D6DE0-F2E4-5E0A-B1BF-ED939FA2BD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683" y="1899174"/>
            <a:ext cx="4353533" cy="2772162"/>
          </a:xfrm>
          <a:prstGeom prst="rect">
            <a:avLst/>
          </a:prstGeom>
        </p:spPr>
      </p:pic>
      <p:pic>
        <p:nvPicPr>
          <p:cNvPr id="11" name="Picture 10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D0B94A2-C361-5EC4-3D75-80BEE883E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36" y="4742572"/>
            <a:ext cx="7535327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5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Generation of the Strategies (1)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298450" y="964768"/>
                <a:ext cx="8458200" cy="52629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There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/>
                  <a:t> agents in the market. </a:t>
                </a:r>
              </a:p>
              <a:p>
                <a:r>
                  <a:rPr lang="en-US" sz="2400" dirty="0"/>
                  <a:t>Each agent has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strategies. </a:t>
                </a:r>
              </a:p>
              <a:p>
                <a:r>
                  <a:rPr lang="en-US" sz="2400" dirty="0"/>
                  <a:t>Each strategy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dim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⁡=2</m:t>
                    </m:r>
                    <m:r>
                      <a:rPr lang="en-US" sz="2400" i="1" baseline="30000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elements.</a:t>
                </a:r>
              </a:p>
              <a:p>
                <a:r>
                  <a:rPr lang="en-US" sz="2400" dirty="0"/>
                  <a:t>Each element is randomly assigned to be 0 or 1.</a:t>
                </a:r>
              </a:p>
              <a:p>
                <a:endParaRPr lang="en-US" sz="2400" dirty="0"/>
              </a:p>
              <a:p>
                <a:r>
                  <a:rPr lang="en-US" sz="2400" u="sng" dirty="0">
                    <a:solidFill>
                      <a:srgbClr val="FFCC00"/>
                    </a:solidFill>
                  </a:rPr>
                  <a:t>(c) Write the Python commands to generate the strategies of the agents, where</a:t>
                </a:r>
              </a:p>
              <a:p>
                <a:endParaRPr lang="en-US" sz="2400" dirty="0">
                  <a:solidFill>
                    <a:srgbClr val="FFCC00"/>
                  </a:solidFill>
                </a:endParaRPr>
              </a:p>
              <a:p>
                <a:r>
                  <a:rPr lang="en-US" sz="2400" u="sng" dirty="0" err="1">
                    <a:solidFill>
                      <a:srgbClr val="FFCC00"/>
                    </a:solidFill>
                  </a:rPr>
                  <a:t>darray</a:t>
                </a:r>
                <a:r>
                  <a:rPr lang="en-US" sz="2400" u="sng" dirty="0">
                    <a:solidFill>
                      <a:srgbClr val="FFCC00"/>
                    </a:solidFill>
                  </a:rPr>
                  <a:t>[i, j, state] = decision of strategy </a:t>
                </a:r>
                <a:r>
                  <a:rPr lang="en-US" sz="2400" i="1" u="sng" dirty="0">
                    <a:solidFill>
                      <a:srgbClr val="FFCC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sz="2400" u="sng" dirty="0">
                    <a:solidFill>
                      <a:srgbClr val="FFCC00"/>
                    </a:solidFill>
                  </a:rPr>
                  <a:t> of agent </a:t>
                </a:r>
                <a:r>
                  <a:rPr lang="en-US" sz="2400" i="1" u="sng" dirty="0">
                    <a:solidFill>
                      <a:srgbClr val="FFCC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u="sng" dirty="0">
                    <a:solidFill>
                      <a:srgbClr val="FFCC00"/>
                    </a:solidFill>
                  </a:rPr>
                  <a:t> when the input market state is mu.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Hint: The command to generate 0’s and 1’s randomly is </a:t>
                </a:r>
                <a:r>
                  <a:rPr lang="en-US" sz="2400" dirty="0" err="1"/>
                  <a:t>np.random.randint</a:t>
                </a:r>
                <a:r>
                  <a:rPr lang="en-US" sz="2400" dirty="0"/>
                  <a:t>(0, 2, size=SZ).</a:t>
                </a:r>
              </a:p>
              <a:p>
                <a:r>
                  <a:rPr lang="en-US" sz="2400" dirty="0"/>
                  <a:t>SZ = output shape.</a:t>
                </a:r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450" y="964768"/>
                <a:ext cx="8458200" cy="5262979"/>
              </a:xfrm>
              <a:prstGeom prst="rect">
                <a:avLst/>
              </a:prstGeom>
              <a:blipFill>
                <a:blip r:embed="rId3"/>
                <a:stretch>
                  <a:fillRect l="-1154" t="-810" r="-577" b="-173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7CA405B-0660-9060-3AC4-079429ED33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511" y="6476264"/>
            <a:ext cx="5852978" cy="3658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DBF7AD-F85F-057E-B8FC-ABE7B37FD5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511" y="6109296"/>
            <a:ext cx="2896005" cy="2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47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Representation of the Historical State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48936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After the winning side (1 = buyers win, 0 = sellers win) has been determined, the input state has to be changed to give the updated history for the next step. </a:t>
                </a:r>
              </a:p>
              <a:p>
                <a:r>
                  <a:rPr lang="en-US" sz="2400" dirty="0"/>
                  <a:t>For example, if the present input state is 5, and the winning side is 1, then the input state has to be updated to 3, because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After deleting the leftmost digit and adding the rightmost digit according to the winning side, we have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011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4893647"/>
              </a:xfrm>
              <a:prstGeom prst="rect">
                <a:avLst/>
              </a:prstGeom>
              <a:blipFill>
                <a:blip r:embed="rId3"/>
                <a:stretch>
                  <a:fillRect l="-1081" t="-872" r="-1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130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Updating of the Endogenous Historical State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304800" y="1027113"/>
            <a:ext cx="84582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u="sng" dirty="0">
                <a:solidFill>
                  <a:srgbClr val="FFC000"/>
                </a:solidFill>
              </a:rPr>
              <a:t>(d) In an endogenous minority game, write a line in Python to update the historical state mu after the winning side is determined to be w.</a:t>
            </a:r>
          </a:p>
          <a:p>
            <a:endParaRPr lang="en-US" sz="2400" u="sng" dirty="0">
              <a:solidFill>
                <a:srgbClr val="FFC000"/>
              </a:solidFill>
            </a:endParaRPr>
          </a:p>
          <a:p>
            <a:r>
              <a:rPr lang="en-US" sz="2400" dirty="0"/>
              <a:t>Hint: </a:t>
            </a:r>
          </a:p>
          <a:p>
            <a:r>
              <a:rPr lang="en-US" sz="2400" dirty="0"/>
              <a:t>Shifting a base-10 number by one leftward position is equivalent to multiplying it by 10.</a:t>
            </a:r>
          </a:p>
          <a:p>
            <a:r>
              <a:rPr lang="en-US" sz="2400" dirty="0"/>
              <a:t>Similarly, shifting a binary number by one leftward position is equivalent to multiplying it by 2. </a:t>
            </a:r>
          </a:p>
          <a:p>
            <a:r>
              <a:rPr lang="en-US" sz="2400" dirty="0"/>
              <a:t>The Python operator % is useful. % is the modulus operator. For example, 13%8 = 5 because 5 is the remainder of 13 divided by 8.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8E0EB-0A9E-7560-D380-8D0D3F6F4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228" y="5621308"/>
            <a:ext cx="2915056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6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Updating of the Exogenous Historical State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2677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The input state in an exogenous minority game is even simpler. It is randomly generated as one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/>
                  <a:t> states.</a:t>
                </a:r>
              </a:p>
              <a:p>
                <a:endParaRPr lang="en-US" sz="2400" dirty="0"/>
              </a:p>
              <a:p>
                <a:r>
                  <a:rPr lang="en-US" sz="2400" u="sng" dirty="0">
                    <a:solidFill>
                      <a:srgbClr val="FFC000"/>
                    </a:solidFill>
                  </a:rPr>
                  <a:t>(e) Write a line of Python commands to generate the input state mu in an exogenous minority game.</a:t>
                </a:r>
              </a:p>
              <a:p>
                <a:endParaRPr lang="en-US" sz="2400" u="sng" dirty="0">
                  <a:solidFill>
                    <a:srgbClr val="FFC000"/>
                  </a:solidFill>
                </a:endParaRPr>
              </a:p>
              <a:p>
                <a:r>
                  <a:rPr lang="en-US" sz="2400" dirty="0"/>
                  <a:t>Hint: Use ‘</a:t>
                </a:r>
                <a:r>
                  <a:rPr lang="en-US" sz="2400" dirty="0" err="1"/>
                  <a:t>randint</a:t>
                </a:r>
                <a:r>
                  <a:rPr lang="en-US" sz="2400" dirty="0"/>
                  <a:t>’.</a:t>
                </a:r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2677656"/>
              </a:xfrm>
              <a:prstGeom prst="rect">
                <a:avLst/>
              </a:prstGeom>
              <a:blipFill>
                <a:blip r:embed="rId3"/>
                <a:stretch>
                  <a:fillRect l="-1081" t="-1591" b="-43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F65DE8D-6862-49E9-EE9F-1203C78583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233" y="3776695"/>
            <a:ext cx="4610744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0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Updating of the Virtual Scores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12"/>
              <p:cNvSpPr txBox="1">
                <a:spLocks noChangeArrowheads="1"/>
              </p:cNvSpPr>
              <p:nvPr/>
            </p:nvSpPr>
            <p:spPr bwMode="auto">
              <a:xfrm>
                <a:off x="304800" y="1027113"/>
                <a:ext cx="8458200" cy="45525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sz="2400" dirty="0"/>
                  <a:t>In this simulation, we will use linear scores. It is proportional to the </a:t>
                </a:r>
                <a:r>
                  <a:rPr lang="en-US" sz="2400" u="sng" dirty="0">
                    <a:solidFill>
                      <a:srgbClr val="FFCC66"/>
                    </a:solidFill>
                  </a:rPr>
                  <a:t>excess demand</a:t>
                </a:r>
                <a:r>
                  <a:rPr lang="en-US" sz="2400" dirty="0"/>
                  <a:t>, defined as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excess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demand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buyers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sellers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agents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u="sng" dirty="0">
                    <a:solidFill>
                      <a:srgbClr val="FFC000"/>
                    </a:solidFill>
                  </a:rPr>
                  <a:t>(f) Write Python commands to determine how the virtual score of a strategy should be updated, where</a:t>
                </a:r>
              </a:p>
              <a:p>
                <a:r>
                  <a:rPr lang="en-US" sz="2400" u="sng" dirty="0">
                    <a:solidFill>
                      <a:srgbClr val="FFC000"/>
                    </a:solidFill>
                  </a:rPr>
                  <a:t>	excess = excess demand</a:t>
                </a:r>
              </a:p>
              <a:p>
                <a:r>
                  <a:rPr lang="en-US" sz="2400" u="sng" dirty="0">
                    <a:solidFill>
                      <a:srgbClr val="FFC000"/>
                    </a:solidFill>
                  </a:rPr>
                  <a:t>	</a:t>
                </a:r>
                <a:r>
                  <a:rPr lang="en-US" sz="2400" u="sng" dirty="0" err="1">
                    <a:solidFill>
                      <a:srgbClr val="FFC000"/>
                    </a:solidFill>
                  </a:rPr>
                  <a:t>darray</a:t>
                </a:r>
                <a:r>
                  <a:rPr lang="en-US" sz="2400" u="sng" dirty="0">
                    <a:solidFill>
                      <a:srgbClr val="FFC000"/>
                    </a:solidFill>
                  </a:rPr>
                  <a:t>[i, j, mu] = decision (0 or 1) of strategy j of agent 	i responding to state mu</a:t>
                </a:r>
              </a:p>
              <a:p>
                <a:r>
                  <a:rPr lang="en-US" sz="2400" u="sng" dirty="0">
                    <a:solidFill>
                      <a:srgbClr val="FFC000"/>
                    </a:solidFill>
                  </a:rPr>
                  <a:t>	</a:t>
                </a:r>
                <a:r>
                  <a:rPr lang="en-US" sz="2400" u="sng" dirty="0" err="1">
                    <a:solidFill>
                      <a:srgbClr val="FFC000"/>
                    </a:solidFill>
                  </a:rPr>
                  <a:t>vscore</a:t>
                </a:r>
                <a:r>
                  <a:rPr lang="en-US" sz="2400" u="sng" dirty="0">
                    <a:solidFill>
                      <a:srgbClr val="FFC000"/>
                    </a:solidFill>
                  </a:rPr>
                  <a:t>[i, j] = virtual score of strategy j of agent i.</a:t>
                </a:r>
              </a:p>
            </p:txBody>
          </p:sp>
        </mc:Choice>
        <mc:Fallback xmlns="">
          <p:sp>
            <p:nvSpPr>
              <p:cNvPr id="1843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027113"/>
                <a:ext cx="8458200" cy="4552593"/>
              </a:xfrm>
              <a:prstGeom prst="rect">
                <a:avLst/>
              </a:prstGeom>
              <a:blipFill>
                <a:blip r:embed="rId3"/>
                <a:stretch>
                  <a:fillRect l="-1081" t="-937" r="-1441" b="-214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DE5FD57-0E0A-94D6-3B17-8AB4059BA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84" y="5681560"/>
            <a:ext cx="7754432" cy="38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44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Decision of an Agent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304800" y="1027113"/>
            <a:ext cx="84582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/>
              <a:t>Given </a:t>
            </a:r>
            <a:r>
              <a:rPr lang="en-US" sz="2400" dirty="0" err="1"/>
              <a:t>vscore</a:t>
            </a:r>
            <a:r>
              <a:rPr lang="en-US" sz="2400" dirty="0"/>
              <a:t>[i, j] = virtual score of  strategy j of agent i, it is tempting to use the Python command ‘argmax’ to determine the strategy choice of the agent.</a:t>
            </a:r>
          </a:p>
          <a:p>
            <a:r>
              <a:rPr lang="en-US" sz="2400" dirty="0"/>
              <a:t>When there are more than one strategies having the same maximum value, ‘argmax’ chooses the one that </a:t>
            </a:r>
            <a:r>
              <a:rPr lang="en-US" sz="2400" u="sng" dirty="0">
                <a:solidFill>
                  <a:srgbClr val="FFCC66"/>
                </a:solidFill>
              </a:rPr>
              <a:t>appears first</a:t>
            </a:r>
            <a:r>
              <a:rPr lang="en-US" sz="2400" dirty="0"/>
              <a:t>.</a:t>
            </a:r>
          </a:p>
          <a:p>
            <a:r>
              <a:rPr lang="en-US" sz="2400" dirty="0"/>
              <a:t>Since the game starts with all virtual scores initialized to 0, using ‘argmax’ will freeze the choices of the agents too early!</a:t>
            </a:r>
          </a:p>
          <a:p>
            <a:endParaRPr lang="en-US" sz="2400" dirty="0"/>
          </a:p>
          <a:p>
            <a:r>
              <a:rPr lang="en-US" sz="2400" u="sng" dirty="0">
                <a:solidFill>
                  <a:srgbClr val="FFCC00"/>
                </a:solidFill>
              </a:rPr>
              <a:t>(g) Write a few lines of Python commands to determine the strategy choice of an agent, where</a:t>
            </a:r>
          </a:p>
          <a:p>
            <a:r>
              <a:rPr lang="en-US" sz="2400" u="sng" dirty="0">
                <a:solidFill>
                  <a:srgbClr val="FFCC00"/>
                </a:solidFill>
              </a:rPr>
              <a:t>	</a:t>
            </a:r>
            <a:r>
              <a:rPr lang="en-US" sz="2400" u="sng" dirty="0" err="1">
                <a:solidFill>
                  <a:srgbClr val="FFCC00"/>
                </a:solidFill>
              </a:rPr>
              <a:t>jchoice</a:t>
            </a:r>
            <a:r>
              <a:rPr lang="en-US" sz="2400" u="sng" dirty="0">
                <a:solidFill>
                  <a:srgbClr val="FFCC00"/>
                </a:solidFill>
              </a:rPr>
              <a:t> = strategy choice of agent </a:t>
            </a:r>
            <a:r>
              <a:rPr lang="en-US" sz="2400" u="sng" dirty="0" err="1">
                <a:solidFill>
                  <a:srgbClr val="FFCC00"/>
                </a:solidFill>
              </a:rPr>
              <a:t>i</a:t>
            </a:r>
            <a:endParaRPr lang="en-US" sz="2400" u="sng" dirty="0">
              <a:solidFill>
                <a:srgbClr val="FFCC00"/>
              </a:solidFill>
            </a:endParaRPr>
          </a:p>
          <a:p>
            <a:r>
              <a:rPr lang="en-US" sz="2400" u="sng" dirty="0">
                <a:solidFill>
                  <a:srgbClr val="FFCC00"/>
                </a:solidFill>
              </a:rPr>
              <a:t>For an agent having two strategies, when the two strategies have the same maximum virtual score, select one of them randomly.</a:t>
            </a:r>
          </a:p>
          <a:p>
            <a:r>
              <a:rPr lang="en-US" sz="2400" dirty="0"/>
              <a:t>This is left for you to work out.</a:t>
            </a:r>
          </a:p>
        </p:txBody>
      </p:sp>
    </p:spTree>
    <p:extLst>
      <p:ext uri="{BB962C8B-B14F-4D97-AF65-F5344CB8AC3E}">
        <p14:creationId xmlns:p14="http://schemas.microsoft.com/office/powerpoint/2010/main" val="11871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E3718B-2593-497D-9009-96F71F254A3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66700" y="228600"/>
            <a:ext cx="8610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hlink"/>
                </a:solidFill>
              </a:rPr>
              <a:t>Updating of the Real Scores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2250" y="863600"/>
            <a:ext cx="8534400" cy="0"/>
          </a:xfrm>
          <a:prstGeom prst="line">
            <a:avLst/>
          </a:prstGeom>
          <a:noFill/>
          <a:ln w="635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9" name="Text Box 12"/>
          <p:cNvSpPr txBox="1">
            <a:spLocks noChangeArrowheads="1"/>
          </p:cNvSpPr>
          <p:nvPr/>
        </p:nvSpPr>
        <p:spPr bwMode="auto">
          <a:xfrm>
            <a:off x="304800" y="1027113"/>
            <a:ext cx="84582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u="sng" dirty="0">
                <a:solidFill>
                  <a:srgbClr val="FFC000"/>
                </a:solidFill>
              </a:rPr>
              <a:t>(h) Write the lines of Python commands to determine (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r>
              <a:rPr lang="en-US" sz="2400" u="sng" dirty="0">
                <a:solidFill>
                  <a:srgbClr val="FFC000"/>
                </a:solidFill>
              </a:rPr>
              <a:t>) the decision of agent 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r>
              <a:rPr lang="en-US" sz="2400" u="sng" dirty="0">
                <a:solidFill>
                  <a:srgbClr val="FFC000"/>
                </a:solidFill>
              </a:rPr>
              <a:t> given the strategy choice </a:t>
            </a:r>
            <a:r>
              <a:rPr lang="en-US" sz="2400" u="sng" dirty="0" err="1">
                <a:solidFill>
                  <a:srgbClr val="FFC000"/>
                </a:solidFill>
              </a:rPr>
              <a:t>jchoice</a:t>
            </a:r>
            <a:r>
              <a:rPr lang="en-US" sz="2400" u="sng" dirty="0">
                <a:solidFill>
                  <a:srgbClr val="FFC000"/>
                </a:solidFill>
              </a:rPr>
              <a:t>, and (ii)  how the real score of agent 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r>
              <a:rPr lang="en-US" sz="2400" u="sng" dirty="0">
                <a:solidFill>
                  <a:srgbClr val="FFC000"/>
                </a:solidFill>
              </a:rPr>
              <a:t> should be updated, where</a:t>
            </a:r>
          </a:p>
          <a:p>
            <a:endParaRPr lang="en-US" sz="2400" u="sng" dirty="0">
              <a:solidFill>
                <a:srgbClr val="FFC000"/>
              </a:solidFill>
            </a:endParaRPr>
          </a:p>
          <a:p>
            <a:r>
              <a:rPr lang="en-US" sz="2400" u="sng" dirty="0">
                <a:solidFill>
                  <a:srgbClr val="FFC000"/>
                </a:solidFill>
              </a:rPr>
              <a:t>excess = excess demand</a:t>
            </a:r>
          </a:p>
          <a:p>
            <a:r>
              <a:rPr lang="en-US" sz="2400" u="sng" dirty="0" err="1">
                <a:solidFill>
                  <a:srgbClr val="FFC000"/>
                </a:solidFill>
              </a:rPr>
              <a:t>darray</a:t>
            </a:r>
            <a:r>
              <a:rPr lang="en-US" sz="2400" u="sng" dirty="0">
                <a:solidFill>
                  <a:srgbClr val="FFC000"/>
                </a:solidFill>
              </a:rPr>
              <a:t>[i, j, mu] = decision (0 or 1) of strategy j of agent i responding to state mu</a:t>
            </a:r>
          </a:p>
          <a:p>
            <a:r>
              <a:rPr lang="en-US" sz="2400" u="sng" dirty="0" err="1">
                <a:solidFill>
                  <a:srgbClr val="FFC000"/>
                </a:solidFill>
              </a:rPr>
              <a:t>jchoice</a:t>
            </a:r>
            <a:r>
              <a:rPr lang="en-US" sz="2400" u="sng" dirty="0">
                <a:solidFill>
                  <a:srgbClr val="FFC000"/>
                </a:solidFill>
              </a:rPr>
              <a:t> = strategy choice of agent 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endParaRPr lang="en-US" sz="2400" u="sng" dirty="0">
              <a:solidFill>
                <a:srgbClr val="FFC000"/>
              </a:solidFill>
            </a:endParaRPr>
          </a:p>
          <a:p>
            <a:r>
              <a:rPr lang="en-US" sz="2400" u="sng" dirty="0">
                <a:solidFill>
                  <a:srgbClr val="FFC000"/>
                </a:solidFill>
              </a:rPr>
              <a:t>decision[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r>
              <a:rPr lang="en-US" sz="2400" u="sng" dirty="0">
                <a:solidFill>
                  <a:srgbClr val="FFC000"/>
                </a:solidFill>
              </a:rPr>
              <a:t>] = decision of agent 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endParaRPr lang="en-US" sz="2400" u="sng" dirty="0">
              <a:solidFill>
                <a:srgbClr val="FFC000"/>
              </a:solidFill>
            </a:endParaRPr>
          </a:p>
          <a:p>
            <a:r>
              <a:rPr lang="en-US" sz="2400" u="sng" dirty="0" err="1">
                <a:solidFill>
                  <a:srgbClr val="FFC000"/>
                </a:solidFill>
              </a:rPr>
              <a:t>rscore</a:t>
            </a:r>
            <a:r>
              <a:rPr lang="en-US" sz="2400" u="sng" dirty="0">
                <a:solidFill>
                  <a:srgbClr val="FFC000"/>
                </a:solidFill>
              </a:rPr>
              <a:t>[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r>
              <a:rPr lang="en-US" sz="2400" u="sng" dirty="0">
                <a:solidFill>
                  <a:srgbClr val="FFC000"/>
                </a:solidFill>
              </a:rPr>
              <a:t>] = real score of agent </a:t>
            </a:r>
            <a:r>
              <a:rPr lang="en-US" sz="2400" u="sng" dirty="0" err="1">
                <a:solidFill>
                  <a:srgbClr val="FFC000"/>
                </a:solidFill>
              </a:rPr>
              <a:t>i</a:t>
            </a:r>
            <a:endParaRPr lang="en-US" sz="2400" u="sng" dirty="0">
              <a:solidFill>
                <a:srgbClr val="FFC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4953A8-F299-5DFA-6A50-CC7ACFF52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098"/>
          <a:stretch>
            <a:fillRect/>
          </a:stretch>
        </p:blipFill>
        <p:spPr>
          <a:xfrm>
            <a:off x="1234528" y="6043846"/>
            <a:ext cx="6053029" cy="377242"/>
          </a:xfrm>
          <a:prstGeom prst="rect">
            <a:avLst/>
          </a:prstGeom>
        </p:spPr>
      </p:pic>
      <p:pic>
        <p:nvPicPr>
          <p:cNvPr id="3" name="Picture 2" descr="A black and white text&#10;&#10;AI-generated content may be incorrect.">
            <a:extLst>
              <a:ext uri="{FF2B5EF4-FFF2-40B4-BE49-F238E27FC236}">
                <a16:creationId xmlns:a16="http://schemas.microsoft.com/office/drawing/2014/main" id="{A4F5595D-DBD4-9FE2-52F6-AAF17D22FA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528" y="5091011"/>
            <a:ext cx="5987298" cy="72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3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:blinds/>
      </p:transition>
    </mc:Choice>
    <mc:Fallback xmlns="">
      <p:transition spd="slow">
        <p:blinds/>
      </p:transition>
    </mc:Fallback>
  </mc:AlternateContent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11845</TotalTime>
  <Words>1570</Words>
  <Application>Microsoft Office PowerPoint</Application>
  <PresentationFormat>On-screen Show (4:3)</PresentationFormat>
  <Paragraphs>161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Cambria Math</vt:lpstr>
      <vt:lpstr>Garamond</vt:lpstr>
      <vt:lpstr>Times New Roman</vt:lpstr>
      <vt:lpstr>Wingdings</vt:lpstr>
      <vt:lpstr>Stream</vt:lpstr>
      <vt:lpstr>Tutorial 13 Simulation of the  Minority Game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Preferred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Preferred Customer</dc:creator>
  <cp:lastModifiedBy>Michael K Y WONG</cp:lastModifiedBy>
  <cp:revision>359</cp:revision>
  <cp:lastPrinted>2001-04-05T18:48:46Z</cp:lastPrinted>
  <dcterms:created xsi:type="dcterms:W3CDTF">2001-03-29T17:58:54Z</dcterms:created>
  <dcterms:modified xsi:type="dcterms:W3CDTF">2025-11-26T02:00:16Z</dcterms:modified>
</cp:coreProperties>
</file>